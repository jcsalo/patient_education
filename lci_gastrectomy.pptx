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png" ContentType="image/png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12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  <p:sldId id="276" r:id="rId22"/>
    <p:sldId id="277" r:id="rId23"/>
    <p:sldId id="278" r:id="rId24"/>
    <p:sldId id="279" r:id="rId25"/>
    <p:sldId id="280" r:id="rId26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69012ECD-51FC-41F1-AA8D-1B2483CD663E}">
  <a:tblStyle styleId="{5C22544A-7EE6-4342-B048-85BDC9FD1C3A}" styleName="Medium Style 2 - Accent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616DA210-FB5B-4158-B5E0-FEB733F419BA}" styleName="Light Style 3">
    <a:wholeTbl>
      <a:tcTxStyle>
        <a:fontRef idx="minor">
          <a:scrgbClr r="0" g="0" b="0"/>
        </a:fontRef>
        <a:schemeClr val="tx1"/>
      </a:tcTxStyle>
      <a:tcStyle>
        <a:tcBdr>
          <a:left>
            <a:ln w="12700" cmpd="sng">
              <a:solidFill>
                <a:schemeClr val="tx1"/>
              </a:solidFill>
            </a:ln>
          </a:left>
          <a:right>
            <a:ln w="12700" cmpd="sng">
              <a:solidFill>
                <a:schemeClr val="tx1"/>
              </a:solidFill>
            </a:ln>
          </a:right>
          <a:top>
            <a:ln w="12700" cmpd="sng">
              <a:solidFill>
                <a:schemeClr val="tx1"/>
              </a:solidFill>
            </a:ln>
          </a:top>
          <a:bottom>
            <a:ln w="12700" cmpd="sng">
              <a:solidFill>
                <a:schemeClr val="tx1"/>
              </a:solidFill>
            </a:ln>
          </a:bottom>
          <a:insideH>
            <a:ln w="12700" cmpd="sng">
              <a:solidFill>
                <a:schemeClr val="tx1"/>
              </a:solidFill>
            </a:ln>
          </a:insideH>
          <a:insideV>
            <a:ln w="12700" cmpd="sng">
              <a:solidFill>
                <a:schemeClr val="tx1"/>
              </a:solidFill>
            </a:ln>
          </a:insideV>
        </a:tcBdr>
        <a:fill>
          <a:noFill/>
        </a:fill>
      </a:tcStyle>
    </a:wholeTbl>
    <a:band1H>
      <a:tcStyle>
        <a:tcBdr/>
        <a:fill>
          <a:solidFill>
            <a:schemeClr val="tx1">
              <a:alpha val="20000"/>
            </a:schemeClr>
          </a:solidFill>
        </a:fill>
      </a:tcStyle>
    </a:band1H>
    <a:band1V>
      <a:tcStyle>
        <a:tcBdr/>
        <a:fill>
          <a:solidFill>
            <a:schemeClr val="tx1">
              <a:alpha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tx1"/>
              </a:solidFill>
            </a:ln>
          </a:top>
        </a:tcBdr>
        <a:fill>
          <a:noFill/>
        </a:fill>
      </a:tcStyle>
    </a:lastRow>
    <a:firstRow>
      <a:tcTxStyle b="on"/>
      <a:tcStyle>
        <a:tcBdr>
          <a:bottom>
            <a:ln w="25400" cmpd="sng">
              <a:solidFill>
                <a:schemeClr val="tx1"/>
              </a:solidFill>
            </a:ln>
          </a:bottom>
        </a:tcBdr>
        <a:fill>
          <a:noFill/>
        </a:fill>
      </a:tcStyle>
    </a:firstRow>
  </a:tblStyle>
  <a:tblStyle styleId="{69012ECD-51FC-41F1-AA8D-1B2483CD663E}" styleName="Light Style 2 - Accent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74"/>
    <p:restoredTop autoAdjust="0" sz="94694"/>
  </p:normalViewPr>
  <p:slideViewPr>
    <p:cSldViewPr snapToGrid="0" snapToObjects="1">
      <p:cViewPr varScale="1">
        <p:scale>
          <a:sx d="100" n="166"/>
          <a:sy d="100" n="166"/>
        </p:scale>
        <p:origin x="520" y="192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3" Type="http://schemas.openxmlformats.org/officeDocument/2006/relationships/slide" Target="slides/slide2.xml" /><Relationship Id="rId4" Type="http://schemas.openxmlformats.org/officeDocument/2006/relationships/slide" Target="slides/slide3.xml" /><Relationship Id="rId5" Type="http://schemas.openxmlformats.org/officeDocument/2006/relationships/slide" Target="slides/slide4.xml" /><Relationship Id="rId6" Type="http://schemas.openxmlformats.org/officeDocument/2006/relationships/slide" Target="slides/slide5.xml" /><Relationship Id="rId7" Type="http://schemas.openxmlformats.org/officeDocument/2006/relationships/slide" Target="slides/slide6.xml" /><Relationship Id="rId8" Type="http://schemas.openxmlformats.org/officeDocument/2006/relationships/slide" Target="slides/slide7.xml" /><Relationship Id="rId9" Type="http://schemas.openxmlformats.org/officeDocument/2006/relationships/slide" Target="slides/slide8.xml" /><Relationship Id="rId10" Type="http://schemas.openxmlformats.org/officeDocument/2006/relationships/slide" Target="slides/slide9.xml" /><Relationship Id="rId11" Type="http://schemas.openxmlformats.org/officeDocument/2006/relationships/slide" Target="slides/slide10.xml" /><Relationship Id="rId12" Type="http://schemas.openxmlformats.org/officeDocument/2006/relationships/slide" Target="slides/slide11.xml" /><Relationship Id="rId13" Type="http://schemas.openxmlformats.org/officeDocument/2006/relationships/slide" Target="slides/slide12.xml" /><Relationship Id="rId14" Type="http://schemas.openxmlformats.org/officeDocument/2006/relationships/slide" Target="slides/slide13.xml" /><Relationship Id="rId15" Type="http://schemas.openxmlformats.org/officeDocument/2006/relationships/slide" Target="slides/slide14.xml" /><Relationship Id="rId16" Type="http://schemas.openxmlformats.org/officeDocument/2006/relationships/slide" Target="slides/slide15.xml" /><Relationship Id="rId17" Type="http://schemas.openxmlformats.org/officeDocument/2006/relationships/slide" Target="slides/slide16.xml" /><Relationship Id="rId18" Type="http://schemas.openxmlformats.org/officeDocument/2006/relationships/slide" Target="slides/slide17.xml" /><Relationship Id="rId19" Type="http://schemas.openxmlformats.org/officeDocument/2006/relationships/slide" Target="slides/slide18.xml" /><Relationship Id="rId20" Type="http://schemas.openxmlformats.org/officeDocument/2006/relationships/slide" Target="slides/slide19.xml" /><Relationship Id="rId21" Type="http://schemas.openxmlformats.org/officeDocument/2006/relationships/slide" Target="slides/slide20.xml" /><Relationship Id="rId22" Type="http://schemas.openxmlformats.org/officeDocument/2006/relationships/slide" Target="slides/slide21.xml" /><Relationship Id="rId23" Type="http://schemas.openxmlformats.org/officeDocument/2006/relationships/slide" Target="slides/slide22.xml" /><Relationship Id="rId24" Type="http://schemas.openxmlformats.org/officeDocument/2006/relationships/slide" Target="slides/slide23.xml" /><Relationship Id="rId25" Type="http://schemas.openxmlformats.org/officeDocument/2006/relationships/slide" Target="slides/slide24.xml" /><Relationship Id="rId26" Type="http://schemas.openxmlformats.org/officeDocument/2006/relationships/slide" Target="slides/slide25.xml" /><Relationship Id="rId28" Type="http://schemas.openxmlformats.org/officeDocument/2006/relationships/viewProps" Target="viewProps.xml" /><Relationship Id="rId27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30" Type="http://schemas.openxmlformats.org/officeDocument/2006/relationships/tableStyles" Target="tableStyles.xml" /><Relationship Id="rId29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2914650"/>
            <a:ext cx="6400800" cy="131445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284309" y="960504"/>
            <a:ext cx="8552330" cy="3977017"/>
          </a:xfrm>
        </p:spPr>
        <p:txBody>
          <a:bodyPr/>
          <a:lstStyle>
            <a:lvl1pPr marL="228600" indent="-228600">
              <a:tabLst/>
              <a:defRPr sz="2800"/>
            </a:lvl1pPr>
            <a:lvl2pPr>
              <a:defRPr sz="2800"/>
            </a:lvl2pPr>
            <a:lvl3pPr>
              <a:defRPr sz="2400"/>
            </a:lvl3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  <p:extLst>
    <p:ext uri="{DCECCB84-F9BA-43D5-87BE-67443E8EF086}">
      <p15:sldGuideLst xmlns:p15="http://schemas.microsoft.com/office/powerpoint/2012/main">
        <p15:guide id="1" orient="horz" pos="1620" userDrawn="1">
          <p15:clr>
            <a:srgbClr val="FBAE40"/>
          </p15:clr>
        </p15:guide>
        <p15:guide id="2" pos="2880" userDrawn="1">
          <p15:clr>
            <a:srgbClr val="FBAE40"/>
          </p15:clr>
        </p15:guide>
      </p15:sldGuideLst>
    </p:ext>
  </p:extLst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3305176"/>
            <a:ext cx="7772400" cy="1021556"/>
          </a:xfrm>
        </p:spPr>
        <p:txBody>
          <a:bodyPr anchor="t"/>
          <a:lstStyle>
            <a:lvl1pPr algn="l">
              <a:defRPr sz="3000" b="1" cap="all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180035"/>
            <a:ext cx="7772400" cy="1125140"/>
          </a:xfrm>
        </p:spPr>
        <p:txBody>
          <a:bodyPr anchor="b"/>
          <a:lstStyle>
            <a:lvl1pPr marL="0" indent="0">
              <a:buNone/>
              <a:defRPr sz="15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315045" y="1200151"/>
            <a:ext cx="4180755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199" y="1200151"/>
            <a:ext cx="4196123" cy="3737370"/>
          </a:xfrm>
        </p:spPr>
        <p:txBody>
          <a:bodyPr/>
          <a:lstStyle>
            <a:lvl1pPr marL="174625" indent="-174625">
              <a:tabLst/>
              <a:defRPr sz="2800" baseline="0">
                <a:latin typeface="Lato Medium" panose="020F0502020204030203" pitchFamily="34" charset="0"/>
              </a:defRPr>
            </a:lvl1pPr>
            <a:lvl2pPr>
              <a:defRPr sz="1800"/>
            </a:lvl2pPr>
            <a:lvl3pPr>
              <a:defRPr sz="1500"/>
            </a:lvl3pPr>
            <a:lvl4pPr>
              <a:defRPr sz="1350"/>
            </a:lvl4pPr>
            <a:lvl5pPr>
              <a:defRPr sz="135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51335"/>
            <a:ext cx="4040188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1631156"/>
            <a:ext cx="4040188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6" y="1151335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6" y="1631156"/>
            <a:ext cx="4041775" cy="2963466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 baseline="0">
                <a:latin typeface="Lato Semibold" panose="020F0502020204030203" pitchFamily="34" charset="0"/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1" y="204787"/>
            <a:ext cx="3008313" cy="871538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04788"/>
            <a:ext cx="5111750" cy="4389835"/>
          </a:xfrm>
        </p:spPr>
        <p:txBody>
          <a:bodyPr/>
          <a:lstStyle>
            <a:lvl1pPr>
              <a:defRPr sz="2400"/>
            </a:lvl1pPr>
            <a:lvl2pPr>
              <a:defRPr sz="2100"/>
            </a:lvl2pPr>
            <a:lvl3pPr>
              <a:defRPr sz="1800"/>
            </a:lvl3pPr>
            <a:lvl4pPr>
              <a:defRPr sz="1500"/>
            </a:lvl4pPr>
            <a:lvl5pPr>
              <a:defRPr sz="15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1" y="1076326"/>
            <a:ext cx="300831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1_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241EB5C9-1307-BA42-ABA2-0BC069CD8E7F}" type="datetimeFigureOut">
              <a:rPr lang="en-US" smtClean="0"/>
              <a:t>2/24/25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  <p:graphicFrame>
        <p:nvGraphicFramePr>
          <p:cNvPr id="7" name="Table 6">
            <a:extLst>
              <a:ext uri="{FF2B5EF4-FFF2-40B4-BE49-F238E27FC236}">
                <a16:creationId xmlns:a16="http://schemas.microsoft.com/office/drawing/2014/main" id="{40E5F148-B214-9ED5-96D2-C8C952B333EC}"/>
              </a:ext>
            </a:extLst>
          </p:cNvPr>
          <p:cNvGraphicFramePr>
            <a:graphicFrameLocks noGrp="1"/>
          </p:cNvGraphicFramePr>
          <p:nvPr userDrawn="1">
            <p:extLst>
              <p:ext uri="{D42A27DB-BD31-4B8C-83A1-F6EECF244321}">
                <p14:modId xmlns:p14="http://schemas.microsoft.com/office/powerpoint/2010/main" val="1121345573"/>
              </p:ext>
            </p:extLst>
          </p:nvPr>
        </p:nvGraphicFramePr>
        <p:xfrm>
          <a:off x="1524000" y="539750"/>
          <a:ext cx="6096000" cy="914400"/>
        </p:xfrm>
        <a:graphic>
          <a:graphicData uri="http://schemas.openxmlformats.org/drawingml/2006/table">
            <a:tbl>
              <a:tblPr firstRow="1" bandRow="1">
                <a:tableStyleId>{69012ECD-51FC-41F1-AA8D-1B2483CD663E}</a:tableStyleId>
              </a:tblPr>
              <a:tblGrid>
                <a:gridCol w="2032000">
                  <a:extLst>
                    <a:ext uri="{9D8B030D-6E8A-4147-A177-3AD203B41FA5}">
                      <a16:colId xmlns:a16="http://schemas.microsoft.com/office/drawing/2014/main" val="271011269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2080703046"/>
                    </a:ext>
                  </a:extLst>
                </a:gridCol>
                <a:gridCol w="2032000">
                  <a:extLst>
                    <a:ext uri="{9D8B030D-6E8A-4147-A177-3AD203B41FA5}">
                      <a16:colId xmlns:a16="http://schemas.microsoft.com/office/drawing/2014/main" val="1138284043"/>
                    </a:ext>
                  </a:extLst>
                </a:gridCol>
              </a:tblGrid>
              <a:tr h="370840"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769229322"/>
                  </a:ext>
                </a:extLst>
              </a:tr>
              <a:tr h="370840">
                <a:tc>
                  <a:txBody>
                    <a:bodyPr/>
                    <a:lstStyle/>
                    <a:p>
                      <a:endParaRPr lang="en-US" sz="240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tc>
                  <a:txBody>
                    <a:bodyPr/>
                    <a:lstStyle/>
                    <a:p>
                      <a:endParaRPr lang="en-US" sz="2400" dirty="0"/>
                    </a:p>
                  </a:txBody>
                  <a:tcPr/>
                </a:tc>
                <a:extLst>
                  <a:ext uri="{0D108BD9-81ED-4DB2-BD59-A6C34878D82A}">
                    <a16:rowId xmlns:a16="http://schemas.microsoft.com/office/drawing/2014/main" val="184196425"/>
                  </a:ext>
                </a:extLst>
              </a:tr>
            </a:tbl>
          </a:graphicData>
        </a:graphic>
      </p:graphicFrame>
    </p:spTree>
    <p:extLst>
      <p:ext uri="{BB962C8B-B14F-4D97-AF65-F5344CB8AC3E}">
        <p14:creationId xmlns:p14="http://schemas.microsoft.com/office/powerpoint/2010/main" val="2939788966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13" Target="../theme/theme1.xml" Type="http://schemas.openxmlformats.org/officeDocument/2006/relationships/theme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slideLayouts/slideLayout12.xml" Type="http://schemas.openxmlformats.org/officeDocument/2006/relationships/slideLayout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05979"/>
            <a:ext cx="8229600" cy="716105"/>
          </a:xfrm>
          <a:prstGeom prst="rect">
            <a:avLst/>
          </a:prstGeom>
        </p:spPr>
        <p:txBody>
          <a:bodyPr anchor="ctr" bIns="45720" lIns="91440" rIns="91440" rtlCol="0" tIns="45720" vert="horz">
            <a:normAutofit/>
          </a:bodyPr>
          <a:lstStyle/>
          <a:p>
            <a:r>
              <a:rPr dirty="0"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457200" y="998924"/>
            <a:ext cx="8229600" cy="3938597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  <p:sldLayoutId id="2147483660" r:id="rId12"/>
  </p:sldLayoutIdLst>
  <p:txStyles>
    <p:titleStyle>
      <a:lvl1pPr algn="ctr" defTabSz="342900" eaLnBrk="1" hangingPunct="1" latinLnBrk="0" rtl="0">
        <a:spcBef>
          <a:spcPct val="0"/>
        </a:spcBef>
        <a:buNone/>
        <a:defRPr baseline="0" kern="1200" sz="3300">
          <a:solidFill>
            <a:schemeClr val="tx1"/>
          </a:solidFill>
          <a:latin charset="0" panose="020F0502020204030203" pitchFamily="34" typeface="Lato Semibold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ct val="20000"/>
        </a:spcBef>
        <a:buFont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1pPr>
      <a:lvl2pPr algn="l" defTabSz="342900" eaLnBrk="1" hangingPunct="1" indent="-342900" latinLnBrk="0" marL="685800" rtl="0">
        <a:spcBef>
          <a:spcPct val="20000"/>
        </a:spcBef>
        <a:buFont charset="0" panose="020B0604020202020204" pitchFamily="34" typeface="Arial"/>
        <a:buChar char="•"/>
        <a:defRPr baseline="0" kern="1200" sz="2400">
          <a:solidFill>
            <a:schemeClr val="tx1"/>
          </a:solidFill>
          <a:latin charset="0" panose="020F0502020204030203" pitchFamily="34" typeface="Lato Medium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ct val="20000"/>
        </a:spcBef>
        <a:buFont typeface="Arial"/>
        <a:buChar char="•"/>
        <a:defRPr kern="1200" sz="24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ct val="20000"/>
        </a:spcBef>
        <a:buFont typeface="Arial"/>
        <a:buChar char="–"/>
        <a:defRPr kern="1200" sz="24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ct val="2000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  <p:extLst>
    <p:ext uri="{27BBF7A9-308A-43DC-89C8-2F10F3537804}">
      <p15:sldGuideLst xmlns:p15="http://schemas.microsoft.com/office/powerpoint/2012/main">
        <p15:guide id="1" orient="horz" pos="1620" userDrawn="1">
          <p15:clr>
            <a:srgbClr val="F26B43"/>
          </p15:clr>
        </p15:guide>
        <p15:guide id="2" pos="2880" userDrawn="1">
          <p15:clr>
            <a:srgbClr val="F26B43"/>
          </p15:clr>
        </p15:guide>
      </p15:sldGuideLst>
    </p:ext>
  </p:extLst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_rels/slide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.png" /></Relationships>
</file>

<file path=ppt/slides/_rels/slide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2.png" /></Relationships>
</file>

<file path=ppt/slides/_rels/slide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2.png" /><Relationship Id="rId2" Type="http://schemas.openxmlformats.org/officeDocument/2006/relationships/image" Target="../media/image1.png" /></Relationships>
</file>

<file path=ppt/slides/_rels/slide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3.png" /></Relationships>
</file>

<file path=ppt/slides/_rels/slide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3.png" /><Relationship Id="rId2" Type="http://schemas.openxmlformats.org/officeDocument/2006/relationships/image" Target="../media/image1.png" /></Relationships>
</file>

<file path=ppt/slides/_rels/slide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4.png" /></Relationships>
</file>

<file path=ppt/slides/_rels/slide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5.png" /></Relationships>
</file>

<file path=ppt/slides/_rels/slide1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5.png" /><Relationship Id="rId2" Type="http://schemas.openxmlformats.org/officeDocument/2006/relationships/image" Target="../media/image4.png" /></Relationships>
</file>

<file path=ppt/slides/_rels/slide11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6.png" /></Relationships>
</file>

<file path=ppt/slides/_rels/slide12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7.png" /></Relationships>
</file>

<file path=ppt/slides/_rels/slide13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7.png" /><Relationship Id="rId2" Type="http://schemas.openxmlformats.org/officeDocument/2006/relationships/image" Target="../media/image6.png" /></Relationships>
</file>

<file path=ppt/slides/_rels/slide14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8.png" /></Relationships>
</file>

<file path=ppt/slides/_rels/slide15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9.png" /></Relationships>
</file>

<file path=ppt/slides/_rels/slide16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0.png" /></Relationships>
</file>

<file path=ppt/slides/_rels/slide17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1.png" /></Relationships>
</file>

<file path=ppt/slides/_rels/slide18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3" Type="http://schemas.openxmlformats.org/officeDocument/2006/relationships/image" Target="../media/image11.png" /><Relationship Id="rId2" Type="http://schemas.openxmlformats.org/officeDocument/2006/relationships/image" Target="../media/image6.png" /></Relationships>
</file>

<file path=ppt/slides/_rels/slide19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0.xml.rels><?xml version="1.0" encoding="UTF-8"?><Relationships xmlns="http://schemas.openxmlformats.org/package/2006/relationships"><Relationship Id="rId1" Type="http://schemas.openxmlformats.org/officeDocument/2006/relationships/slideLayout" Target="../slideLayouts/slideLayout4.xml" /><Relationship Id="rId2" Type="http://schemas.openxmlformats.org/officeDocument/2006/relationships/image" Target="../media/image12.png" /></Relationships>
</file>

<file path=ppt/slides/_rels/slide21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2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3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4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_rels/slide25.xml.rels><?xml version="1.0" encoding="UTF-8"?><Relationships xmlns="http://schemas.openxmlformats.org/package/2006/relationships"><Relationship Id="rId1" Type="http://schemas.openxmlformats.org/officeDocument/2006/relationships/slideLayout" Target="../slideLayouts/slideLayout2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1597819"/>
            <a:ext cx="7772400" cy="1102519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Surgery of the Stomach</a:t>
            </a:r>
          </a:p>
        </p:txBody>
      </p:sp>
    </p:spTree>
  </p:cSld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Stomach Cancer Surgery Goals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Staging refers to the tests to determine</a:t>
            </a:r>
          </a:p>
          <a:p>
            <a:pPr lvl="0"/>
            <a:r>
              <a:rPr/>
              <a:t>Remove the tumor</a:t>
            </a:r>
          </a:p>
          <a:p>
            <a:pPr lvl="0"/>
            <a:r>
              <a:rPr/>
              <a:t>Remove lymph nodes (depends upon tumor type)</a:t>
            </a:r>
          </a:p>
          <a:p>
            <a:pPr lvl="0"/>
            <a:r>
              <a:rPr/>
              <a:t>Preserve stomach function</a:t>
            </a:r>
          </a:p>
          <a:p>
            <a:pPr lvl="0"/>
            <a:r>
              <a:rPr/>
              <a:t>Reconstruct GI tract</a:t>
            </a:r>
          </a:p>
          <a:p>
            <a:pPr lvl="0" indent="0" marL="0">
              <a:buNone/>
            </a:pPr>
            <a:r>
              <a:rPr b="1"/>
              <a:t>Treatment options depend upon the cancer stage</a:t>
            </a:r>
          </a:p>
        </p:txBody>
      </p:sp>
    </p:spTree>
  </p:cSld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Distal cancers are those in the lower part of the stomach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the tumor</a:t>
            </a:r>
          </a:p>
          <a:p>
            <a:pPr lvl="0"/>
            <a:r>
              <a:rPr/>
              <a:t>Lymph nodes not removed</a:t>
            </a:r>
          </a:p>
          <a:p>
            <a:pPr lvl="0"/>
            <a:r>
              <a:rPr/>
              <a:t>Best suited for:</a:t>
            </a:r>
          </a:p>
          <a:p>
            <a:pPr lvl="1"/>
            <a:r>
              <a:rPr/>
              <a:t>Small adenocarcinoma</a:t>
            </a:r>
          </a:p>
          <a:p>
            <a:pPr lvl="1"/>
            <a:r>
              <a:rPr/>
              <a:t>GI Stromal Tumors</a:t>
            </a:r>
          </a:p>
        </p:txBody>
      </p:sp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Partial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parti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half of the stomach</a:t>
            </a:r>
          </a:p>
          <a:p>
            <a:pPr lvl="0"/>
            <a:r>
              <a:rPr/>
              <a:t>Does lower lymph nodes</a:t>
            </a:r>
          </a:p>
        </p:txBody>
      </p:sp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Distal Gastrectomy</a:t>
            </a:r>
          </a:p>
        </p:txBody>
      </p:sp>
      <p:pic>
        <p:nvPicPr>
          <p:cNvPr descr="images/gast_dist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istal_gastrectomy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067300" y="1193800"/>
            <a:ext cx="33274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Body Cancers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br/>
            <a:r>
              <a:rPr/>
              <a:t>Body is the mid-portion of the stomach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bottom 2/3 of stomach</a:t>
            </a:r>
          </a:p>
          <a:p>
            <a:pPr lvl="0"/>
            <a:r>
              <a:rPr/>
              <a:t>Removes lymph nodes</a:t>
            </a:r>
          </a:p>
          <a:p>
            <a:pPr lvl="0"/>
            <a:r>
              <a:rPr/>
              <a:t>Reconstruction with small intestine</a:t>
            </a:r>
          </a:p>
        </p:txBody>
      </p:sp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Subtotal Gastrectomy</a:t>
            </a:r>
          </a:p>
        </p:txBody>
      </p:sp>
      <p:pic>
        <p:nvPicPr>
          <p:cNvPr descr="images/gast_bod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sub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Proximal Tumors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Located near the top of the stomach</a:t>
            </a:r>
          </a:p>
          <a:p>
            <a:pPr lvl="0"/>
            <a:r>
              <a:rPr/>
              <a:t>Challenging area for surgery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all of the stomach</a:t>
            </a:r>
          </a:p>
          <a:p>
            <a:pPr lvl="0"/>
            <a:r>
              <a:rPr/>
              <a:t>Reconstruction with small intestine</a:t>
            </a:r>
          </a:p>
          <a:p>
            <a:pPr lvl="0"/>
            <a:r>
              <a:rPr/>
              <a:t>Needed for those with CDH1 mutations</a:t>
            </a:r>
          </a:p>
        </p:txBody>
      </p:sp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Total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total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Eso_tumor00_resection2_16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_900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067300" y="1193800"/>
            <a:ext cx="33147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Esophagogastrectomy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</a:p>
          <a:p>
            <a:pPr lvl="0"/>
            <a:r>
              <a:rPr/>
              <a:t>Removes top part of stomach</a:t>
            </a:r>
          </a:p>
          <a:p>
            <a:pPr lvl="0"/>
            <a:r>
              <a:rPr/>
              <a:t>Remove bottom half of esophagus</a:t>
            </a:r>
          </a:p>
          <a:p>
            <a:pPr lvl="0"/>
            <a:r>
              <a:rPr/>
              <a:t>Surgery in both abdomen and chest</a:t>
            </a:r>
          </a:p>
        </p:txBody>
      </p:sp>
      <p:pic>
        <p:nvPicPr>
          <p:cNvPr descr="images/ivor_lewis_simple2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 indent="0" marL="0">
              <a:buNone/>
            </a:pPr>
            <a:br/>
            <a:r>
              <a:rPr/>
              <a:t>Alternative surgical approach for small tumors near the top of the stomach</a:t>
            </a:r>
          </a:p>
          <a:p>
            <a:pPr lvl="0"/>
            <a:r>
              <a:rPr/>
              <a:t>Preserves the bottom of the stomach as a reservoir</a:t>
            </a:r>
          </a:p>
        </p:txBody>
      </p:sp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Dual Tract Gastrectomy</a:t>
            </a:r>
          </a:p>
        </p:txBody>
      </p:sp>
      <p:pic>
        <p:nvPicPr>
          <p:cNvPr descr="images/gast_proximal_tumor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9525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  <p:pic>
        <p:nvPicPr>
          <p:cNvPr descr="images/gast_dualtract.png" id="0" name="Picture 1"/>
          <p:cNvPicPr>
            <a:picLocks noGrp="1" noChangeAspect="1"/>
          </p:cNvPicPr>
          <p:nvPr/>
        </p:nvPicPr>
        <p:blipFill>
          <a:blip r:embed="rId3"/>
          <a:stretch>
            <a:fillRect/>
          </a:stretch>
        </p:blipFill>
        <p:spPr bwMode="auto">
          <a:xfrm>
            <a:off x="5283200" y="1193800"/>
            <a:ext cx="28829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Some stomach cancers can spread inside the abdomen</a:t>
            </a:r>
          </a:p>
          <a:p>
            <a:pPr lvl="0"/>
            <a:r>
              <a:rPr/>
              <a:t>Areas of spread can be very small (grain of rice)</a:t>
            </a:r>
          </a:p>
          <a:p>
            <a:pPr lvl="0"/>
            <a:r>
              <a:rPr/>
              <a:t>Laparoscopy can detect spread inside the abdomen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315045" y="205979"/>
            <a:ext cx="8529278" cy="8572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Laparoscopy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 sz="half"/>
          </p:nvPr>
        </p:nvSpPr>
        <p:spPr/>
        <p:txBody>
          <a:bodyPr/>
          <a:lstStyle/>
          <a:p>
            <a:pPr lvl="0"/>
            <a:r>
              <a:rPr/>
              <a:t>General anesthetic</a:t>
            </a:r>
          </a:p>
          <a:p>
            <a:pPr lvl="0"/>
            <a:r>
              <a:rPr/>
              <a:t>1/4” incisions</a:t>
            </a:r>
          </a:p>
          <a:p>
            <a:pPr lvl="0"/>
            <a:r>
              <a:rPr/>
              <a:t>Telescope examines the abdomen</a:t>
            </a:r>
          </a:p>
          <a:p>
            <a:pPr lvl="0"/>
            <a:r>
              <a:rPr/>
              <a:t>Biopsies performed</a:t>
            </a:r>
          </a:p>
          <a:p>
            <a:pPr lvl="0"/>
            <a:r>
              <a:rPr/>
              <a:t>Fluid sampled</a:t>
            </a:r>
          </a:p>
        </p:txBody>
      </p:sp>
      <p:pic>
        <p:nvPicPr>
          <p:cNvPr descr="images/Eso_Laparoscopy.png" id="0" name="Picture 1"/>
          <p:cNvPicPr>
            <a:picLocks noGrp="1" noChangeAspect="1"/>
          </p:cNvPicPr>
          <p:nvPr/>
        </p:nvPicPr>
        <p:blipFill>
          <a:blip r:embed="rId2"/>
          <a:stretch>
            <a:fillRect/>
          </a:stretch>
        </p:blipFill>
        <p:spPr bwMode="auto">
          <a:xfrm>
            <a:off x="4914900" y="1193800"/>
            <a:ext cx="3632200" cy="3733800"/>
          </a:xfrm>
          <a:prstGeom prst="rect">
            <a:avLst/>
          </a:prstGeom>
          <a:noFill/>
          <a:ln w="9525">
            <a:noFill/>
            <a:headEnd/>
            <a:tailEnd/>
          </a:ln>
        </p:spPr>
      </p:pic>
    </p:spTree>
  </p:cSld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Risks of Surgery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Leak where bowel is joined together (anastomosis)</a:t>
            </a:r>
          </a:p>
          <a:p>
            <a:pPr lvl="0"/>
            <a:r>
              <a:rPr/>
              <a:t>Bleeding requiring reoperation</a:t>
            </a:r>
          </a:p>
          <a:p>
            <a:pPr lvl="0"/>
            <a:r>
              <a:rPr/>
              <a:t>Delayed stomach function</a:t>
            </a:r>
          </a:p>
          <a:p>
            <a:pPr lvl="0"/>
            <a:r>
              <a:rPr/>
              <a:t>Infection in the abdomen</a:t>
            </a:r>
          </a:p>
        </p:txBody>
      </p:sp>
    </p:spTree>
  </p:cSld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Primary Care Practitioner (PCP)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 indent="0" marL="0">
              <a:buNone/>
            </a:pPr>
            <a:r>
              <a:rPr/>
              <a:t>Critical to coordinate care between specialists.</a:t>
            </a:r>
          </a:p>
          <a:p>
            <a:pPr lvl="0" indent="0" marL="0">
              <a:buNone/>
            </a:pPr>
            <a:r>
              <a:rPr/>
              <a:t>We will update your PCP after each visit</a:t>
            </a:r>
          </a:p>
          <a:p>
            <a:pPr lvl="0" indent="0" marL="0">
              <a:buNone/>
            </a:pPr>
            <a:r>
              <a:rPr/>
              <a:t>PCP Referral Line (844) 235-6998</a:t>
            </a:r>
          </a:p>
        </p:txBody>
      </p:sp>
    </p:spTree>
  </p:cSld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My Atrium Patient Portal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Critical to good communication with your care team</a:t>
            </a:r>
          </a:p>
          <a:p>
            <a:pPr lvl="0"/>
            <a:r>
              <a:rPr/>
              <a:t>Available for desktop or laptop or phone</a:t>
            </a:r>
          </a:p>
          <a:p>
            <a:pPr lvl="0"/>
            <a:r>
              <a:rPr/>
              <a:t>Sign up at my.atriumhealth.org</a:t>
            </a:r>
          </a:p>
        </p:txBody>
      </p:sp>
    </p:spTree>
  </p:cSld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Exercise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Reduces risk of complications from treatment</a:t>
            </a:r>
          </a:p>
          <a:p>
            <a:pPr lvl="0"/>
            <a:r>
              <a:rPr/>
              <a:t>Goal is 30min/day of vigorous exercise 6 days/wk</a:t>
            </a:r>
          </a:p>
          <a:p>
            <a:pPr lvl="1"/>
            <a:r>
              <a:rPr/>
              <a:t>Working hard enough that you can’t converse</a:t>
            </a:r>
          </a:p>
          <a:p>
            <a:pPr lvl="1"/>
            <a:r>
              <a:rPr/>
              <a:t>Start slowly and build up</a:t>
            </a:r>
          </a:p>
          <a:p>
            <a:pPr lvl="1"/>
            <a:r>
              <a:rPr/>
              <a:t>Every day counts! (Aim for daily activity)</a:t>
            </a:r>
          </a:p>
        </p:txBody>
      </p:sp>
    </p:spTree>
  </p:cSld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284309" y="205979"/>
            <a:ext cx="8552330" cy="662317"/>
          </a:xfrm>
        </p:spPr>
        <p:txBody>
          <a:bodyPr/>
          <a:lstStyle/>
          <a:p>
            <a:pPr lvl="0" indent="0" marL="0">
              <a:buNone/>
            </a:pPr>
            <a:r>
              <a:rPr/>
              <a:t>Smoking Cessation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/>
              <a:t>Smoking makes cancer treatment more difficult</a:t>
            </a:r>
          </a:p>
          <a:p>
            <a:pPr lvl="1"/>
            <a:r>
              <a:rPr/>
              <a:t>Increases risk of complications after surgery</a:t>
            </a:r>
          </a:p>
          <a:p>
            <a:pPr lvl="0"/>
            <a:r>
              <a:rPr/>
              <a:t>Options for help with smoking cessation:</a:t>
            </a:r>
          </a:p>
          <a:p>
            <a:pPr lvl="1"/>
            <a:r>
              <a:rPr/>
              <a:t>NC Quit Line 1-800-QUIT-NOW (1-800-784-8669)</a:t>
            </a:r>
          </a:p>
          <a:p>
            <a:pPr lvl="1"/>
            <a:r>
              <a:rPr/>
              <a:t>American Lung Assn www.freedomfromsmoking.org</a:t>
            </a:r>
          </a:p>
          <a:p>
            <a:pPr lvl="1"/>
            <a:r>
              <a:rPr/>
              <a:t>Smoking Cessation Counseling (Metro Charlotte)</a:t>
            </a:r>
          </a:p>
        </p:txBody>
      </p:sp>
    </p:spTree>
  </p:cSld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13868</TotalTime>
  <Words>42</Words>
  <Application>Microsoft Macintosh PowerPoint</Application>
  <PresentationFormat>On-screen Show (16:9)</PresentationFormat>
  <Paragraphs>13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4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9" baseType="lpstr">
      <vt:lpstr>Arial</vt:lpstr>
      <vt:lpstr>Calibri</vt:lpstr>
      <vt:lpstr>Lato Medium</vt:lpstr>
      <vt:lpstr>Lato Semibold</vt:lpstr>
      <vt:lpstr>Office Theme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Surgery of the Stomach</dc:title>
  <dc:creator/>
  <cp:keywords/>
  <dcterms:created xsi:type="dcterms:W3CDTF">2026-07-16T02:16:01Z</dcterms:created>
  <dcterms:modified xsi:type="dcterms:W3CDTF">2026-07-16T02:16:01Z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biblio-config">
    <vt:lpwstr>True</vt:lpwstr>
  </property>
  <property fmtid="{D5CDD505-2E9C-101B-9397-08002B2CF9AE}" pid="3" name="bibliography">
    <vt:lpwstr>zotero.bib</vt:lpwstr>
  </property>
  <property fmtid="{D5CDD505-2E9C-101B-9397-08002B2CF9AE}" pid="4" name="editor">
    <vt:lpwstr>visual</vt:lpwstr>
  </property>
  <property fmtid="{D5CDD505-2E9C-101B-9397-08002B2CF9AE}" pid="5" name="engines">
    <vt:lpwstr/>
  </property>
  <property fmtid="{D5CDD505-2E9C-101B-9397-08002B2CF9AE}" pid="6" name="header-includes">
    <vt:lpwstr/>
  </property>
  <property fmtid="{D5CDD505-2E9C-101B-9397-08002B2CF9AE}" pid="7" name="include-after">
    <vt:lpwstr/>
  </property>
  <property fmtid="{D5CDD505-2E9C-101B-9397-08002B2CF9AE}" pid="8" name="include-before">
    <vt:lpwstr/>
  </property>
  <property fmtid="{D5CDD505-2E9C-101B-9397-08002B2CF9AE}" pid="9" name="labels">
    <vt:lpwstr/>
  </property>
  <property fmtid="{D5CDD505-2E9C-101B-9397-08002B2CF9AE}" pid="10" name="toc-title">
    <vt:lpwstr>Table of contents</vt:lpwstr>
  </property>
</Properties>
</file>