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g" ContentType="image/jpeg"/>
  <Override PartName="/docProps/app.xml" ContentType="application/vnd.openxmlformats-officedocument.extended-properties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9012ECD-51FC-41F1-AA8D-1B2483CD663E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74"/>
    <p:restoredTop autoAdjust="0" sz="94694"/>
  </p:normalViewPr>
  <p:slideViewPr>
    <p:cSldViewPr snapToGrid="0" snapToObjects="1">
      <p:cViewPr varScale="1">
        <p:scale>
          <a:sx d="100" n="166"/>
          <a:sy d="100" n="166"/>
        </p:scale>
        <p:origin x="520" y="19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slide" Target="slides/slide25.xml" /><Relationship Id="rId27" Type="http://schemas.openxmlformats.org/officeDocument/2006/relationships/slide" Target="slides/slide26.xml" /><Relationship Id="rId28" Type="http://schemas.openxmlformats.org/officeDocument/2006/relationships/slide" Target="slides/slide27.xml" /><Relationship Id="rId29" Type="http://schemas.openxmlformats.org/officeDocument/2006/relationships/slide" Target="slides/slide28.xml" /><Relationship Id="rId30" Type="http://schemas.openxmlformats.org/officeDocument/2006/relationships/slide" Target="slides/slide29.xml" /><Relationship Id="rId31" Type="http://schemas.openxmlformats.org/officeDocument/2006/relationships/slide" Target="slides/slide30.xml" /><Relationship Id="rId32" Type="http://schemas.openxmlformats.org/officeDocument/2006/relationships/slide" Target="slides/slide31.xml" /><Relationship Id="rId33" Type="http://schemas.openxmlformats.org/officeDocument/2006/relationships/slide" Target="slides/slide32.xml" /><Relationship Id="rId34" Type="http://schemas.openxmlformats.org/officeDocument/2006/relationships/slide" Target="slides/slide33.xml" /><Relationship Id="rId35" Type="http://schemas.openxmlformats.org/officeDocument/2006/relationships/slide" Target="slides/slide34.xml" /><Relationship Id="rId36" Type="http://schemas.openxmlformats.org/officeDocument/2006/relationships/slide" Target="slides/slide35.xml" /><Relationship Id="rId37" Type="http://schemas.openxmlformats.org/officeDocument/2006/relationships/slide" Target="slides/slide36.xml" /><Relationship Id="rId38" Type="http://schemas.openxmlformats.org/officeDocument/2006/relationships/slide" Target="slides/slide37.xml" /><Relationship Id="rId39" Type="http://schemas.openxmlformats.org/officeDocument/2006/relationships/slide" Target="slides/slide38.xml" /><Relationship Id="rId40" Type="http://schemas.openxmlformats.org/officeDocument/2006/relationships/slide" Target="slides/slide39.xml" /><Relationship Id="rId41" Type="http://schemas.openxmlformats.org/officeDocument/2006/relationships/slide" Target="slides/slide40.xml" /><Relationship Id="rId42" Type="http://schemas.openxmlformats.org/officeDocument/2006/relationships/slide" Target="slides/slide41.xml" /><Relationship Id="rId43" Type="http://schemas.openxmlformats.org/officeDocument/2006/relationships/slide" Target="slides/slide42.xml" /><Relationship Id="rId44" Type="http://schemas.openxmlformats.org/officeDocument/2006/relationships/slide" Target="slides/slide43.xml" /><Relationship Id="rId45" Type="http://schemas.openxmlformats.org/officeDocument/2006/relationships/slide" Target="slides/slide44.xml" /><Relationship Id="rId46" Type="http://schemas.openxmlformats.org/officeDocument/2006/relationships/slide" Target="slides/slide45.xml" /><Relationship Id="rId47" Type="http://schemas.openxmlformats.org/officeDocument/2006/relationships/slide" Target="slides/slide46.xml" /><Relationship Id="rId48" Type="http://schemas.openxmlformats.org/officeDocument/2006/relationships/slide" Target="slides/slide47.xml" /><Relationship Id="rId49" Type="http://schemas.openxmlformats.org/officeDocument/2006/relationships/slide" Target="slides/slide48.xml" /><Relationship Id="rId50" Type="http://schemas.openxmlformats.org/officeDocument/2006/relationships/slide" Target="slides/slide49.xml" /><Relationship Id="rId51" Type="http://schemas.openxmlformats.org/officeDocument/2006/relationships/slide" Target="slides/slide50.xml" /><Relationship Id="rId52" Type="http://schemas.openxmlformats.org/officeDocument/2006/relationships/slide" Target="slides/slide51.xml" /><Relationship Id="rId53" Type="http://schemas.openxmlformats.org/officeDocument/2006/relationships/slide" Target="slides/slide52.xml" /><Relationship Id="rId54" Type="http://schemas.openxmlformats.org/officeDocument/2006/relationships/slide" Target="slides/slide53.xml" /><Relationship Id="rId55" Type="http://schemas.openxmlformats.org/officeDocument/2006/relationships/slide" Target="slides/slide54.xml" /><Relationship Id="rId56" Type="http://schemas.openxmlformats.org/officeDocument/2006/relationships/slide" Target="slides/slide55.xml" /><Relationship Id="rId57" Type="http://schemas.openxmlformats.org/officeDocument/2006/relationships/slide" Target="slides/slide56.xml" /><Relationship Id="rId58" Type="http://schemas.openxmlformats.org/officeDocument/2006/relationships/slide" Target="slides/slide57.xml" /><Relationship Id="rId59" Type="http://schemas.openxmlformats.org/officeDocument/2006/relationships/slide" Target="slides/slide58.xml" /><Relationship Id="rId60" Type="http://schemas.openxmlformats.org/officeDocument/2006/relationships/slide" Target="slides/slide59.xml" /><Relationship Id="rId61" Type="http://schemas.openxmlformats.org/officeDocument/2006/relationships/slide" Target="slides/slide60.xml" /><Relationship Id="rId62" Type="http://schemas.openxmlformats.org/officeDocument/2006/relationships/slide" Target="slides/slide61.xml" /><Relationship Id="rId63" Type="http://schemas.openxmlformats.org/officeDocument/2006/relationships/slide" Target="slides/slide62.xml" /><Relationship Id="rId64" Type="http://schemas.openxmlformats.org/officeDocument/2006/relationships/slide" Target="slides/slide63.xml" /><Relationship Id="rId65" Type="http://schemas.openxmlformats.org/officeDocument/2006/relationships/slide" Target="slides/slide64.xml" /><Relationship Id="rId66" Type="http://schemas.openxmlformats.org/officeDocument/2006/relationships/slide" Target="slides/slide65.xml" /><Relationship Id="rId67" Type="http://schemas.openxmlformats.org/officeDocument/2006/relationships/slide" Target="slides/slide66.xml" /><Relationship Id="rId68" Type="http://schemas.openxmlformats.org/officeDocument/2006/relationships/slide" Target="slides/slide67.xml" /><Relationship Id="rId69" Type="http://schemas.openxmlformats.org/officeDocument/2006/relationships/slide" Target="slides/slide68.xml" /><Relationship Id="rId70" Type="http://schemas.openxmlformats.org/officeDocument/2006/relationships/slide" Target="slides/slide69.xml" /><Relationship Id="rId71" Type="http://schemas.openxmlformats.org/officeDocument/2006/relationships/slide" Target="slides/slide70.xml" /><Relationship Id="rId72" Type="http://schemas.openxmlformats.org/officeDocument/2006/relationships/slide" Target="slides/slide71.xml" /><Relationship Id="rId73" Type="http://schemas.openxmlformats.org/officeDocument/2006/relationships/slide" Target="slides/slide72.xml" /><Relationship Id="rId75" Type="http://schemas.openxmlformats.org/officeDocument/2006/relationships/viewProps" Target="viewProps.xml" /><Relationship Id="rId7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7" Type="http://schemas.openxmlformats.org/officeDocument/2006/relationships/tableStyles" Target="tableStyles.xml" /><Relationship Id="rId7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4309" y="960504"/>
            <a:ext cx="8552330" cy="3977017"/>
          </a:xfrm>
        </p:spPr>
        <p:txBody>
          <a:bodyPr/>
          <a:lstStyle>
            <a:lvl1pPr marL="228600" indent="-228600">
              <a:tabLst/>
              <a:defRPr sz="2800"/>
            </a:lvl1pPr>
            <a:lvl2pPr>
              <a:defRPr sz="2800"/>
            </a:lvl2pPr>
            <a:lvl3pPr>
              <a:defRPr sz="24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5045" y="1200151"/>
            <a:ext cx="4180755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199" y="1200151"/>
            <a:ext cx="4196123" cy="3737370"/>
          </a:xfrm>
        </p:spPr>
        <p:txBody>
          <a:bodyPr/>
          <a:lstStyle>
            <a:lvl1pPr marL="174625" indent="-174625">
              <a:tabLst/>
              <a:defRPr sz="2800" baseline="0">
                <a:latin typeface="Lato Medium" panose="020F0502020204030203" pitchFamily="34" charset="0"/>
              </a:defRPr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Lato Semibold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241EB5C9-1307-BA42-ABA2-0BC069CD8E7F}" type="datetimeFigureOut">
              <a:rPr lang="en-US" smtClean="0"/>
              <a:t>2/24/25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0E5F148-B214-9ED5-96D2-C8C952B333EC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121345573"/>
              </p:ext>
            </p:extLst>
          </p:nvPr>
        </p:nvGraphicFramePr>
        <p:xfrm>
          <a:off x="1524000" y="539750"/>
          <a:ext cx="6096000" cy="9144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7101126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80703046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3828404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92293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4196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9788966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theme/theme1.xml" Type="http://schemas.openxmlformats.org/officeDocument/2006/relationships/theme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716105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998924"/>
            <a:ext cx="8229600" cy="3938597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342900" eaLnBrk="1" hangingPunct="1" latinLnBrk="0" rtl="0">
        <a:spcBef>
          <a:spcPct val="0"/>
        </a:spcBef>
        <a:buNone/>
        <a:defRPr baseline="0" kern="1200" sz="3300">
          <a:solidFill>
            <a:schemeClr val="tx1"/>
          </a:solidFill>
          <a:latin charset="0" panose="020F0502020204030203" pitchFamily="34" typeface="Lato Semibold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charset="0" panose="020B0604020202020204" pitchFamily="34" typeface="Arial"/>
        <a:buChar char="•"/>
        <a:defRPr baseline="0" kern="1200" sz="2400">
          <a:solidFill>
            <a:schemeClr val="tx1"/>
          </a:solidFill>
          <a:latin charset="0" panose="020F0502020204030203" pitchFamily="34" typeface="Lato Medium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24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png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2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3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2.png" /><Relationship Id="rId2" Type="http://schemas.openxmlformats.org/officeDocument/2006/relationships/image" Target="../media/image1.png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5.png" 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6.png" 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7.png" 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3" Type="http://schemas.openxmlformats.org/officeDocument/2006/relationships/image" Target="../media/image9.png" /><Relationship Id="rId2" Type="http://schemas.openxmlformats.org/officeDocument/2006/relationships/image" Target="../media/image8.png" 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4.png" 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0.png" 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1.png" 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2.png" /></Relationships>
</file>

<file path=ppt/slides/_rels/slide4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3.png" /></Relationships>
</file>

<file path=ppt/slides/_rels/slide4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4.png" /></Relationships>
</file>

<file path=ppt/slides/_rels/slide4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5.png" /></Relationships>
</file>

<file path=ppt/slides/_rels/slide4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6.png" /></Relationships>
</file>

<file path=ppt/slides/_rels/slide5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7.jpg" /></Relationships>
</file>

<file path=ppt/slides/_rels/slide6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Preparing for your Esophagectomy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Physicians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Care Provider</a:t>
            </a:r>
          </a:p>
          <a:p>
            <a:pPr lvl="0" indent="0" marL="0">
              <a:buNone/>
            </a:pPr>
            <a:r>
              <a:rPr/>
              <a:t>Gastroenterologist</a:t>
            </a:r>
          </a:p>
          <a:p>
            <a:pPr lvl="0" indent="0" marL="0">
              <a:buNone/>
            </a:pPr>
            <a:r>
              <a:rPr/>
              <a:t>Medical Oncologist (chemotherapy)</a:t>
            </a:r>
          </a:p>
          <a:p>
            <a:pPr lvl="0" indent="0" marL="0">
              <a:buNone/>
            </a:pPr>
            <a:r>
              <a:rPr/>
              <a:t>Radiation Oncologist (radiation)</a:t>
            </a:r>
          </a:p>
          <a:p>
            <a:pPr lvl="0" indent="0" marL="0">
              <a:buNone/>
            </a:pPr>
            <a:r>
              <a:rPr/>
              <a:t>Surgeons</a:t>
            </a:r>
          </a:p>
          <a:p>
            <a:pPr lvl="0"/>
            <a:r>
              <a:rPr/>
              <a:t>Jonathan Salo MD</a:t>
            </a:r>
          </a:p>
          <a:p>
            <a:pPr lvl="0"/>
            <a:r>
              <a:rPr/>
              <a:t>Kelli Salter MD</a:t>
            </a:r>
          </a:p>
          <a:p>
            <a:pPr lvl="0"/>
            <a:r>
              <a:rPr/>
              <a:t>Michael Roach MD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Team Members - Support Staff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Physician Assistant: Kate Duncan PA-C</a:t>
            </a:r>
          </a:p>
          <a:p>
            <a:pPr lvl="0" indent="0" marL="0">
              <a:buNone/>
            </a:pPr>
            <a:r>
              <a:rPr/>
              <a:t>Dietitian: Liz Koch</a:t>
            </a:r>
          </a:p>
          <a:p>
            <a:pPr lvl="0" indent="0" marL="0">
              <a:buNone/>
            </a:pPr>
            <a:r>
              <a:rPr/>
              <a:t>Nurses</a:t>
            </a:r>
          </a:p>
          <a:p>
            <a:pPr lvl="0"/>
            <a:r>
              <a:rPr/>
              <a:t>Matthew Carpenter RN</a:t>
            </a:r>
          </a:p>
          <a:p>
            <a:pPr lvl="0"/>
            <a:r>
              <a:rPr/>
              <a:t>Brandon Galloway LPN</a:t>
            </a:r>
          </a:p>
          <a:p>
            <a:pPr lvl="0" indent="0" marL="0">
              <a:buNone/>
            </a:pPr>
            <a:r>
              <a:rPr/>
              <a:t>Navigators: Laura Swift RN &amp; Lorna Espinal RN</a:t>
            </a:r>
          </a:p>
          <a:p>
            <a:pPr lvl="0" indent="0" marL="0">
              <a:buNone/>
            </a:pPr>
            <a:r>
              <a:rPr/>
              <a:t>Care Coordinator: Karen Julian-Martinez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High-protein diet (60-80 grams protein/day)</a:t>
            </a:r>
          </a:p>
          <a:p>
            <a:pPr lvl="0"/>
            <a:r>
              <a:rPr/>
              <a:t>Protein shakes (Premier or Fairlife) with minimal sugar</a:t>
            </a:r>
          </a:p>
          <a:p>
            <a:pPr lvl="0" indent="0" marL="0">
              <a:buNone/>
            </a:pPr>
            <a:r>
              <a:rPr/>
              <a:t>Important to avoid weight loss prior to surgery</a:t>
            </a:r>
          </a:p>
          <a:p>
            <a:pPr lvl="0" indent="0" marL="0">
              <a:buNone/>
            </a:pPr>
            <a:r>
              <a:rPr/>
              <a:t>Good nutrition improves wound healing and recovery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Exercise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30 minutes of vigorous exercise 6 days/week</a:t>
            </a:r>
          </a:p>
          <a:p>
            <a:pPr lvl="0" indent="0" marL="0">
              <a:buNone/>
            </a:pPr>
            <a:r>
              <a:rPr/>
              <a:t>Vigorous: Working hard enough you can’t talk</a:t>
            </a:r>
          </a:p>
          <a:p>
            <a:pPr lvl="0" indent="0" marL="0">
              <a:buNone/>
            </a:pPr>
            <a:r>
              <a:rPr/>
              <a:t>Types of Exercise:</a:t>
            </a:r>
          </a:p>
          <a:p>
            <a:pPr lvl="0"/>
            <a:r>
              <a:rPr/>
              <a:t>Walking: Outside, Treadmilll, or an indoor Mall</a:t>
            </a:r>
          </a:p>
          <a:p>
            <a:pPr lvl="0"/>
            <a:r>
              <a:rPr/>
              <a:t>Stationary Exercise Bike</a:t>
            </a:r>
          </a:p>
          <a:p>
            <a:pPr lvl="0" indent="0" marL="0">
              <a:buNone/>
            </a:pPr>
            <a:r>
              <a:rPr/>
              <a:t>Light weights and stretching are helpful in addition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Prior to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Clear liquids for dinner evening prior</a:t>
            </a:r>
          </a:p>
          <a:p>
            <a:pPr lvl="0"/>
            <a:r>
              <a:rPr/>
              <a:t>You will receive instructions regarding medicines</a:t>
            </a:r>
          </a:p>
          <a:p>
            <a:pPr lvl="0"/>
            <a:r>
              <a:rPr/>
              <a:t>Stop tube feeds at midnight night before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Morning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Unless instructed otherwise:</a:t>
            </a:r>
          </a:p>
          <a:p>
            <a:pPr lvl="0"/>
            <a:r>
              <a:rPr i="1"/>
              <a:t>Arrival</a:t>
            </a:r>
            <a:r>
              <a:rPr/>
              <a:t> time is usually 2-3 hours before the </a:t>
            </a:r>
            <a:r>
              <a:rPr i="1"/>
              <a:t>surgery</a:t>
            </a:r>
            <a:r>
              <a:rPr/>
              <a:t> time.</a:t>
            </a:r>
          </a:p>
          <a:p>
            <a:pPr lvl="1"/>
            <a:r>
              <a:rPr/>
              <a:t>Monday, Tuesday, Wednesday, Friday: Arrive 4am</a:t>
            </a:r>
          </a:p>
          <a:p>
            <a:pPr lvl="1"/>
            <a:r>
              <a:rPr/>
              <a:t>Thursday: Arrive 5am</a:t>
            </a:r>
          </a:p>
          <a:p>
            <a:pPr lvl="0"/>
            <a:r>
              <a:rPr/>
              <a:t>Nothing to eat or drink after midnight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the Morning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Medicines with a sip of water or </a:t>
            </a:r>
            <a:r>
              <a:rPr i="1"/>
              <a:t>black</a:t>
            </a:r>
            <a:r>
              <a:rPr/>
              <a:t> coffee</a:t>
            </a:r>
          </a:p>
          <a:p>
            <a:pPr lvl="0"/>
            <a:r>
              <a:rPr/>
              <a:t>No milk or cream</a:t>
            </a:r>
          </a:p>
          <a:p>
            <a:pPr lvl="0"/>
            <a:r>
              <a:rPr/>
              <a:t>Surgery will be cancelled if you take milk or cream the morning of surgery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Hospitality House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Guest house for patients and families</a:t>
            </a:r>
          </a:p>
          <a:p>
            <a:pPr lvl="0"/>
            <a:r>
              <a:rPr/>
              <a:t>Located walking distance from hospital</a:t>
            </a:r>
          </a:p>
          <a:p>
            <a:pPr lvl="0"/>
            <a:r>
              <a:rPr/>
              <a:t>Shuttle service available</a:t>
            </a:r>
          </a:p>
          <a:p>
            <a:pPr lvl="0"/>
            <a:r>
              <a:rPr/>
              <a:t>Make reservation request through clinic nurses</a:t>
            </a:r>
          </a:p>
          <a:p>
            <a:pPr lvl="0"/>
            <a:r>
              <a:rPr/>
              <a:t>Cost $50 per night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Parking and Arrival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Blue Parking Deck: 1716 Medical Center Drive, Charlotte NC 28204</a:t>
            </a:r>
          </a:p>
          <a:p>
            <a:pPr lvl="0"/>
            <a:r>
              <a:rPr/>
              <a:t>Patient Drop Off: 1096 Blythe Blvd, Charlotte NC 28204</a:t>
            </a:r>
          </a:p>
          <a:p>
            <a:pPr lvl="0"/>
            <a:r>
              <a:rPr/>
              <a:t>Dixon Tower entrance(Traffic circle with Fountains)</a:t>
            </a:r>
          </a:p>
          <a:p>
            <a:pPr lvl="0"/>
            <a:r>
              <a:rPr/>
              <a:t>Check in and tell them you will have surgery</a:t>
            </a:r>
          </a:p>
          <a:p>
            <a:pPr lvl="0"/>
            <a:r>
              <a:rPr/>
              <a:t>Staff will escort you to the Preoperative area on 5th floor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Day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Waiting Room on 5th floor for families</a:t>
            </a:r>
          </a:p>
          <a:p>
            <a:pPr lvl="0"/>
            <a:r>
              <a:rPr/>
              <a:t>Surgery completed 3pm - 5pm</a:t>
            </a:r>
          </a:p>
          <a:p>
            <a:pPr lvl="0"/>
            <a:r>
              <a:rPr/>
              <a:t>Transfer to Surgical Intensive Care Unit 4pm - 6pm</a:t>
            </a:r>
          </a:p>
          <a:p>
            <a:pPr lvl="0"/>
            <a:r>
              <a:rPr/>
              <a:t>Visitors permitted into the ICU 5pm - 7pm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What to Bring to the Hospital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No jewelery or valuables</a:t>
            </a:r>
          </a:p>
          <a:p>
            <a:pPr lvl="0"/>
            <a:r>
              <a:rPr/>
              <a:t>Cell phone and charger</a:t>
            </a:r>
          </a:p>
          <a:p>
            <a:pPr lvl="0"/>
            <a:r>
              <a:rPr/>
              <a:t>Insurance cards</a:t>
            </a:r>
          </a:p>
          <a:p>
            <a:pPr lvl="0"/>
            <a:r>
              <a:rPr/>
              <a:t>Underwear you don’t mind discarding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Visitor’s Policy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Intensive Care Unit</a:t>
            </a:r>
          </a:p>
          <a:p>
            <a:pPr lvl="0"/>
            <a:r>
              <a:rPr/>
              <a:t>Two visitors at a time 8am - 8pm</a:t>
            </a:r>
          </a:p>
          <a:p>
            <a:pPr lvl="0"/>
            <a:r>
              <a:rPr/>
              <a:t>One “Care Partner” can stay overnight in ICU</a:t>
            </a:r>
          </a:p>
          <a:p>
            <a:pPr lvl="0" indent="0" marL="0">
              <a:buNone/>
            </a:pPr>
            <a:r>
              <a:rPr/>
              <a:t>Ward</a:t>
            </a:r>
          </a:p>
          <a:p>
            <a:pPr lvl="0"/>
            <a:r>
              <a:rPr/>
              <a:t>All rooms are private rooms</a:t>
            </a:r>
          </a:p>
          <a:p>
            <a:pPr lvl="0"/>
            <a:r>
              <a:rPr/>
              <a:t>Day bed available for a family member</a:t>
            </a:r>
          </a:p>
          <a:p>
            <a:pPr lvl="0"/>
            <a:r>
              <a:rPr/>
              <a:t>Visiting hours 8am - 8pm</a:t>
            </a:r>
          </a:p>
          <a:p>
            <a:pPr lvl="0" indent="0" marL="0">
              <a:buNone/>
            </a:pPr>
            <a:r>
              <a:rPr/>
              <a:t>No visitors please who have a cough or fever!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Preparation for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evaluation may be needed before surgery:</a:t>
            </a:r>
          </a:p>
          <a:p>
            <a:pPr lvl="0"/>
            <a:r>
              <a:rPr/>
              <a:t>Pulmonary Function Tests to test lung function</a:t>
            </a:r>
          </a:p>
          <a:p>
            <a:pPr lvl="0"/>
            <a:r>
              <a:rPr/>
              <a:t>Cardiology evaluation to test heart function</a:t>
            </a:r>
          </a:p>
          <a:p>
            <a:pPr lvl="1"/>
            <a:r>
              <a:rPr/>
              <a:t>Echocardiogram</a:t>
            </a:r>
          </a:p>
          <a:p>
            <a:pPr lvl="1"/>
            <a:r>
              <a:rPr/>
              <a:t>Stress Test</a:t>
            </a:r>
          </a:p>
          <a:p>
            <a:pPr lvl="1"/>
            <a:r>
              <a:rPr/>
              <a:t>Holter monitor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Esophagectomy for Cancers of the Esophagus or GE Junction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Primary Surgery</a:t>
            </a:r>
          </a:p>
          <a:p>
            <a:pPr lvl="0"/>
            <a:r>
              <a:rPr/>
              <a:t>Superficial Tumors (T1) not removed by endoscopy</a:t>
            </a:r>
          </a:p>
          <a:p>
            <a:pPr lvl="0"/>
            <a:r>
              <a:rPr/>
              <a:t>Localized Tumors (T2 N0 M0)</a:t>
            </a:r>
          </a:p>
          <a:p>
            <a:pPr lvl="0"/>
            <a:r>
              <a:rPr/>
              <a:t>Surgery scheduled after medical evaluation</a:t>
            </a:r>
          </a:p>
          <a:p>
            <a:pPr lvl="0"/>
            <a:r>
              <a:rPr/>
              <a:t>Aim for surgery within 6 weeks of consultation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Esophagectomy for Cancers of the Esophagus or GE Junction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Preoperative Therapy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Surgery (T3 Nx M0)</a:t>
                </a:r>
              </a:p>
              <a:p>
                <a:pPr lvl="0"/>
                <a:r>
                  <a:rPr/>
                  <a:t>Surgery scheduled after</a:t>
                </a:r>
              </a:p>
              <a:p>
                <a:pPr lvl="1"/>
                <a:r>
                  <a:rPr/>
                  <a:t>Recovery from preoperative therapy</a:t>
                </a:r>
              </a:p>
              <a:p>
                <a:pPr lvl="1"/>
                <a:r>
                  <a:rPr/>
                  <a:t>Restaging scans (CT or PET)</a:t>
                </a:r>
              </a:p>
              <a:p>
                <a:pPr lvl="1"/>
                <a:r>
                  <a:rPr/>
                  <a:t>Medical evaluation</a:t>
                </a:r>
              </a:p>
              <a:p>
                <a:pPr lvl="0"/>
                <a:r>
                  <a:rPr/>
                  <a:t>Timing between end of preoperative therapy and surgery</a:t>
                </a:r>
              </a:p>
              <a:p>
                <a:pPr lvl="1"/>
                <a:r>
                  <a:rPr/>
                  <a:t>Chemotherapy + radiation: 6-8 weeks</a:t>
                </a:r>
              </a:p>
              <a:p>
                <a:pPr lvl="1"/>
                <a:r>
                  <a:rPr/>
                  <a:t>Chemotherapy: 4-8 weeks</a:t>
                </a:r>
              </a:p>
            </p:txBody>
          </p:sp>
        </mc:Choice>
      </mc:AlternateContent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Preoperative Visits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Medical Oncology - Monitor chemotherapy</a:t>
            </a:r>
          </a:p>
          <a:p>
            <a:pPr lvl="0" indent="0" marL="0">
              <a:buNone/>
            </a:pPr>
            <a:r>
              <a:rPr/>
              <a:t>Radiation Oncology - Monitor radiation</a:t>
            </a:r>
          </a:p>
          <a:p>
            <a:pPr lvl="0" indent="0" marL="0">
              <a:buNone/>
            </a:pPr>
            <a:r>
              <a:rPr/>
              <a:t>Surgical Oncology</a:t>
            </a:r>
          </a:p>
          <a:p>
            <a:pPr lvl="0"/>
            <a:r>
              <a:rPr/>
              <a:t>Consult visit with Dr Salo</a:t>
            </a:r>
          </a:p>
          <a:p>
            <a:pPr lvl="0"/>
            <a:r>
              <a:rPr/>
              <a:t>Mid-treatment visits with Dr Salo / Kate Duncan</a:t>
            </a:r>
          </a:p>
          <a:p>
            <a:pPr lvl="0"/>
            <a:r>
              <a:rPr/>
              <a:t>Preop visit with Dr Salo (may be virtual)</a:t>
            </a:r>
          </a:p>
          <a:p>
            <a:pPr lvl="0"/>
            <a:r>
              <a:rPr/>
              <a:t>Preop visit with Kate Duncan and Liz Koch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Goals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 tumor from esophagus</a:t>
            </a:r>
          </a:p>
          <a:p>
            <a:pPr lvl="0"/>
            <a:r>
              <a:rPr/>
              <a:t>Remove surrounding lymph nodes</a:t>
            </a:r>
          </a:p>
          <a:p>
            <a:pPr lvl="0"/>
            <a:r>
              <a:rPr/>
              <a:t>Create a new esophagus</a:t>
            </a:r>
          </a:p>
        </p:txBody>
      </p:sp>
      <p:pic>
        <p:nvPicPr>
          <p:cNvPr descr="images/Eso_Resection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(Transthoracic)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Removes tumor and lower 1/2 esophagus</a:t>
            </a:r>
          </a:p>
          <a:p>
            <a:pPr lvl="0"/>
            <a:r>
              <a:rPr/>
              <a:t>Removes surrounding lymph nodes</a:t>
            </a:r>
          </a:p>
          <a:p>
            <a:pPr lvl="0"/>
            <a:r>
              <a:rPr/>
              <a:t>GI tract reconstructed</a:t>
            </a:r>
          </a:p>
        </p:txBody>
      </p:sp>
      <p:pic>
        <p:nvPicPr>
          <p:cNvPr descr="images/Eso_Resection2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Reconstruction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New esophagus is created from the stomach in the abdomen by fashioning it into a tube.</a:t>
            </a:r>
          </a:p>
        </p:txBody>
      </p:sp>
      <p:pic>
        <p:nvPicPr>
          <p:cNvPr descr="images/Eso_Resection3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new esophagus is now brought up into the chest. A connection is made between the esophagus and the stomach, called an </a:t>
            </a:r>
            <a:r>
              <a:rPr i="1"/>
              <a:t>anastomosis</a:t>
            </a:r>
            <a:r>
              <a:rPr/>
              <a:t>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Ivor Lewis esophagectomy</a:t>
            </a:r>
          </a:p>
        </p:txBody>
      </p:sp>
      <p:pic>
        <p:nvPicPr>
          <p:cNvPr descr="images/Eso_Resection1_ai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Eso_Resection2_ai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:::::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:::::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Minimally-invasive Ivor Lewis Esophagectomy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 sz="half"/>
              </p:nvPr>
            </p:nvSpPr>
            <p:spPr/>
            <p:txBody>
              <a:bodyPr/>
              <a:lstStyle/>
              <a:p>
                <a:pPr lvl="0"/>
                <a:r>
                  <a:rPr/>
                  <a:t>Small incisions abdomen and chest</a:t>
                </a:r>
              </a:p>
              <a:p>
                <a:pPr lvl="0"/>
                <a:r>
                  <a:rPr/>
                  <a:t>Surgical telescope and instruments</a:t>
                </a:r>
              </a:p>
              <a:p>
                <a:pPr lvl="0"/>
                <a:r>
                  <a:rPr/>
                  <a:t>Smaller incisions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faster recovery and less discomfort</a:t>
                </a:r>
              </a:p>
            </p:txBody>
          </p:sp>
        </mc:Choice>
      </mc:AlternateContent>
      <p:pic>
        <p:nvPicPr>
          <p:cNvPr descr="images/RaMIE_incisio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Open Ivor Lewis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Mininally-invasive approach feasible in 98% of cases</a:t>
            </a:r>
          </a:p>
          <a:p>
            <a:pPr lvl="0" indent="0" marL="0">
              <a:buNone/>
            </a:pPr>
            <a:r>
              <a:rPr/>
              <a:t>In some cases, an open approach is still necessary (2%)</a:t>
            </a:r>
          </a:p>
        </p:txBody>
      </p:sp>
      <p:pic>
        <p:nvPicPr>
          <p:cNvPr descr="images/IvorLewi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Total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patients with tumors in the upper esophagus, we need to remove more of the esophagus</a:t>
            </a:r>
          </a:p>
          <a:p>
            <a:pPr lvl="0" indent="0" marL="0">
              <a:buNone/>
            </a:pPr>
            <a:r>
              <a:rPr/>
              <a:t>We need to remove the whole esophagus, including the portion in the neck</a:t>
            </a:r>
          </a:p>
        </p:txBody>
      </p:sp>
      <p:pic>
        <p:nvPicPr>
          <p:cNvPr descr="images/Eso_ProxTumor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McKeown Esophagectomy</a:t>
            </a:r>
          </a:p>
        </p:txBody>
      </p:sp>
      <p:pic>
        <p:nvPicPr>
          <p:cNvPr descr="images/Eso_ResectionTotal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715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descr="images/Eso_MIE_McKeownArtboard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Esophagectomy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Esophagectomy is a complex operation, with a real risk of complications.</a:t>
            </a:r>
          </a:p>
          <a:p>
            <a:pPr lvl="0" indent="0" marL="0">
              <a:buNone/>
            </a:pPr>
            <a:r>
              <a:rPr/>
              <a:t>Two significant complications:</a:t>
            </a:r>
          </a:p>
          <a:p>
            <a:pPr lvl="0"/>
            <a:r>
              <a:rPr/>
              <a:t>Anastomotic leak</a:t>
            </a:r>
          </a:p>
          <a:p>
            <a:pPr lvl="0"/>
            <a:r>
              <a:rPr/>
              <a:t>Pneumonia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anastomosis is surgical connection between the esophagus and the stomach.</a:t>
            </a:r>
          </a:p>
        </p:txBody>
      </p:sp>
      <p:pic>
        <p:nvPicPr>
          <p:cNvPr descr="images/Eso_IvorLewis_Anastomosi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healing doesn’t occur:</a:t>
            </a:r>
          </a:p>
          <a:p>
            <a:pPr lvl="0"/>
            <a:r>
              <a:rPr/>
              <a:t>Leakage of fluid from the esophagus</a:t>
            </a:r>
          </a:p>
          <a:p>
            <a:pPr lvl="0"/>
            <a:r>
              <a:rPr/>
              <a:t>Infection in the space between the lungs</a:t>
            </a:r>
          </a:p>
          <a:p>
            <a:pPr lvl="0"/>
            <a:r>
              <a:rPr/>
              <a:t>Requires additional time in the hospital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leak occurs:</a:t>
            </a:r>
          </a:p>
          <a:p>
            <a:pPr lvl="0"/>
            <a:r>
              <a:rPr/>
              <a:t>Some leaks will seal</a:t>
            </a:r>
          </a:p>
          <a:p>
            <a:pPr lvl="0"/>
            <a:r>
              <a:rPr/>
              <a:t>Stent may be required to help healing</a:t>
            </a:r>
          </a:p>
          <a:p>
            <a:pPr lvl="0"/>
            <a:r>
              <a:rPr/>
              <a:t>Occasionally additional surgey is required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Anastomotic Leak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 of leak depends on:</a:t>
            </a:r>
          </a:p>
          <a:p>
            <a:pPr lvl="0"/>
            <a:r>
              <a:rPr/>
              <a:t>Type of operation performed</a:t>
            </a:r>
          </a:p>
          <a:p>
            <a:pPr lvl="0"/>
            <a:r>
              <a:rPr/>
              <a:t>Nutritional status of patient</a:t>
            </a:r>
          </a:p>
          <a:p>
            <a:pPr lvl="0"/>
            <a:r>
              <a:rPr/>
              <a:t>Experience of the surgeon</a:t>
            </a:r>
          </a:p>
        </p:txBody>
      </p:sp>
      <p:pic>
        <p:nvPicPr>
          <p:cNvPr descr="images/Eso_IvorLewis_Lea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Occurs in 10-15% of patients after esophagectomy.</a:t>
            </a:r>
          </a:p>
          <a:p>
            <a:pPr lvl="0"/>
            <a:r>
              <a:rPr/>
              <a:t>Requires treatment with antibiotics</a:t>
            </a:r>
          </a:p>
          <a:p>
            <a:pPr lvl="0"/>
            <a:r>
              <a:rPr/>
              <a:t>Requires a longer hospitalization.</a:t>
            </a:r>
          </a:p>
        </p:txBody>
      </p:sp>
      <p:pic>
        <p:nvPicPr>
          <p:cNvPr descr="images/Eso_LungsArtboard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Preventing Pneumonia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Several ways to help prevent pneumonia:</a:t>
            </a:r>
          </a:p>
          <a:p>
            <a:pPr lvl="0"/>
            <a:r>
              <a:rPr/>
              <a:t>Deep breathing</a:t>
            </a:r>
          </a:p>
          <a:p>
            <a:pPr lvl="0"/>
            <a:r>
              <a:rPr/>
              <a:t>Coughing</a:t>
            </a:r>
          </a:p>
          <a:p>
            <a:pPr lvl="0"/>
            <a:r>
              <a:rPr/>
              <a:t>Walking</a:t>
            </a:r>
          </a:p>
          <a:p>
            <a:pPr lvl="0" indent="0" marL="0">
              <a:buNone/>
            </a:pPr>
            <a:r>
              <a:rPr/>
              <a:t>After surgery, this means:</a:t>
            </a:r>
          </a:p>
          <a:p>
            <a:pPr lvl="0"/>
            <a:r>
              <a:rPr/>
              <a:t>Sitting in a chair most of the day</a:t>
            </a:r>
          </a:p>
          <a:p>
            <a:pPr lvl="0"/>
            <a:r>
              <a:rPr/>
              <a:t>Walking in the halls as soon as possible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anesthesia</a:t>
            </a:r>
          </a:p>
          <a:p>
            <a:pPr lvl="0"/>
            <a:r>
              <a:rPr/>
              <a:t>Heart attack (5%)</a:t>
            </a:r>
          </a:p>
          <a:p>
            <a:pPr lvl="0"/>
            <a:r>
              <a:rPr/>
              <a:t>Irregular heart rhythm (15%)</a:t>
            </a:r>
          </a:p>
          <a:p>
            <a:pPr lvl="0"/>
            <a:r>
              <a:rPr/>
              <a:t>Pneumonia (10%)</a:t>
            </a:r>
          </a:p>
          <a:p>
            <a:pPr lvl="0"/>
            <a:r>
              <a:rPr/>
              <a:t>Blood clots in legs (&lt;5%)</a:t>
            </a:r>
          </a:p>
          <a:p>
            <a:pPr lvl="0"/>
            <a:r>
              <a:rPr/>
              <a:t>Pulmonary embolism (2%)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Risks related to Surgery</a:t>
            </a:r>
          </a:p>
          <a:p>
            <a:pPr lvl="0"/>
            <a:r>
              <a:rPr/>
              <a:t>Anastomotic leak (5%)</a:t>
            </a:r>
          </a:p>
          <a:p>
            <a:pPr lvl="0"/>
            <a:r>
              <a:rPr/>
              <a:t>Stricture at anastomosis (15%)</a:t>
            </a:r>
          </a:p>
          <a:p>
            <a:pPr lvl="0"/>
            <a:r>
              <a:rPr/>
              <a:t>Death within 90 days of surgery</a:t>
            </a:r>
          </a:p>
          <a:p>
            <a:pPr lvl="1"/>
            <a:r>
              <a:rPr/>
              <a:t>Low risk patients = 2%</a:t>
            </a:r>
          </a:p>
          <a:p>
            <a:pPr lvl="1"/>
            <a:r>
              <a:rPr/>
              <a:t>Intermediate risk = 10%</a:t>
            </a:r>
          </a:p>
          <a:p>
            <a:pPr lvl="1"/>
            <a:r>
              <a:rPr/>
              <a:t>High risk = 30%</a:t>
            </a:r>
          </a:p>
        </p:txBody>
      </p:sp>
    </p:spTree>
  </p:cSld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Risks of Surgery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279400" y="952500"/>
          <a:ext cx="8547100" cy="346710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844800"/>
                <a:gridCol w="2844800"/>
                <a:gridCol w="2844800"/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&lt;75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Age &gt;75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Normal Muscle (75%)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2%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Low Muscle (25%)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10%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30%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1" name="TextBox 3"/>
          <p:cNvSpPr txBox="1"/>
          <p:nvPr>
            <p:ph idx="1"/>
          </p:nvPr>
        </p:nvSpPr>
        <p:spPr>
          <a:xfrm>
            <a:off x="279400" y="4419600"/>
            <a:ext cx="85471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Risks of Death within 90 Days of Surgery</a:t>
            </a:r>
          </a:p>
        </p:txBody>
      </p:sp>
    </p:spTree>
  </p:cSld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Epidural Catheter for Pain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Remains in place for 2-5 days</a:t>
            </a:r>
          </a:p>
          <a:p>
            <a:pPr lvl="0"/>
            <a:r>
              <a:rPr/>
              <a:t>Dosage can be adjusted as needed</a:t>
            </a:r>
          </a:p>
          <a:p>
            <a:pPr lvl="0"/>
            <a:r>
              <a:rPr/>
              <a:t>Can make it more difficult to urinate</a:t>
            </a:r>
          </a:p>
          <a:p>
            <a:pPr lvl="0"/>
            <a:r>
              <a:rPr/>
              <a:t>May require foley catheter in bladder</a:t>
            </a:r>
          </a:p>
          <a:p>
            <a:pPr lvl="0"/>
            <a:r>
              <a:rPr/>
              <a:t>Foley catheter removed after epidural removed</a:t>
            </a:r>
          </a:p>
        </p:txBody>
      </p:sp>
    </p:spTree>
  </p:cSld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temporary feeding tube is placed to supplement nutrition by mouth.</a:t>
            </a:r>
          </a:p>
          <a:p>
            <a:pPr lvl="0" indent="0" marL="0">
              <a:buNone/>
            </a:pPr>
            <a:r>
              <a:rPr/>
              <a:t>This will stay in place for about 8 weeks after surgery</a:t>
            </a:r>
          </a:p>
        </p:txBody>
      </p:sp>
      <p:pic>
        <p:nvPicPr>
          <p:cNvPr descr="images/jejunostomy/esophagectomy_jejunostomy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 (2-4 days)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Surgical ICU on 11th floor</a:t>
            </a:r>
          </a:p>
          <a:p>
            <a:pPr lvl="0"/>
            <a:r>
              <a:rPr/>
              <a:t>NG tube in nose to drain stomach and esophagus</a:t>
            </a:r>
          </a:p>
          <a:p>
            <a:pPr lvl="0"/>
            <a:r>
              <a:rPr/>
              <a:t>Catheter in bladder</a:t>
            </a:r>
          </a:p>
          <a:p>
            <a:pPr lvl="0"/>
            <a:r>
              <a:rPr/>
              <a:t>Chest tube right chest</a:t>
            </a:r>
          </a:p>
          <a:p>
            <a:pPr lvl="0"/>
            <a:r>
              <a:rPr/>
              <a:t>Abdominal drains (usually 2)</a:t>
            </a:r>
          </a:p>
          <a:p>
            <a:pPr lvl="0"/>
            <a:r>
              <a:rPr/>
              <a:t>Feeding jejunostomy (usually stays in 8 wks)</a:t>
            </a:r>
          </a:p>
        </p:txBody>
      </p:sp>
    </p:spTree>
  </p:cSld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Intensive Care Unit (ICU)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Bladder catheter removed → check that bladder empties properly</a:t>
            </a:r>
          </a:p>
          <a:p>
            <a:pPr lvl="0"/>
            <a:r>
              <a:rPr/>
              <a:t>Chest tube removed (day 2-4) → follow-up x-ray</a:t>
            </a:r>
          </a:p>
          <a:p>
            <a:pPr lvl="0"/>
            <a:r>
              <a:rPr/>
              <a:t>Fluid emptied from drains every few hours</a:t>
            </a:r>
          </a:p>
          <a:p>
            <a:pPr lvl="0"/>
            <a:r>
              <a:rPr/>
              <a:t>Start tube feedings by feeding</a:t>
            </a:r>
          </a:p>
          <a:p>
            <a:pPr lvl="0"/>
            <a:r>
              <a:rPr/>
              <a:t>Feeding jejunostomy (stays in 8 weeks)</a:t>
            </a:r>
          </a:p>
        </p:txBody>
      </p:sp>
    </p:spTree>
  </p:cSld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Ward - 6Tower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in a chair most of the day</a:t>
            </a:r>
          </a:p>
          <a:p>
            <a:pPr lvl="0"/>
            <a:r>
              <a:rPr/>
              <a:t>Walking in the halls</a:t>
            </a:r>
          </a:p>
          <a:p>
            <a:pPr lvl="1"/>
            <a:r>
              <a:rPr/>
              <a:t>Start with assistance</a:t>
            </a:r>
          </a:p>
          <a:p>
            <a:pPr lvl="1"/>
            <a:r>
              <a:rPr/>
              <a:t>Improves lung function</a:t>
            </a:r>
          </a:p>
          <a:p>
            <a:pPr lvl="1"/>
            <a:r>
              <a:rPr/>
              <a:t>Prevents loss of muscle strength</a:t>
            </a:r>
          </a:p>
        </p:txBody>
      </p:sp>
    </p:spTree>
  </p:cSld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Feedings are administered through the jejunostomy at night by a pump</a:t>
            </a:r>
          </a:p>
        </p:txBody>
      </p:sp>
      <p:pic>
        <p:nvPicPr>
          <p:cNvPr descr="images/jejunostomy/esophagectomy_jtube_pum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14900" y="1193800"/>
            <a:ext cx="36322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Start with continuous feeds (24 hours/day)</a:t>
            </a:r>
          </a:p>
          <a:p>
            <a:pPr lvl="0"/>
            <a:r>
              <a:rPr/>
              <a:t>Convert to nocturnal (night-time): 6pm to 10pm</a:t>
            </a:r>
          </a:p>
          <a:p>
            <a:pPr lvl="0" indent="0" marL="0">
              <a:buNone/>
            </a:pPr>
            <a:r>
              <a:rPr/>
              <a:t>The feeding bag holds only 4 cartons of feeds - May need to “top off’ bag after a few hours</a:t>
            </a:r>
          </a:p>
          <a:p>
            <a:pPr lvl="0" indent="0" marL="0">
              <a:buNone/>
            </a:pPr>
            <a:r>
              <a:rPr/>
              <a:t>Water through the tube</a:t>
            </a:r>
          </a:p>
          <a:p>
            <a:pPr lvl="0"/>
            <a:r>
              <a:rPr/>
              <a:t>Important to prevent dehydration</a:t>
            </a:r>
          </a:p>
          <a:p>
            <a:pPr lvl="0"/>
            <a:r>
              <a:rPr/>
              <a:t>240mL (8 oz) 4 times per day</a:t>
            </a:r>
          </a:p>
        </p:txBody>
      </p:sp>
    </p:spTree>
  </p:cSld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Tube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Nutrition to bypasses the esophagus and stomach</a:t>
            </a:r>
          </a:p>
          <a:p>
            <a:pPr lvl="0"/>
            <a:r>
              <a:rPr/>
              <a:t>Placed in small intestine</a:t>
            </a:r>
          </a:p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Feeding done at night</a:t>
            </a:r>
          </a:p>
        </p:txBody>
      </p:sp>
      <p:pic>
        <p:nvPicPr>
          <p:cNvPr descr="images/nutrition_jtub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902200" y="1193800"/>
            <a:ext cx="36449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Feeding Pump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Pump administers feedings slowly</a:t>
            </a:r>
          </a:p>
          <a:p>
            <a:pPr lvl="0"/>
            <a:r>
              <a:rPr/>
              <a:t>Rate can be easily adjusted</a:t>
            </a:r>
          </a:p>
        </p:txBody>
      </p:sp>
      <p:pic>
        <p:nvPicPr>
          <p:cNvPr descr="images/jejunostomy/enteralbag_pump_hopistal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448300" y="1193800"/>
            <a:ext cx="2565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Typical Regimen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Jejunostomy tube feeds for 16 hours (6pm-10am)</a:t>
            </a:r>
          </a:p>
          <a:p>
            <a:pPr lvl="1"/>
            <a:r>
              <a:rPr/>
              <a:t>Men: 75mL/hour x 16 hours = 5 cartons</a:t>
            </a:r>
          </a:p>
          <a:p>
            <a:pPr lvl="1"/>
            <a:r>
              <a:rPr/>
              <a:t>Women: 60mL/hour x 16 hours = 4 cartons</a:t>
            </a:r>
          </a:p>
          <a:p>
            <a:pPr lvl="0"/>
            <a:r>
              <a:rPr/>
              <a:t>Water 240ml (8oz) via syringe 4x/day</a:t>
            </a:r>
          </a:p>
          <a:p>
            <a:pPr lvl="0" indent="0" marL="0">
              <a:buNone/>
            </a:pPr>
            <a:r>
              <a:rPr/>
              <a:t>Hospital nurses will teach use of the feeding tube</a:t>
            </a:r>
          </a:p>
        </p:txBody>
      </p:sp>
    </p:spTree>
  </p:cSld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Feeds with Diabetes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feedings elevate blood sugars</a:t>
            </a:r>
          </a:p>
          <a:p>
            <a:pPr lvl="0"/>
            <a:r>
              <a:rPr/>
              <a:t>Insulin may be required along with feeds</a:t>
            </a:r>
          </a:p>
          <a:p>
            <a:pPr lvl="0" indent="0" marL="0">
              <a:buNone/>
            </a:pPr>
            <a:r>
              <a:rPr/>
              <a:t>Typical Pattern for tube feeds</a:t>
            </a:r>
          </a:p>
          <a:p>
            <a:pPr lvl="0"/>
            <a:r>
              <a:rPr/>
              <a:t>Feeds run via pump from 6pm to 10am</a:t>
            </a:r>
          </a:p>
          <a:p>
            <a:pPr lvl="0"/>
            <a:r>
              <a:rPr/>
              <a:t>Insulin at 6pm (70/30 insulin)</a:t>
            </a:r>
          </a:p>
          <a:p>
            <a:pPr lvl="0"/>
            <a:r>
              <a:rPr/>
              <a:t>Insulin at Midnight (70/30 insulin)</a:t>
            </a:r>
          </a:p>
          <a:p>
            <a:pPr lvl="0"/>
            <a:r>
              <a:rPr/>
              <a:t>No insulin if tube feedings are not run</a:t>
            </a:r>
          </a:p>
        </p:txBody>
      </p:sp>
    </p:spTree>
  </p:cSld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Video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video is available to help become familiar with the feeding jejunostomy</a:t>
            </a:r>
          </a:p>
        </p:txBody>
      </p:sp>
      <p:pic>
        <p:nvPicPr>
          <p:cNvPr descr="images/nutrition_jejunostomy_qrcode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067300" y="1193800"/>
            <a:ext cx="33274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Activity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Up in chair most of the day</a:t>
            </a:r>
          </a:p>
          <a:p>
            <a:pPr lvl="0"/>
            <a:r>
              <a:rPr/>
              <a:t>Walking with help from nurse/Physical Therapist</a:t>
            </a:r>
          </a:p>
          <a:p>
            <a:pPr lvl="0"/>
            <a:r>
              <a:rPr/>
              <a:t>Goals:</a:t>
            </a:r>
          </a:p>
          <a:p>
            <a:pPr lvl="1"/>
            <a:r>
              <a:rPr/>
              <a:t>Improve lung function</a:t>
            </a:r>
          </a:p>
          <a:p>
            <a:pPr lvl="1"/>
            <a:r>
              <a:rPr/>
              <a:t>Prevent muscle loss</a:t>
            </a:r>
          </a:p>
        </p:txBody>
      </p:sp>
    </p:spTree>
  </p:cSld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Nasogastric (NG) Tube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Tube passed through nose into stomach</a:t>
                </a:r>
              </a:p>
              <a:p>
                <a:pPr lvl="0"/>
                <a:r>
                  <a:rPr/>
                  <a:t>Drains fluid from stomach</a:t>
                </a:r>
              </a:p>
              <a:p>
                <a:pPr lvl="0"/>
                <a:r>
                  <a:rPr/>
                  <a:t>Prevents vomiting</a:t>
                </a:r>
              </a:p>
              <a:p>
                <a:pPr lvl="0" indent="0" marL="0">
                  <a:buNone/>
                </a:pPr>
                <a:r>
                  <a:rPr/>
                  <a:t>Upper GI X-ray on 2nd or 3rd day after surgery</a:t>
                </a:r>
              </a:p>
              <a:p>
                <a:pPr lvl="0"/>
                <a:r>
                  <a:rPr/>
                  <a:t>If stomach empties well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NG tube removed</a:t>
                </a:r>
              </a:p>
              <a:p>
                <a:pPr lvl="0"/>
                <a:r>
                  <a:rPr/>
                  <a:t>Otherwise, X-ray repeated 2-3 days later</a:t>
                </a:r>
              </a:p>
            </p:txBody>
          </p:sp>
        </mc:Choice>
      </mc:AlternateContent>
    </p:spTree>
  </p:cSld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Swallowing Evaluation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Once NG tube has been removed:</a:t>
                </a:r>
              </a:p>
              <a:p>
                <a:pPr lvl="0" indent="0" marL="0">
                  <a:buNone/>
                </a:pPr>
                <a:r>
                  <a:rPr/>
                  <a:t>Modified barium swallow in radiology</a:t>
                </a:r>
              </a:p>
              <a:p>
                <a:pPr lvl="0"/>
                <a:r>
                  <a:rPr/>
                  <a:t>Drink a white chalky liquid (barium)</a:t>
                </a:r>
              </a:p>
              <a:p>
                <a:pPr lvl="0"/>
                <a:r>
                  <a:rPr/>
                  <a:t>Look for proper swallowing function</a:t>
                </a:r>
              </a:p>
              <a:p>
                <a:pPr lvl="0"/>
                <a:r>
                  <a:rPr/>
                  <a:t>80% of patients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⇒</m:t>
                    </m:r>
                  </m:oMath>
                </a14:m>
                <a:r>
                  <a:rPr/>
                  <a:t> liquids started by mouth</a:t>
                </a:r>
              </a:p>
            </p:txBody>
          </p:sp>
        </mc:Choice>
      </mc:AlternateContent>
    </p:spTree>
  </p:cSld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Oral Intake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are taking protein shakes when they go home</a:t>
            </a:r>
          </a:p>
          <a:p>
            <a:pPr lvl="0" indent="0" marL="0">
              <a:buNone/>
            </a:pPr>
            <a:r>
              <a:rPr/>
              <a:t>Protein shakes are started after tolerating water</a:t>
            </a:r>
            <a:br/>
          </a:p>
          <a:p>
            <a:pPr lvl="0"/>
            <a:r>
              <a:rPr/>
              <a:t>2 oz per hour to start</a:t>
            </a:r>
          </a:p>
          <a:p>
            <a:pPr lvl="0"/>
            <a:r>
              <a:rPr/>
              <a:t>4 oz per hour if 2oz are tolerated well</a:t>
            </a:r>
          </a:p>
        </p:txBody>
      </p:sp>
    </p:spTree>
  </p:cSld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Drains and Tubes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Chest Tube (right side): Removed 4-6 days after surgery (depending upon output) Abdominal drains: Removed 4-7 days after surgery</a:t>
            </a:r>
          </a:p>
          <a:p>
            <a:pPr lvl="0"/>
            <a:r>
              <a:rPr/>
              <a:t>Discharge with 1 abdominal drain in 10% of cases</a:t>
            </a:r>
          </a:p>
          <a:p>
            <a:pPr lvl="0" indent="0" marL="0">
              <a:buNone/>
            </a:pPr>
            <a:r>
              <a:rPr/>
              <a:t>Epidural catheter: Removed 4-5 days after surgery Bladder catheter: Removed after epidural catheter removed</a:t>
            </a:r>
          </a:p>
        </p:txBody>
      </p:sp>
    </p:spTree>
  </p:cSld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Goal: ready to leave day #7 after surgery</a:t>
            </a:r>
          </a:p>
          <a:p>
            <a:pPr lvl="0"/>
            <a:r>
              <a:rPr/>
              <a:t>Night-time tube feedings (6pm to 10am)</a:t>
            </a:r>
          </a:p>
          <a:p>
            <a:pPr lvl="0"/>
            <a:r>
              <a:rPr/>
              <a:t>Nutrition by mouth (90% of patients)</a:t>
            </a:r>
          </a:p>
          <a:p>
            <a:pPr lvl="1"/>
            <a:r>
              <a:rPr/>
              <a:t>Protein shakes or water 4oz every 2 hours</a:t>
            </a:r>
          </a:p>
          <a:p>
            <a:pPr lvl="0"/>
            <a:r>
              <a:rPr/>
              <a:t>Water through tube 8oz four times per day</a:t>
            </a:r>
          </a:p>
          <a:p>
            <a:pPr lvl="0"/>
            <a:r>
              <a:rPr/>
              <a:t>Home care nursing (feeding tube teaching)</a:t>
            </a:r>
          </a:p>
          <a:p>
            <a:pPr lvl="0"/>
            <a:r>
              <a:rPr/>
              <a:t>Home infusion (tube feeding supplies)</a:t>
            </a:r>
          </a:p>
        </p:txBody>
      </p:sp>
    </p:spTree>
  </p:cSld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At discharge home:</a:t>
            </a:r>
          </a:p>
          <a:p>
            <a:pPr lvl="0"/>
            <a:r>
              <a:rPr/>
              <a:t>Protein shakes 4oz every 2 hrs</a:t>
            </a:r>
          </a:p>
          <a:p>
            <a:pPr lvl="0"/>
            <a:r>
              <a:rPr/>
              <a:t>Tube feeds 4-5 cans at night (6pm-10am)</a:t>
            </a:r>
          </a:p>
          <a:p>
            <a:pPr lvl="0" indent="0" marL="0">
              <a:buNone/>
            </a:pPr>
            <a:r>
              <a:rPr/>
              <a:t>10-12 Days: Increase protein shakes</a:t>
            </a:r>
          </a:p>
          <a:p>
            <a:pPr lvl="0"/>
            <a:r>
              <a:rPr/>
              <a:t>Tube feeds 3-4 cans at night</a:t>
            </a:r>
          </a:p>
          <a:p>
            <a:pPr lvl="0" indent="0" marL="0">
              <a:buNone/>
            </a:pPr>
            <a:r>
              <a:rPr/>
              <a:t>Three weeks: Post-esophagectomy Diet</a:t>
            </a:r>
          </a:p>
          <a:p>
            <a:pPr lvl="0" indent="0" marL="0">
              <a:buNone/>
            </a:pPr>
            <a:r>
              <a:rPr/>
              <a:t>8-12 weeks: Remove feeding tube (in office)</a:t>
            </a:r>
          </a:p>
        </p:txBody>
      </p:sp>
    </p:spTree>
  </p:cSld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284309" y="205979"/>
                <a:ext cx="8552330" cy="662317"/>
              </a:xfrm>
            </p:spPr>
            <p:txBody>
              <a:bodyPr/>
              <a:lstStyle/>
              <a:p>
                <a:pPr lvl="0" indent="0" marL="0">
                  <a:buNone/>
                </a:pPr>
                <a:r>
                  <a:rPr/>
                  <a:t>Transition from Tube Feeds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Eating</a:t>
                </a:r>
              </a:p>
            </p:txBody>
          </p:sp>
        </mc:Choice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Dietitian will calculate daily protein goal</a:t>
                </a:r>
              </a:p>
              <a:p>
                <a:pPr lvl="0"/>
                <a:r>
                  <a:rPr/>
                  <a:t>Typically 60-75 grams protein/day</a:t>
                </a:r>
              </a:p>
              <a:p>
                <a:pPr lvl="0"/>
                <a:r>
                  <a:rPr/>
                  <a:t>Each carton of tube feeding has 15 grams</a:t>
                </a:r>
              </a:p>
              <a:p>
                <a:pPr lvl="1"/>
                <a:r>
                  <a:rPr/>
                  <a:t>75 grams protein = 5 cartons/night</a:t>
                </a:r>
              </a:p>
              <a:p>
                <a:pPr lvl="0"/>
                <a:r>
                  <a:rPr/>
                  <a:t>More intake by mouth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tube feeds reduced</a:t>
                </a:r>
              </a:p>
              <a:p>
                <a:pPr lvl="0" indent="0" marL="0">
                  <a:buNone/>
                </a:pPr>
                <a:r>
                  <a:rPr/>
                  <a:t>Spread out protein during the day (20gm/meal)</a:t>
                </a:r>
              </a:p>
              <a:p>
                <a:pPr lvl="0"/>
                <a:r>
                  <a:rPr/>
                  <a:t>Three meals + 2-3 high-protein snacks</a:t>
                </a:r>
              </a:p>
            </p:txBody>
          </p:sp>
        </mc:Choice>
      </mc:AlternateContent>
    </p:spTree>
  </p:cSld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Post-esophagectomy Diet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Soft Consistency</a:t>
            </a:r>
          </a:p>
          <a:p>
            <a:pPr lvl="0"/>
            <a:r>
              <a:rPr/>
              <a:t>High Protein</a:t>
            </a:r>
          </a:p>
          <a:p>
            <a:pPr lvl="0"/>
            <a:r>
              <a:rPr/>
              <a:t>Avoid sugary liquids (can cause ‘dumping’)</a:t>
            </a:r>
          </a:p>
          <a:p>
            <a:pPr lvl="0"/>
            <a:r>
              <a:rPr/>
              <a:t>Avoid raw vegetables (and salads)</a:t>
            </a:r>
          </a:p>
          <a:p>
            <a:pPr lvl="0"/>
            <a:r>
              <a:rPr/>
              <a:t>Eating</a:t>
            </a:r>
          </a:p>
          <a:p>
            <a:pPr lvl="1"/>
            <a:r>
              <a:rPr/>
              <a:t>Small, frequent meals</a:t>
            </a:r>
          </a:p>
          <a:p>
            <a:pPr lvl="1"/>
            <a:r>
              <a:rPr/>
              <a:t>Sit up for 30-45 minutes after eating</a:t>
            </a:r>
          </a:p>
          <a:p>
            <a:pPr lvl="1"/>
            <a:r>
              <a:rPr/>
              <a:t>Avoid eating within 2 hours of bedtime</a:t>
            </a:r>
          </a:p>
        </p:txBody>
      </p:sp>
    </p:spTree>
  </p:cSld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 - Pain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Acetaminophen (Tylenol) 1000mg 4x/day</a:t>
            </a:r>
          </a:p>
          <a:p>
            <a:pPr lvl="0" indent="0" marL="0">
              <a:buNone/>
            </a:pPr>
            <a:r>
              <a:rPr/>
              <a:t>Gabapentin 300mg 3 times/day</a:t>
            </a:r>
          </a:p>
          <a:p>
            <a:pPr lvl="0" indent="0" marL="0">
              <a:buNone/>
            </a:pPr>
            <a:r>
              <a:rPr/>
              <a:t>Oxycodone</a:t>
            </a:r>
          </a:p>
          <a:p>
            <a:pPr lvl="0"/>
            <a:r>
              <a:rPr/>
              <a:t>As needed in addition to Tylenol/gabapentin</a:t>
            </a:r>
          </a:p>
          <a:p>
            <a:pPr lvl="0"/>
            <a:r>
              <a:rPr/>
              <a:t>Will begin reducing dose at first postop visit</a:t>
            </a:r>
          </a:p>
          <a:p>
            <a:pPr lvl="0"/>
            <a:r>
              <a:rPr/>
              <a:t>Can usually discontinue by 4 weeks</a:t>
            </a:r>
          </a:p>
          <a:p>
            <a:pPr lvl="0"/>
            <a:r>
              <a:rPr/>
              <a:t>NO DRIVING WHILE ON OXYCODONE</a:t>
            </a:r>
          </a:p>
        </p:txBody>
      </p:sp>
    </p:spTree>
  </p:cSld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Non-steroidals Anti Inflammatory (NSAID)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Non-steroidal anti-inflammatories (Celebrex)</a:t>
            </a:r>
          </a:p>
          <a:p>
            <a:pPr lvl="0"/>
            <a:r>
              <a:rPr/>
              <a:t>200 mg every 12 hours starting at 2 weeks</a:t>
            </a:r>
          </a:p>
          <a:p>
            <a:pPr lvl="0" indent="0" marL="0">
              <a:buNone/>
            </a:pPr>
            <a:r>
              <a:rPr/>
              <a:t>NO GOODY POWDERS OR BCs</a:t>
            </a:r>
          </a:p>
          <a:p>
            <a:pPr lvl="0"/>
            <a:r>
              <a:rPr/>
              <a:t>(Can cause permanent scarring at the surgery site)</a:t>
            </a:r>
          </a:p>
        </p:txBody>
      </p:sp>
    </p:spTree>
  </p:cSld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Acid Blockers = Proton Pump Inhibitors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Examples include ompeprazole and pantoprazole</a:t>
            </a:r>
          </a:p>
          <a:p>
            <a:pPr lvl="0"/>
            <a:r>
              <a:rPr/>
              <a:t>Will stay on for at 1-2 years to prevent acid reflux</a:t>
            </a:r>
          </a:p>
          <a:p>
            <a:pPr lvl="0"/>
            <a:r>
              <a:rPr/>
              <a:t>Important in preventing scarring at anastomosis (new connection between esophagus and stomach)</a:t>
            </a:r>
          </a:p>
          <a:p>
            <a:pPr lvl="0"/>
            <a:r>
              <a:rPr/>
              <a:t>To administer through feeding tube, open capsule and resuspend beads in 60mL (2oz) of water</a:t>
            </a:r>
          </a:p>
        </p:txBody>
      </p:sp>
    </p:spTree>
  </p:cSld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Medicines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Reglan – Helps stomach empty</a:t>
            </a:r>
          </a:p>
          <a:p>
            <a:pPr lvl="0"/>
            <a:r>
              <a:rPr/>
              <a:t>Will plan to stop after six weeks</a:t>
            </a:r>
          </a:p>
          <a:p>
            <a:pPr lvl="0"/>
            <a:r>
              <a:rPr/>
              <a:t>0.1% risk of tardive dyskinesia (nervous tic)</a:t>
            </a:r>
          </a:p>
          <a:p>
            <a:pPr lvl="0" indent="0" marL="0">
              <a:buNone/>
            </a:pPr>
            <a:r>
              <a:rPr/>
              <a:t>Remeron – Helps improve appetite</a:t>
            </a:r>
          </a:p>
          <a:p>
            <a:pPr lvl="0"/>
            <a:r>
              <a:rPr/>
              <a:t>Can cause vivid dreams</a:t>
            </a:r>
          </a:p>
          <a:p>
            <a:pPr lvl="0"/>
            <a:r>
              <a:rPr/>
              <a:t>Used for several weeks after surgery</a:t>
            </a:r>
          </a:p>
          <a:p>
            <a:pPr lvl="0"/>
            <a:r>
              <a:rPr/>
              <a:t>Will stop within first three months of surgery</a:t>
            </a:r>
          </a:p>
        </p:txBody>
      </p:sp>
    </p:spTree>
  </p:cSld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Metoprolol = Beta Blockers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/>
                <a:r>
                  <a:rPr/>
                  <a:t>Slows heart rate and lowers blood pressure</a:t>
                </a:r>
                <a:br/>
              </a:p>
              <a:p>
                <a:pPr lvl="0"/>
                <a:r>
                  <a:rPr/>
                  <a:t>Used to prevent rapid heart rate</a:t>
                </a:r>
              </a:p>
              <a:p>
                <a:pPr lvl="0"/>
                <a:r>
                  <a:rPr/>
                  <a:t>Patients not taking a beta blocker 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wean after after surgery</a:t>
                </a:r>
              </a:p>
              <a:p>
                <a:pPr lvl="0"/>
                <a:r>
                  <a:rPr/>
                  <a:t>Patients taking a beta blockerprior to surgery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return to prior dose and drug after surgery</a:t>
                </a:r>
              </a:p>
            </p:txBody>
          </p:sp>
        </mc:Choice>
      </mc:AlternateContent>
    </p:spTree>
  </p:cSld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5045" y="205979"/>
            <a:ext cx="8529278" cy="8572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Sleeping at Home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Reflux can occur the first few weeks/months after surgery</a:t>
            </a:r>
          </a:p>
          <a:p>
            <a:pPr lvl="0" indent="0" marL="0">
              <a:buNone/>
            </a:pPr>
            <a:r>
              <a:rPr/>
              <a:t>This improves over the first few months</a:t>
            </a:r>
          </a:p>
          <a:p>
            <a:pPr lvl="0" indent="0" marL="0">
              <a:buNone/>
            </a:pPr>
            <a:r>
              <a:rPr/>
              <a:t>A wedge pillow can be helpful for sleep</a:t>
            </a:r>
          </a:p>
        </p:txBody>
      </p:sp>
      <p:pic>
        <p:nvPicPr>
          <p:cNvPr descr="images/wedge_pillow_comm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864100" y="1193800"/>
            <a:ext cx="3733800" cy="37338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Follow Up Visit 7-10 days after Discharge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In-person clinic visit with Dr Salo or Kate Duncan</a:t>
            </a:r>
          </a:p>
          <a:p>
            <a:pPr lvl="0"/>
            <a:r>
              <a:rPr/>
              <a:t>Check surgical site</a:t>
            </a:r>
          </a:p>
          <a:p>
            <a:pPr lvl="0"/>
            <a:r>
              <a:rPr/>
              <a:t>Remove staples (if needed)</a:t>
            </a:r>
          </a:p>
          <a:p>
            <a:pPr lvl="0"/>
            <a:r>
              <a:rPr/>
              <a:t>Remove abdominal drains (if needed)</a:t>
            </a:r>
          </a:p>
          <a:p>
            <a:pPr lvl="0" indent="0" marL="0">
              <a:buNone/>
            </a:pPr>
            <a:r>
              <a:rPr/>
              <a:t>Meet with dietitian:</a:t>
            </a:r>
          </a:p>
          <a:p>
            <a:pPr lvl="0"/>
            <a:r>
              <a:rPr/>
              <a:t>Reduce tube feeds</a:t>
            </a:r>
          </a:p>
          <a:p>
            <a:pPr lvl="0"/>
            <a:r>
              <a:rPr/>
              <a:t>Advance diet by mouth</a:t>
            </a:r>
          </a:p>
        </p:txBody>
      </p:sp>
    </p:spTree>
  </p:cSld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Adjust Medicines after Surgery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lvl="0" indent="0" marL="0">
                  <a:buNone/>
                </a:pPr>
                <a:r>
                  <a:rPr/>
                  <a:t>Reglan: Discontinue 6 weeks after surgery Remeron: Discontinue 12 weeks after surgery Pain Medicines:</a:t>
                </a:r>
              </a:p>
              <a:p>
                <a:pPr lvl="0"/>
                <a:r>
                  <a:rPr/>
                  <a:t>Wean oxycodone within 6 weeks of surgery</a:t>
                </a:r>
              </a:p>
              <a:p>
                <a:pPr lvl="0"/>
                <a:r>
                  <a:rPr/>
                  <a:t>Discontinue gabapentin and acetaminophen (Tylenol) within 8 weeks</a:t>
                </a:r>
              </a:p>
              <a:p>
                <a:pPr lvl="0" indent="0" marL="0">
                  <a:buNone/>
                </a:pPr>
                <a:r>
                  <a:rPr/>
                  <a:t>Continue acid blockers (PPI) for at least 1 year</a:t>
                </a:r>
              </a:p>
              <a:p>
                <a:pPr lvl="0" indent="0" marL="0">
                  <a:buNone/>
                </a:pPr>
                <a:r>
                  <a:rPr/>
                  <a:t>Reduce metoprolol to once/day for 7 dayus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m:t>→</m:t>
                    </m:r>
                  </m:oMath>
                </a14:m>
                <a:r>
                  <a:rPr/>
                  <a:t> discontinue</a:t>
                </a:r>
              </a:p>
            </p:txBody>
          </p:sp>
        </mc:Choice>
      </mc:AlternateContent>
    </p:spTree>
  </p:cSld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Second Follow Up Visit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4-5 weeks after first post-operative visit</a:t>
            </a:r>
          </a:p>
          <a:p>
            <a:pPr lvl="0"/>
            <a:r>
              <a:rPr/>
              <a:t>Discuss diet</a:t>
            </a:r>
          </a:p>
          <a:p>
            <a:pPr lvl="0"/>
            <a:r>
              <a:rPr/>
              <a:t>Discuss medicines</a:t>
            </a:r>
          </a:p>
          <a:p>
            <a:pPr lvl="0"/>
            <a:r>
              <a:rPr/>
              <a:t>Plan for jejunostomy removal</a:t>
            </a:r>
          </a:p>
          <a:p>
            <a:pPr lvl="0"/>
            <a:r>
              <a:rPr/>
              <a:t>Evaluate readiness for chemotherapy after surgery (usually 6 weeks)</a:t>
            </a:r>
          </a:p>
        </p:txBody>
      </p:sp>
    </p:spTree>
  </p:cSld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Eating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First Postoperative Visit: Start soft foods (Phase I)</a:t>
            </a:r>
          </a:p>
          <a:p>
            <a:pPr lvl="0" indent="0" marL="0">
              <a:buNone/>
            </a:pPr>
            <a:r>
              <a:rPr/>
              <a:t>Weekly virtual visits with dietitian</a:t>
            </a:r>
          </a:p>
          <a:p>
            <a:pPr lvl="0" indent="0" marL="0">
              <a:buNone/>
            </a:pPr>
            <a:r>
              <a:rPr/>
              <a:t>Jejunostomy removal ~ 8 weeks after surgery</a:t>
            </a:r>
          </a:p>
        </p:txBody>
      </p:sp>
    </p:spTree>
  </p:cSld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Jejunostomy Removal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Jejunostomy tube is removed in the office once you can take in enough nutrients by mouth</a:t>
            </a:r>
          </a:p>
          <a:p>
            <a:pPr lvl="0" indent="0" marL="0">
              <a:buNone/>
            </a:pPr>
            <a:r>
              <a:rPr/>
              <a:t>Removal usually around 8 weeks after surgery (may be longer if chemotherapy planned after surgery)</a:t>
            </a:r>
          </a:p>
          <a:p>
            <a:pPr lvl="0" indent="0" marL="0">
              <a:buNone/>
            </a:pPr>
            <a:r>
              <a:rPr/>
              <a:t>May take 30 minutes and some local anesthetic to loosen up the tube for removal.</a:t>
            </a:r>
          </a:p>
        </p:txBody>
      </p:sp>
    </p:spTree>
  </p:cSld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You may have difficulty absorbing some nutrients:</a:t>
            </a:r>
          </a:p>
          <a:p>
            <a:pPr lvl="0"/>
            <a:r>
              <a:rPr/>
              <a:t>Iron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Monitoring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About 3 months after the jejunostomy tube is removed, we will check blood levels:</a:t>
            </a:r>
          </a:p>
          <a:p>
            <a:pPr lvl="0"/>
            <a:r>
              <a:rPr/>
              <a:t>Iron (ferritin)</a:t>
            </a:r>
          </a:p>
          <a:p>
            <a:pPr lvl="0"/>
            <a:r>
              <a:rPr/>
              <a:t>Vitamin B12</a:t>
            </a:r>
          </a:p>
          <a:p>
            <a:pPr lvl="0"/>
            <a:r>
              <a:rPr/>
              <a:t>Vitamin D</a:t>
            </a:r>
          </a:p>
        </p:txBody>
      </p:sp>
    </p:spTree>
  </p:cSld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309" y="205979"/>
            <a:ext cx="8552330" cy="662317"/>
          </a:xfrm>
        </p:spPr>
        <p:txBody>
          <a:bodyPr/>
          <a:lstStyle/>
          <a:p>
            <a:pPr lvl="0" indent="0" marL="0">
              <a:buNone/>
            </a:pPr>
            <a:r>
              <a:rPr/>
              <a:t>Nutritional Replacements after Surgery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Vitamin or iron replacements can be ordered by:</a:t>
            </a:r>
          </a:p>
          <a:p>
            <a:pPr lvl="0"/>
            <a:r>
              <a:rPr/>
              <a:t>Primary Care Provider (PCP)</a:t>
            </a:r>
          </a:p>
          <a:p>
            <a:pPr lvl="0"/>
            <a:r>
              <a:rPr/>
              <a:t>Medical Oncologist</a:t>
            </a:r>
          </a:p>
          <a:p>
            <a:pPr lvl="0"/>
            <a:r>
              <a:rPr/>
              <a:t>Surgeon</a:t>
            </a:r>
          </a:p>
          <a:p>
            <a:pPr lvl="0" indent="0" marL="0">
              <a:buNone/>
            </a:pPr>
            <a:r>
              <a:rPr/>
              <a:t>If levels are low</a:t>
            </a:r>
          </a:p>
          <a:p>
            <a:pPr lvl="0"/>
            <a:r>
              <a:rPr/>
              <a:t>Replacement</a:t>
            </a:r>
          </a:p>
          <a:p>
            <a:pPr lvl="0"/>
            <a:r>
              <a:rPr/>
              <a:t>Repeat testing in 3-6 months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13868</TotalTime>
  <Words>42</Words>
  <Application>Microsoft Macintosh PowerPoint</Application>
  <PresentationFormat>On-screen Show (16:9)</PresentationFormat>
  <Paragraphs>13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Lato Medium</vt:lpstr>
      <vt:lpstr>Lato Semibold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Preparing for your Esophagectomy</dc:title>
  <dc:creator/>
  <cp:keywords/>
  <dcterms:created xsi:type="dcterms:W3CDTF">2026-09-26T07:08:42Z</dcterms:created>
  <dcterms:modified xsi:type="dcterms:W3CDTF">2026-09-26T07:08:42Z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bibliography">
    <vt:lpwstr>zotero.bib</vt:lpwstr>
  </property>
  <property fmtid="{D5CDD505-2E9C-101B-9397-08002B2CF9AE}" pid="4" name="editor">
    <vt:lpwstr>visual</vt:lpwstr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toc-title">
    <vt:lpwstr>Table of contents</vt:lpwstr>
  </property>
</Properties>
</file>