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5" Type="http://schemas.openxmlformats.org/officeDocument/2006/relationships/viewProps" Target="viewProps.xml" /><Relationship Id="rId7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7" Type="http://schemas.openxmlformats.org/officeDocument/2006/relationships/tableStyles" Target="tableStyles.xml" /><Relationship Id="rId7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Preparing for your Esophagectomy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High-protein diet (most people need 60-80 grams protein/day)</a:t>
            </a:r>
          </a:p>
          <a:p>
            <a:pPr lvl="0"/>
            <a:r>
              <a:rPr/>
              <a:t>Protein shakes (Permier or Fairlife) with protein and minimal sugar</a:t>
            </a:r>
          </a:p>
          <a:p>
            <a:pPr lvl="0" indent="0" marL="0">
              <a:buNone/>
            </a:pPr>
            <a:r>
              <a:rPr/>
              <a:t>Important to avoid weight loss prior to surgery</a:t>
            </a:r>
          </a:p>
          <a:p>
            <a:pPr lvl="0" indent="0" marL="0">
              <a:buNone/>
            </a:pPr>
            <a:r>
              <a:rPr/>
              <a:t>Good nutrition before surgery improves wound healing and recovery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Exercies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30minutes/day of vigorous exercise 6 days/week</a:t>
            </a:r>
          </a:p>
          <a:p>
            <a:pPr lvl="0" indent="0" marL="0">
              <a:buNone/>
            </a:pPr>
            <a:r>
              <a:rPr/>
              <a:t>Vigorous: Working hard enough you can’t carry a conversation</a:t>
            </a:r>
          </a:p>
          <a:p>
            <a:pPr lvl="0" indent="0" marL="0">
              <a:buNone/>
            </a:pPr>
            <a:r>
              <a:rPr/>
              <a:t>Types of Exercise:</a:t>
            </a:r>
          </a:p>
          <a:p>
            <a:pPr lvl="0"/>
            <a:r>
              <a:rPr/>
              <a:t>Walking: Outside, Treadmilll, or an indoor Mall</a:t>
            </a:r>
          </a:p>
          <a:p>
            <a:pPr lvl="0"/>
            <a:r>
              <a:rPr/>
              <a:t>Stationary Exercise Bike</a:t>
            </a:r>
          </a:p>
          <a:p>
            <a:pPr lvl="0" indent="0" marL="0">
              <a:buNone/>
            </a:pPr>
            <a:r>
              <a:rPr/>
              <a:t>Lifting light weights and stretching are helpful in addition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  <a:p>
            <a:pPr lvl="0"/>
            <a:r>
              <a:rPr/>
              <a:t>Stop tube feeds at midnight night before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1"/>
            <a:r>
              <a:rPr/>
              <a:t>Surgery Monday, Tuesday, Wednesday, Friday: Arrive 4am</a:t>
            </a:r>
          </a:p>
          <a:p>
            <a:pPr lvl="1"/>
            <a:r>
              <a:rPr/>
              <a:t>Surgery Thursday: Arrive 5am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Morning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Hospitality House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Guest house for patients and families</a:t>
            </a:r>
          </a:p>
          <a:p>
            <a:pPr lvl="0"/>
            <a:r>
              <a:rPr/>
              <a:t>Located walking distance from hospital</a:t>
            </a:r>
          </a:p>
          <a:p>
            <a:pPr lvl="0"/>
            <a:r>
              <a:rPr/>
              <a:t>Shuttle service available</a:t>
            </a:r>
          </a:p>
          <a:p>
            <a:pPr lvl="0"/>
            <a:r>
              <a:rPr/>
              <a:t>Make reservation request through clinic nurses</a:t>
            </a:r>
          </a:p>
          <a:p>
            <a:pPr lvl="0"/>
            <a:r>
              <a:rPr/>
              <a:t>Cost $50 per night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Parking and Arrival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Blue Parking Deck: XXX Medical Center Drive, Charlotte ND 28204</a:t>
            </a:r>
          </a:p>
          <a:p>
            <a:pPr lvl="0"/>
            <a:r>
              <a:rPr/>
              <a:t>Enter Building through Dixon Tower (Traffic circle with Fountains)</a:t>
            </a:r>
          </a:p>
          <a:p>
            <a:pPr lvl="0"/>
            <a:r>
              <a:rPr/>
              <a:t>Check in at the desk and tell them you will have surgery</a:t>
            </a:r>
          </a:p>
          <a:p>
            <a:pPr lvl="0"/>
            <a:r>
              <a:rPr/>
              <a:t>Escort service will direct you to the Preoperative area on 5th floor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Waiting Room on 5th floor for families</a:t>
            </a:r>
          </a:p>
          <a:p>
            <a:pPr lvl="0"/>
            <a:r>
              <a:rPr/>
              <a:t>Surgery completed 3pm - 5pm</a:t>
            </a:r>
          </a:p>
          <a:p>
            <a:pPr lvl="0"/>
            <a:r>
              <a:rPr/>
              <a:t>Transfer to Surgical Intensive Care Unit 4pm - 6pm</a:t>
            </a:r>
          </a:p>
          <a:p>
            <a:pPr lvl="0"/>
            <a:r>
              <a:rPr/>
              <a:t>Visitors permitted into the ICU 5pm - 7pm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to Bring to the Hospital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 jewelery or valuables</a:t>
            </a:r>
          </a:p>
          <a:p>
            <a:pPr lvl="0"/>
            <a:r>
              <a:rPr/>
              <a:t>Cell phone and charger</a:t>
            </a:r>
          </a:p>
          <a:p>
            <a:pPr lvl="0"/>
            <a:r>
              <a:rPr/>
              <a:t>Insurance cards??</a:t>
            </a:r>
          </a:p>
          <a:p>
            <a:pPr lvl="0"/>
            <a:r>
              <a:rPr/>
              <a:t>Underweaer??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Visitor’s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Intensive Care Unit</a:t>
            </a:r>
          </a:p>
          <a:p>
            <a:pPr lvl="0"/>
            <a:r>
              <a:rPr/>
              <a:t>Two visitors at a time 8am - 8pm</a:t>
            </a:r>
          </a:p>
          <a:p>
            <a:pPr lvl="0"/>
            <a:r>
              <a:rPr/>
              <a:t>One “Care Partner” can stay overnight in ICU</a:t>
            </a:r>
          </a:p>
          <a:p>
            <a:pPr lvl="0" indent="0" marL="0">
              <a:buNone/>
            </a:pPr>
            <a:r>
              <a:rPr/>
              <a:t>Ward</a:t>
            </a:r>
          </a:p>
          <a:p>
            <a:pPr lvl="0"/>
            <a:r>
              <a:rPr/>
              <a:t>All rooms are private rooms</a:t>
            </a:r>
          </a:p>
          <a:p>
            <a:pPr lvl="0"/>
            <a:r>
              <a:rPr/>
              <a:t>Day bed available for a family member</a:t>
            </a:r>
          </a:p>
          <a:p>
            <a:pPr lvl="0"/>
            <a:r>
              <a:rPr/>
              <a:t>Visiting hours 8am - 8pm</a:t>
            </a:r>
          </a:p>
          <a:p>
            <a:pPr lvl="0" indent="0" marL="0">
              <a:buNone/>
            </a:pPr>
            <a:r>
              <a:rPr/>
              <a:t>No visitors please who have a cough or fever!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Primary Surgery</a:t>
                </a:r>
              </a:p>
              <a:p>
                <a:pPr lvl="0"/>
                <a:r>
                  <a:rPr/>
                  <a:t>Superficial Tumors (T1) not completely removed by endoscopy</a:t>
                </a:r>
              </a:p>
              <a:p>
                <a:pPr lvl="0"/>
                <a:r>
                  <a:rPr/>
                  <a:t>Localized Tumors (T2 N0 M0)</a:t>
                </a:r>
              </a:p>
              <a:p>
                <a:pPr lvl="0"/>
                <a:r>
                  <a:rPr/>
                  <a:t>Surgery scheduled after medical evaluation</a:t>
                </a:r>
              </a:p>
              <a:p>
                <a:pPr lvl="0"/>
                <a:r>
                  <a:rPr/>
                  <a:t>Aim for surgery within 6 weeks of consultation</a:t>
                </a:r>
              </a:p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 Advanced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 and side effects</a:t>
            </a:r>
          </a:p>
          <a:p>
            <a:pPr lvl="0" indent="0" marL="0">
              <a:buNone/>
            </a:pPr>
            <a:r>
              <a:rPr/>
              <a:t>Radiation Oncology - Monitor radiation and side effects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In-person preop visit with Kate Duncan and Liz Koch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bypasses the stomach and injects tube feeding formula directly in to the small intestine (jejunum)</a:t>
            </a:r>
          </a:p>
          <a:p>
            <a:pPr lvl="0" indent="0" marL="0">
              <a:buNone/>
            </a:pPr>
            <a:r>
              <a:rPr/>
              <a:t>Pump administers the feedings slowly over hours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 - Important to prevent dehydration - 250mL (8 oz) 4 times per day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Abdomiaal drains: Removed 4-7 days after surgery Discharge with 1 abdominal drain in 10% of cases Epidural catheter: Removed 4-5 days after surgery Bladder catheter: Removed after epicura catheter removed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Clinic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 diet)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generally at 8 weeks after surgery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Kelli Salter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Navigators: Laura Swift RN &amp; Lorna Espinal RN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Preparing for your Esophagectomy</dc:title>
  <dc:creator/>
  <cp:keywords/>
  <dcterms:created xsi:type="dcterms:W3CDTF">2026-09-22T00:48:03Z</dcterms:created>
  <dcterms:modified xsi:type="dcterms:W3CDTF">2026-09-22T00:48:03Z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