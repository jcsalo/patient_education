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2" Type="http://schemas.openxmlformats.org/officeDocument/2006/relationships/viewProps" Target="viewProps.xml" /><Relationship Id="rId6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4" Type="http://schemas.openxmlformats.org/officeDocument/2006/relationships/tableStyles" Target="tableStyles.xml" /><Relationship Id="rId6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9.png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3.png" /><Relationship Id="rId2" Type="http://schemas.openxmlformats.org/officeDocument/2006/relationships/image" Target="../media/image12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6.jp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Esophagus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for Esophageal Cancer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Surgery for esophageal cancer is performed for:</a:t>
            </a:r>
          </a:p>
          <a:p>
            <a:pPr lvl="0"/>
            <a:r>
              <a:rPr/>
              <a:t>Superficial Tumors (T1) not removed by endoscopy</a:t>
            </a:r>
          </a:p>
          <a:p>
            <a:pPr lvl="0"/>
            <a:r>
              <a:rPr/>
              <a:t>Localized Tumors (T2 N0 M0)</a:t>
            </a:r>
          </a:p>
          <a:p>
            <a:pPr lvl="0"/>
            <a:r>
              <a:rPr/>
              <a:t>Locally Advanced (T3 M0) after preop therapy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Goals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 tumor from esophagus</a:t>
            </a:r>
          </a:p>
          <a:p>
            <a:pPr lvl="0"/>
            <a:r>
              <a:rPr/>
              <a:t>Remove surrounding lymph nodes</a:t>
            </a:r>
          </a:p>
          <a:p>
            <a:pPr lvl="0"/>
            <a:r>
              <a:rPr/>
              <a:t>Create a new esophagus</a:t>
            </a:r>
          </a:p>
        </p:txBody>
      </p:sp>
      <p:pic>
        <p:nvPicPr>
          <p:cNvPr descr="images/Eso_Resection1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(Transthoracic)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tumor and lower 1/3 esophagus</a:t>
            </a:r>
          </a:p>
          <a:p>
            <a:pPr lvl="0"/>
            <a:r>
              <a:rPr/>
              <a:t>Removes surrounding lymph nodes</a:t>
            </a:r>
          </a:p>
          <a:p>
            <a:pPr lvl="0"/>
            <a:r>
              <a:rPr/>
              <a:t>GI tract reconstructed</a:t>
            </a:r>
          </a:p>
        </p:txBody>
      </p:sp>
      <p:pic>
        <p:nvPicPr>
          <p:cNvPr descr="images/Eso_Resection2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Reconstruction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New esophagus is created from the stomach in the abdomen by fashioning it into a tube.</a:t>
            </a:r>
          </a:p>
        </p:txBody>
      </p:sp>
      <p:pic>
        <p:nvPicPr>
          <p:cNvPr descr="images/Eso_Resection3_ai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Ivor Lewis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new esophagus is now brought up into the chest. A connection is made between the esophagus and the stomach, called an </a:t>
            </a:r>
            <a:r>
              <a:rPr i="1"/>
              <a:t>anastomosis</a:t>
            </a:r>
            <a:r>
              <a:rPr/>
              <a:t>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Ivor Lewis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Small incisions abdomen and chest</a:t>
                </a:r>
              </a:p>
              <a:p>
                <a:pPr lvl="0"/>
                <a:r>
                  <a:rPr/>
                  <a:t>Surgical telescope and instruments</a:t>
                </a:r>
              </a:p>
              <a:p>
                <a:pPr lvl="0"/>
                <a:r>
                  <a:rPr/>
                  <a:t>Smaller incisions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faster recovery and less discomfort</a:t>
                </a:r>
              </a:p>
            </p:txBody>
          </p:sp>
        </mc:Choice>
      </mc:AlternateContent>
      <p:pic>
        <p:nvPicPr>
          <p:cNvPr descr="images/MIE_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Ivor Lewis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Mininally-invasive approach feasible in 95% of cases</a:t>
            </a:r>
          </a:p>
          <a:p>
            <a:pPr lvl="0" indent="0" marL="0">
              <a:buNone/>
            </a:pPr>
            <a:r>
              <a:rPr/>
              <a:t>In some cases, an open approach is still necessary.</a:t>
            </a:r>
          </a:p>
        </p:txBody>
      </p:sp>
      <p:pic>
        <p:nvPicPr>
          <p:cNvPr descr="images/IvorLewi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patients with tumors in the upper esophagus, we need to remove more of the esophagus</a:t>
            </a:r>
          </a:p>
          <a:p>
            <a:pPr lvl="0" indent="0" marL="0">
              <a:buNone/>
            </a:pPr>
            <a:r>
              <a:rPr/>
              <a:t>We need to remove the whole esophagus, including the portion in the neck</a:t>
            </a:r>
          </a:p>
        </p:txBody>
      </p:sp>
      <p:pic>
        <p:nvPicPr>
          <p:cNvPr descr="images/Eso_ProxTumor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McKeown Esophagectomy</a:t>
            </a:r>
          </a:p>
        </p:txBody>
      </p:sp>
      <p:pic>
        <p:nvPicPr>
          <p:cNvPr descr="images/Eso_ResectionTotal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715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Eso_MIE_McKeownArtboard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Esophagectomy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Esophagectomy is a complex operation, with a real risk of complications.</a:t>
            </a:r>
          </a:p>
          <a:p>
            <a:pPr lvl="0" indent="0" marL="0">
              <a:buNone/>
            </a:pPr>
            <a:r>
              <a:rPr/>
              <a:t>Two significant complications:</a:t>
            </a:r>
          </a:p>
          <a:p>
            <a:pPr lvl="0"/>
            <a:r>
              <a:rPr/>
              <a:t>Anastomotic leak</a:t>
            </a:r>
          </a:p>
          <a:p>
            <a:pPr lvl="0"/>
            <a:r>
              <a:rPr/>
              <a:t>Pneumonia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anastomosis is surgical connection between the esophagus and the stomach.</a:t>
            </a:r>
          </a:p>
        </p:txBody>
      </p:sp>
      <p:pic>
        <p:nvPicPr>
          <p:cNvPr descr="images/Eso_IvorLewis_Anastomosi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healing doesn’t occur:</a:t>
            </a:r>
          </a:p>
          <a:p>
            <a:pPr lvl="0"/>
            <a:r>
              <a:rPr/>
              <a:t>Leakage of fluid from the esophagus</a:t>
            </a:r>
          </a:p>
          <a:p>
            <a:pPr lvl="0"/>
            <a:r>
              <a:rPr/>
              <a:t>Infection in the space between the lungs</a:t>
            </a:r>
          </a:p>
          <a:p>
            <a:pPr lvl="0"/>
            <a:r>
              <a:rPr/>
              <a:t>Requires additional time in the hospital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leak occurs:</a:t>
            </a:r>
          </a:p>
          <a:p>
            <a:pPr lvl="0"/>
            <a:r>
              <a:rPr/>
              <a:t>Some leaks will seal</a:t>
            </a:r>
          </a:p>
          <a:p>
            <a:pPr lvl="0"/>
            <a:r>
              <a:rPr/>
              <a:t>Stent may be required to help healing</a:t>
            </a:r>
          </a:p>
          <a:p>
            <a:pPr lvl="0"/>
            <a:r>
              <a:rPr/>
              <a:t>Occasionally additional surgey is required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Anastomotic Leak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of leak depends on:</a:t>
            </a:r>
          </a:p>
          <a:p>
            <a:pPr lvl="0"/>
            <a:r>
              <a:rPr/>
              <a:t>Type of operation performed</a:t>
            </a:r>
          </a:p>
          <a:p>
            <a:pPr lvl="0"/>
            <a:r>
              <a:rPr/>
              <a:t>Nutritional status of patient</a:t>
            </a:r>
          </a:p>
          <a:p>
            <a:pPr lvl="0"/>
            <a:r>
              <a:rPr/>
              <a:t>Experience of the surgeon</a:t>
            </a:r>
          </a:p>
        </p:txBody>
      </p:sp>
      <p:pic>
        <p:nvPicPr>
          <p:cNvPr descr="images/Eso_IvorLewis_Leak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Occurs in 10-15% of patients after esophagectomy.</a:t>
            </a:r>
          </a:p>
          <a:p>
            <a:pPr lvl="0"/>
            <a:r>
              <a:rPr/>
              <a:t>Requires treatment with antibiotics</a:t>
            </a:r>
          </a:p>
          <a:p>
            <a:pPr lvl="0"/>
            <a:r>
              <a:rPr/>
              <a:t>Requires a longer hospitalization.</a:t>
            </a:r>
          </a:p>
        </p:txBody>
      </p:sp>
      <p:pic>
        <p:nvPicPr>
          <p:cNvPr descr="images/Eso_LungsArtboar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Preventing Pneumonia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ways to help prevent pneumonia:</a:t>
            </a:r>
          </a:p>
          <a:p>
            <a:pPr lvl="0"/>
            <a:r>
              <a:rPr/>
              <a:t>Deep breathing</a:t>
            </a:r>
          </a:p>
          <a:p>
            <a:pPr lvl="0"/>
            <a:r>
              <a:rPr/>
              <a:t>Coughing</a:t>
            </a:r>
          </a:p>
          <a:p>
            <a:pPr lvl="0"/>
            <a:r>
              <a:rPr/>
              <a:t>Walking</a:t>
            </a:r>
          </a:p>
          <a:p>
            <a:pPr lvl="0" indent="0" marL="0">
              <a:buNone/>
            </a:pPr>
            <a:r>
              <a:rPr/>
              <a:t>After surgery, this means:</a:t>
            </a:r>
          </a:p>
          <a:p>
            <a:pPr lvl="0"/>
            <a:r>
              <a:rPr/>
              <a:t>Sitting in a chair most of the day</a:t>
            </a:r>
          </a:p>
          <a:p>
            <a:pPr lvl="0"/>
            <a:r>
              <a:rPr/>
              <a:t>Walking in the halls as soon as possible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Minimally-invasive Esophagectomy</a:t>
            </a:r>
          </a:p>
        </p:txBody>
      </p:sp>
      <p:pic>
        <p:nvPicPr>
          <p:cNvPr descr="images/mie_ab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04800" y="1498600"/>
            <a:ext cx="4178300" cy="3136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mie_ches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35500" y="1485900"/>
            <a:ext cx="4191000" cy="314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anesthesia</a:t>
            </a:r>
          </a:p>
          <a:p>
            <a:pPr lvl="0"/>
            <a:r>
              <a:rPr/>
              <a:t>Heart attack (5%)</a:t>
            </a:r>
          </a:p>
          <a:p>
            <a:pPr lvl="0"/>
            <a:r>
              <a:rPr/>
              <a:t>Irregular heart rhythm (15%)</a:t>
            </a:r>
          </a:p>
          <a:p>
            <a:pPr lvl="0"/>
            <a:r>
              <a:rPr/>
              <a:t>Pneumonia (10%)</a:t>
            </a:r>
          </a:p>
          <a:p>
            <a:pPr lvl="0"/>
            <a:r>
              <a:rPr/>
              <a:t>Blood clots in legs (&lt;5%)</a:t>
            </a:r>
          </a:p>
          <a:p>
            <a:pPr lvl="0"/>
            <a:r>
              <a:rPr/>
              <a:t>Pulmonary embolism (2%)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Risks related to Surgery</a:t>
            </a:r>
          </a:p>
          <a:p>
            <a:pPr lvl="0"/>
            <a:r>
              <a:rPr/>
              <a:t>Anastomotic leak (5%)</a:t>
            </a:r>
          </a:p>
          <a:p>
            <a:pPr lvl="0"/>
            <a:r>
              <a:rPr/>
              <a:t>Stricture at anastomosis (15%)</a:t>
            </a:r>
          </a:p>
          <a:p>
            <a:pPr lvl="0"/>
            <a:r>
              <a:rPr/>
              <a:t>Death within 90 days of surgery</a:t>
            </a:r>
          </a:p>
          <a:p>
            <a:pPr lvl="1"/>
            <a:r>
              <a:rPr/>
              <a:t>Low risk patients = 2%</a:t>
            </a:r>
          </a:p>
          <a:p>
            <a:pPr lvl="1"/>
            <a:r>
              <a:rPr/>
              <a:t>Intermediate risk = 10%</a:t>
            </a:r>
          </a:p>
          <a:p>
            <a:pPr lvl="1"/>
            <a:r>
              <a:rPr/>
              <a:t>High risk = 30%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279400" y="952500"/>
          <a:ext cx="8547100" cy="34671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844800"/>
                <a:gridCol w="2844800"/>
                <a:gridCol w="2844800"/>
              </a:tblGrid>
              <a:tr h="0">
                <a:tc>
                  <a:txBody>
                    <a:bodyPr/>
                    <a:lstStyle/>
                    <a:p>
                      <a:endParaRPr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&lt;75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Age &gt;75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Normal Muscle (75%)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2%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Low Muscle (25%)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10%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ctr">
                        <a:buNone/>
                      </a:pPr>
                      <a:r>
                        <a:rPr/>
                        <a:t>30%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/>
        </p:nvSpPr>
        <p:spPr>
          <a:xfrm>
            <a:off x="279400" y="4419600"/>
            <a:ext cx="85471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Risks of Death within 90 Days of Surgery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24 hours prior to surgery</a:t>
            </a:r>
          </a:p>
          <a:p>
            <a:pPr lvl="0"/>
            <a:r>
              <a:rPr/>
              <a:t>Check with Pre-op nurse regarding medicines day prior to surgery</a:t>
            </a:r>
          </a:p>
          <a:p>
            <a:pPr lvl="0"/>
            <a:r>
              <a:rPr/>
              <a:t>No tube feedings the night before surgery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Arrive at 5am – nothing to eat or drink after midnight.</a:t>
            </a:r>
          </a:p>
          <a:p>
            <a:pPr lvl="0"/>
            <a:r>
              <a:rPr/>
              <a:t>Medicines OK w/ a sip of water</a:t>
            </a:r>
          </a:p>
          <a:p>
            <a:pPr lvl="0"/>
            <a:r>
              <a:rPr/>
              <a:t>sip of black coffee but </a:t>
            </a:r>
            <a:r>
              <a:rPr b="1"/>
              <a:t>no cream</a:t>
            </a:r>
            <a:r>
              <a:rPr/>
              <a:t>.</a:t>
            </a:r>
          </a:p>
          <a:p>
            <a:pPr lvl="0"/>
            <a:r>
              <a:rPr/>
              <a:t>Surgery will be cancelled if you have cream/milk</a:t>
            </a:r>
          </a:p>
          <a:p>
            <a:pPr lvl="0"/>
            <a:r>
              <a:rPr/>
              <a:t>Waiting room for family and friends on 5th floor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Epidural Catheter for Pain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Remains in place for 2-5 days</a:t>
            </a:r>
          </a:p>
          <a:p>
            <a:pPr lvl="0"/>
            <a:r>
              <a:rPr/>
              <a:t>Dosage can be adjusted as needed</a:t>
            </a:r>
          </a:p>
          <a:p>
            <a:pPr lvl="0"/>
            <a:r>
              <a:rPr/>
              <a:t>Can make it more difficult to urinate</a:t>
            </a:r>
          </a:p>
          <a:p>
            <a:pPr lvl="0"/>
            <a:r>
              <a:rPr/>
              <a:t>May require foley catheter in bladder</a:t>
            </a:r>
          </a:p>
          <a:p>
            <a:pPr lvl="0"/>
            <a:r>
              <a:rPr/>
              <a:t>Foley catheter removed after epidural removed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 (2-4 days)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Surgical ICU on 11th floor</a:t>
            </a:r>
          </a:p>
          <a:p>
            <a:pPr lvl="0"/>
            <a:r>
              <a:rPr/>
              <a:t>NG tube in nose to drain stomach and esophagus</a:t>
            </a:r>
          </a:p>
          <a:p>
            <a:pPr lvl="0"/>
            <a:r>
              <a:rPr/>
              <a:t>Catheter in bladder</a:t>
            </a:r>
          </a:p>
          <a:p>
            <a:pPr lvl="0"/>
            <a:r>
              <a:rPr/>
              <a:t>Chest tube right chest</a:t>
            </a:r>
          </a:p>
          <a:p>
            <a:pPr lvl="0"/>
            <a:r>
              <a:rPr/>
              <a:t>Abdominal drains (usually 2)</a:t>
            </a:r>
          </a:p>
          <a:p>
            <a:pPr lvl="0"/>
            <a:r>
              <a:rPr/>
              <a:t>Feeding jejunostomy (usually stays in 8 wks)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Intensive Care Unit (ICU)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Bladder catheter removed → check that bladder empties properly</a:t>
            </a:r>
          </a:p>
          <a:p>
            <a:pPr lvl="0"/>
            <a:r>
              <a:rPr/>
              <a:t>Chest tube removed (day 2-4) → follow-up x-ray</a:t>
            </a:r>
          </a:p>
          <a:p>
            <a:pPr lvl="0"/>
            <a:r>
              <a:rPr/>
              <a:t>Fluid emptied from drains every few hours</a:t>
            </a:r>
          </a:p>
          <a:p>
            <a:pPr lvl="0"/>
            <a:r>
              <a:rPr/>
              <a:t>Start tube feedings by feeding</a:t>
            </a:r>
          </a:p>
          <a:p>
            <a:pPr lvl="0"/>
            <a:r>
              <a:rPr/>
              <a:t>Feeding jejunostomy (stays in 8 weeks)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Ward - 6Tower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feeds started</a:t>
            </a:r>
          </a:p>
          <a:p>
            <a:pPr lvl="0"/>
            <a:r>
              <a:rPr/>
              <a:t>Up in a chair most of the day</a:t>
            </a:r>
          </a:p>
          <a:p>
            <a:pPr lvl="0"/>
            <a:r>
              <a:rPr/>
              <a:t>Walking in the halls</a:t>
            </a:r>
          </a:p>
          <a:p>
            <a:pPr lvl="1"/>
            <a:r>
              <a:rPr/>
              <a:t>Start with assistance</a:t>
            </a:r>
          </a:p>
          <a:p>
            <a:pPr lvl="1"/>
            <a:r>
              <a:rPr/>
              <a:t>Improves lung function</a:t>
            </a:r>
          </a:p>
          <a:p>
            <a:pPr lvl="1"/>
            <a:r>
              <a:rPr/>
              <a:t>Prevents loss of muscle strength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feeds</a:t>
            </a:r>
          </a:p>
          <a:p>
            <a:pPr lvl="0"/>
            <a:r>
              <a:rPr/>
              <a:t>Start continuous (24 hours)</a:t>
            </a:r>
          </a:p>
          <a:p>
            <a:pPr lvl="0"/>
            <a:r>
              <a:rPr/>
              <a:t>Convert to night-time only (16 hours)</a:t>
            </a:r>
          </a:p>
          <a:p>
            <a:pPr lvl="0" indent="0" marL="0">
              <a:buNone/>
            </a:pPr>
            <a:r>
              <a:rPr/>
              <a:t>Water administered through feeding tube</a:t>
            </a:r>
          </a:p>
          <a:p>
            <a:pPr lvl="0"/>
            <a:r>
              <a:rPr/>
              <a:t>Usually 8oz 4 times/day</a:t>
            </a:r>
          </a:p>
          <a:p>
            <a:pPr lvl="0"/>
            <a:r>
              <a:rPr/>
              <a:t>Important to prevent dehydration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Tube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Nutrition to bypasses the esophagus and stomach</a:t>
            </a:r>
          </a:p>
          <a:p>
            <a:pPr lvl="0"/>
            <a:r>
              <a:rPr/>
              <a:t>Placed in small intestine</a:t>
            </a:r>
          </a:p>
          <a:p>
            <a:pPr lvl="0"/>
            <a:r>
              <a:rPr/>
              <a:t>Pump administers feedings slowly</a:t>
            </a:r>
          </a:p>
          <a:p>
            <a:pPr lvl="0"/>
            <a:r>
              <a:rPr/>
              <a:t>Feeding done at night</a:t>
            </a:r>
          </a:p>
        </p:txBody>
      </p:sp>
      <p:pic>
        <p:nvPicPr>
          <p:cNvPr descr="images/nutrition_jtub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02200" y="1193800"/>
            <a:ext cx="3644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Typical Regimen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Jejunostomy tube feeds for 16 hours (6pm-10am)</a:t>
            </a:r>
          </a:p>
          <a:p>
            <a:pPr lvl="1"/>
            <a:r>
              <a:rPr/>
              <a:t>Men: 75mL/hour x 16 hours = 5 cartons</a:t>
            </a:r>
          </a:p>
          <a:p>
            <a:pPr lvl="1"/>
            <a:r>
              <a:rPr/>
              <a:t>Women: 60mL/hour x 16 hours = 4 cartons</a:t>
            </a:r>
          </a:p>
          <a:p>
            <a:pPr lvl="0"/>
            <a:r>
              <a:rPr/>
              <a:t>Water 240ml (8oz) via syringe 4x/day</a:t>
            </a:r>
          </a:p>
          <a:p>
            <a:pPr lvl="0" indent="0" marL="0">
              <a:buNone/>
            </a:pPr>
            <a:r>
              <a:rPr/>
              <a:t>Hospital nurses will teach use of the feeding tube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Feeds with Diabetes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feedings elevate blood sugars</a:t>
            </a:r>
          </a:p>
          <a:p>
            <a:pPr lvl="0"/>
            <a:r>
              <a:rPr/>
              <a:t>Insulin may be required along with feeds</a:t>
            </a:r>
          </a:p>
          <a:p>
            <a:pPr lvl="0" indent="0" marL="0">
              <a:buNone/>
            </a:pPr>
            <a:r>
              <a:rPr/>
              <a:t>Typical Pattern for tube feeds</a:t>
            </a:r>
          </a:p>
          <a:p>
            <a:pPr lvl="0"/>
            <a:r>
              <a:rPr/>
              <a:t>Feeds run via pump from 6pm to 10am</a:t>
            </a:r>
          </a:p>
          <a:p>
            <a:pPr lvl="0"/>
            <a:r>
              <a:rPr/>
              <a:t>Insulin at 6pm (70/30 insulin)</a:t>
            </a:r>
          </a:p>
          <a:p>
            <a:pPr lvl="0"/>
            <a:r>
              <a:rPr/>
              <a:t>Insulin at Midnight (70/30 insulin)</a:t>
            </a:r>
          </a:p>
          <a:p>
            <a:pPr lvl="0"/>
            <a:r>
              <a:rPr/>
              <a:t>No insulin if tube feedings are not run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Video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video is available to help become familiar with the feeding jejunostomy</a:t>
            </a:r>
          </a:p>
        </p:txBody>
      </p:sp>
      <p:pic>
        <p:nvPicPr>
          <p:cNvPr descr="images/nutrition_jejunostomy_qrco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Up in chair most of the day</a:t>
            </a:r>
          </a:p>
          <a:p>
            <a:pPr lvl="0"/>
            <a:r>
              <a:rPr/>
              <a:t>Walking with help from nurse/Physical Therapist</a:t>
            </a:r>
          </a:p>
          <a:p>
            <a:pPr lvl="0"/>
            <a:r>
              <a:rPr/>
              <a:t>Goals:</a:t>
            </a:r>
          </a:p>
          <a:p>
            <a:pPr lvl="1"/>
            <a:r>
              <a:rPr/>
              <a:t>Improve lung function</a:t>
            </a:r>
          </a:p>
          <a:p>
            <a:pPr lvl="1"/>
            <a:r>
              <a:rPr/>
              <a:t>Prevent muscle loss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Nasogastric (NG) Tube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Tube passed through nose into stomach</a:t>
                </a:r>
              </a:p>
              <a:p>
                <a:pPr lvl="0"/>
                <a:r>
                  <a:rPr/>
                  <a:t>Drains fluid from stomach</a:t>
                </a:r>
              </a:p>
              <a:p>
                <a:pPr lvl="0"/>
                <a:r>
                  <a:rPr/>
                  <a:t>Prevents vomiting</a:t>
                </a:r>
              </a:p>
              <a:p>
                <a:pPr lvl="0" indent="0" marL="0">
                  <a:buNone/>
                </a:pPr>
                <a:r>
                  <a:rPr/>
                  <a:t>Upper GI X-ray on 2nd or 3rd day after surgery</a:t>
                </a:r>
              </a:p>
              <a:p>
                <a:pPr lvl="0"/>
                <a:r>
                  <a:rPr/>
                  <a:t>If stomach empties well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NG tube removed</a:t>
                </a:r>
              </a:p>
              <a:p>
                <a:pPr lvl="0"/>
                <a:r>
                  <a:rPr/>
                  <a:t>Otherwise, X-ray repeated 2-3 days later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Swallowing Evaluation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Once NG tube has been removed:</a:t>
                </a:r>
              </a:p>
              <a:p>
                <a:pPr lvl="0" indent="0" marL="0">
                  <a:buNone/>
                </a:pPr>
                <a:r>
                  <a:rPr/>
                  <a:t>Modified barium swallow in radiology</a:t>
                </a:r>
              </a:p>
              <a:p>
                <a:pPr lvl="0"/>
                <a:r>
                  <a:rPr/>
                  <a:t>Drink a white chalky liquid (barium)</a:t>
                </a:r>
              </a:p>
              <a:p>
                <a:pPr lvl="0"/>
                <a:r>
                  <a:rPr/>
                  <a:t>Look for proper swallowing function</a:t>
                </a:r>
              </a:p>
              <a:p>
                <a:pPr lvl="0"/>
                <a:r>
                  <a:rPr/>
                  <a:t>70% of patients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⇒</m:t>
                    </m:r>
                  </m:oMath>
                </a14:m>
                <a:r>
                  <a:rPr/>
                  <a:t> liquids started by mouth</a:t>
                </a:r>
              </a:p>
            </p:txBody>
          </p:sp>
        </mc:Choice>
      </mc:AlternateContent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Oral Intake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are taking protein shakes when they go home</a:t>
            </a:r>
          </a:p>
          <a:p>
            <a:pPr lvl="0" indent="0" marL="0">
              <a:buNone/>
            </a:pPr>
            <a:r>
              <a:rPr/>
              <a:t>Protein shakes are started after tolerating water</a:t>
            </a:r>
            <a:br/>
          </a:p>
          <a:p>
            <a:pPr lvl="0"/>
            <a:r>
              <a:rPr/>
              <a:t>2 oz per hour to start</a:t>
            </a:r>
          </a:p>
          <a:p>
            <a:pPr lvl="0"/>
            <a:r>
              <a:rPr/>
              <a:t>4 oz per hour if 2oz are tolerated well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Discharge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Goal: ready to leave day #6/7 after surgery</a:t>
            </a:r>
          </a:p>
          <a:p>
            <a:pPr lvl="0"/>
            <a:r>
              <a:rPr/>
              <a:t>Night-time tube feedings (6pm to 10am)</a:t>
            </a:r>
          </a:p>
          <a:p>
            <a:pPr lvl="0"/>
            <a:r>
              <a:rPr/>
              <a:t>Nutrition by mouth (70% of patients)</a:t>
            </a:r>
          </a:p>
          <a:p>
            <a:pPr lvl="1"/>
            <a:r>
              <a:rPr/>
              <a:t>1 oz of water per hour by mouth OR</a:t>
            </a:r>
          </a:p>
          <a:p>
            <a:pPr lvl="1"/>
            <a:r>
              <a:rPr/>
              <a:t>Protein shakes 4oz every 2 hours</a:t>
            </a:r>
          </a:p>
          <a:p>
            <a:pPr lvl="0"/>
            <a:r>
              <a:rPr/>
              <a:t>Water through tube 8oz four times per day</a:t>
            </a:r>
          </a:p>
          <a:p>
            <a:pPr lvl="0"/>
            <a:r>
              <a:rPr/>
              <a:t>Home care nursing (feeding tube teaching)</a:t>
            </a:r>
          </a:p>
          <a:p>
            <a:pPr lvl="0"/>
            <a:r>
              <a:rPr/>
              <a:t>Home infusion (tube feeding supplies)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discharge home:</a:t>
            </a:r>
          </a:p>
          <a:p>
            <a:pPr lvl="0"/>
            <a:r>
              <a:rPr/>
              <a:t>Protein shakes 4oz every 2 hrs</a:t>
            </a:r>
          </a:p>
          <a:p>
            <a:pPr lvl="0"/>
            <a:r>
              <a:rPr/>
              <a:t>Tube feeds 4-5 cans at night (6pm-10am)</a:t>
            </a:r>
          </a:p>
          <a:p>
            <a:pPr lvl="0" indent="0" marL="0">
              <a:buNone/>
            </a:pPr>
            <a:r>
              <a:rPr/>
              <a:t>10-12 Days: Increase protein shakes</a:t>
            </a:r>
          </a:p>
          <a:p>
            <a:pPr lvl="0"/>
            <a:r>
              <a:rPr/>
              <a:t>Tube feeds 3-4 cans at night</a:t>
            </a:r>
          </a:p>
          <a:p>
            <a:pPr lvl="0" indent="0" marL="0">
              <a:buNone/>
            </a:pPr>
            <a:r>
              <a:rPr/>
              <a:t>Three weeks: Post-esophagectomy Diet</a:t>
            </a:r>
          </a:p>
          <a:p>
            <a:pPr lvl="0" indent="0" marL="0">
              <a:buNone/>
            </a:pPr>
            <a:r>
              <a:rPr/>
              <a:t>8-12 weeks: Remove feeding tube (in office)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/>
              <p:cNvSpPr>
                <a:spLocks noGrp="1"/>
              </p:cNvSpPr>
              <p:nvPr>
                <p:ph type="title"/>
              </p:nvPr>
            </p:nvSpPr>
            <p:spPr>
              <a:xfrm>
                <a:off x="284309" y="205979"/>
                <a:ext cx="8552330" cy="662317"/>
              </a:xfrm>
            </p:spPr>
            <p:txBody>
              <a:bodyPr/>
              <a:lstStyle/>
              <a:p>
                <a:pPr lvl="0" indent="0" marL="0">
                  <a:buNone/>
                </a:pPr>
                <a:r>
                  <a:rPr/>
                  <a:t>Transition from Tube Feeds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Eating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Dietitian will calculate daily protein goal</a:t>
                </a:r>
              </a:p>
              <a:p>
                <a:pPr lvl="0"/>
                <a:r>
                  <a:rPr/>
                  <a:t>Typically 60-75 grams protein/day</a:t>
                </a:r>
              </a:p>
              <a:p>
                <a:pPr lvl="0"/>
                <a:r>
                  <a:rPr/>
                  <a:t>Each carton of tube feeding has 15 grams</a:t>
                </a:r>
              </a:p>
              <a:p>
                <a:pPr lvl="1"/>
                <a:r>
                  <a:rPr/>
                  <a:t>75 grams protein = 5 cartons/night</a:t>
                </a:r>
              </a:p>
              <a:p>
                <a:pPr lvl="0"/>
                <a:r>
                  <a:rPr/>
                  <a:t>More intake by mouth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tube feeds reduced</a:t>
                </a:r>
              </a:p>
              <a:p>
                <a:pPr lvl="0" indent="0" marL="0">
                  <a:buNone/>
                </a:pPr>
                <a:r>
                  <a:rPr/>
                  <a:t>Spread out protein during the day (20gm/meal)</a:t>
                </a:r>
              </a:p>
              <a:p>
                <a:pPr lvl="0"/>
                <a:r>
                  <a:rPr/>
                  <a:t>Three meals + 2-3 high-protein snacks</a:t>
                </a:r>
              </a:p>
            </p:txBody>
          </p:sp>
        </mc:Choice>
      </mc:AlternateContent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Post-esophagectomy Diet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Soft Consistency</a:t>
            </a:r>
          </a:p>
          <a:p>
            <a:pPr lvl="0"/>
            <a:r>
              <a:rPr/>
              <a:t>High Protein</a:t>
            </a:r>
          </a:p>
          <a:p>
            <a:pPr lvl="0"/>
            <a:r>
              <a:rPr/>
              <a:t>Avoid sugary liquids (can cause ‘dumping’)</a:t>
            </a:r>
          </a:p>
          <a:p>
            <a:pPr lvl="0"/>
            <a:r>
              <a:rPr/>
              <a:t>Avoid raw vegetables (and salads)</a:t>
            </a:r>
          </a:p>
          <a:p>
            <a:pPr lvl="0"/>
            <a:r>
              <a:rPr/>
              <a:t>Eating</a:t>
            </a:r>
          </a:p>
          <a:p>
            <a:pPr lvl="1"/>
            <a:r>
              <a:rPr/>
              <a:t>Small, frequent meals</a:t>
            </a:r>
          </a:p>
          <a:p>
            <a:pPr lvl="1"/>
            <a:r>
              <a:rPr/>
              <a:t>Sit up for 30-45 minutes after eating</a:t>
            </a:r>
          </a:p>
          <a:p>
            <a:pPr lvl="1"/>
            <a:r>
              <a:rPr/>
              <a:t>Avoid eating within 2 hours of bedtime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 - Pain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Acetaminophen (Tylenol) 1000mg 4x/day</a:t>
            </a:r>
          </a:p>
          <a:p>
            <a:pPr lvl="0" indent="0" marL="0">
              <a:buNone/>
            </a:pPr>
            <a:r>
              <a:rPr/>
              <a:t>Gabapentin 300mg 3 times/day</a:t>
            </a:r>
          </a:p>
          <a:p>
            <a:pPr lvl="0" indent="0" marL="0">
              <a:buNone/>
            </a:pPr>
            <a:r>
              <a:rPr/>
              <a:t>Oxycodone</a:t>
            </a:r>
          </a:p>
          <a:p>
            <a:pPr lvl="0"/>
            <a:r>
              <a:rPr/>
              <a:t>As needed in addition to Tylenol/gabapentin</a:t>
            </a:r>
          </a:p>
          <a:p>
            <a:pPr lvl="0"/>
            <a:r>
              <a:rPr/>
              <a:t>Will begin reducing dose at first postop visit</a:t>
            </a:r>
          </a:p>
          <a:p>
            <a:pPr lvl="0"/>
            <a:r>
              <a:rPr/>
              <a:t>Can usually discontinue by 4 weeks</a:t>
            </a:r>
          </a:p>
          <a:p>
            <a:pPr lvl="0"/>
            <a:r>
              <a:rPr/>
              <a:t>NO DRIVING WHILE ON OXYCODONE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Non-steroidals Anti Inflammatory (NSAID)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Non-steroidal anti-inflammatories (Celebrex)</a:t>
            </a:r>
          </a:p>
          <a:p>
            <a:pPr lvl="0"/>
            <a:r>
              <a:rPr/>
              <a:t>200 mg every 12 hours starting at 2 weeks</a:t>
            </a:r>
          </a:p>
          <a:p>
            <a:pPr lvl="0" indent="0" marL="0">
              <a:buNone/>
            </a:pPr>
            <a:r>
              <a:rPr/>
              <a:t>NO GOODY POWDERS OR BCs</a:t>
            </a:r>
          </a:p>
          <a:p>
            <a:pPr lvl="0"/>
            <a:r>
              <a:rPr/>
              <a:t>(Can cause permanent scarring at the surgery site)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Acid Blockers = Proton Pump Inhibitors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Examples include ompeprazole and pantoprazole</a:t>
            </a:r>
          </a:p>
          <a:p>
            <a:pPr lvl="0"/>
            <a:r>
              <a:rPr/>
              <a:t>Will stay on for at 1-2 years to prevent acid reflux</a:t>
            </a:r>
          </a:p>
          <a:p>
            <a:pPr lvl="0"/>
            <a:r>
              <a:rPr/>
              <a:t>Important in preventing scarring at anastomosis (new connection between esophagus and stomach)</a:t>
            </a:r>
          </a:p>
          <a:p>
            <a:pPr lvl="0"/>
            <a:r>
              <a:rPr/>
              <a:t>To administer through feeding tube, open capsule and resuspend beads in 60mL (2oz) of water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Reglan – Helps stomach empty</a:t>
            </a:r>
          </a:p>
          <a:p>
            <a:pPr lvl="0"/>
            <a:r>
              <a:rPr/>
              <a:t>Will plan to stop after six weeks</a:t>
            </a:r>
          </a:p>
          <a:p>
            <a:pPr lvl="0"/>
            <a:r>
              <a:rPr/>
              <a:t>0.1% risk of tardive dyskinesia (nervous tic)</a:t>
            </a:r>
          </a:p>
          <a:p>
            <a:pPr lvl="0" indent="0" marL="0">
              <a:buNone/>
            </a:pPr>
            <a:r>
              <a:rPr/>
              <a:t>Remeron – Helps improve appetite</a:t>
            </a:r>
          </a:p>
          <a:p>
            <a:pPr lvl="0"/>
            <a:r>
              <a:rPr/>
              <a:t>Can cause vivid dreams</a:t>
            </a:r>
          </a:p>
          <a:p>
            <a:pPr lvl="0"/>
            <a:r>
              <a:rPr/>
              <a:t>Used for several weeks after surgery</a:t>
            </a:r>
          </a:p>
          <a:p>
            <a:pPr lvl="0"/>
            <a:r>
              <a:rPr/>
              <a:t>Will stop within first three months of surgery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Metoprolol = Beta Blockers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Slows heart rate and lowers blood pressure</a:t>
                </a:r>
                <a:br/>
              </a:p>
              <a:p>
                <a:pPr lvl="0"/>
                <a:r>
                  <a:rPr/>
                  <a:t>Used to prevent rapid heart rate</a:t>
                </a:r>
              </a:p>
              <a:p>
                <a:pPr lvl="0"/>
                <a:r>
                  <a:rPr/>
                  <a:t>Patients not taking a beta blocker 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wean after after surgery</a:t>
                </a:r>
              </a:p>
              <a:p>
                <a:pPr lvl="0"/>
                <a:r>
                  <a:rPr/>
                  <a:t>Patients taking a beta blockerprior to surgery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→</m:t>
                    </m:r>
                  </m:oMath>
                </a14:m>
                <a:r>
                  <a:rPr/>
                  <a:t> return to prior dose and drug after surgery</a:t>
                </a:r>
              </a:p>
            </p:txBody>
          </p:sp>
        </mc:Choice>
      </mc:AlternateContent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Sleeping at 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Reflux can occur the first few weeks/months after surgery</a:t>
            </a:r>
          </a:p>
          <a:p>
            <a:pPr lvl="0" indent="0" marL="0">
              <a:buNone/>
            </a:pPr>
            <a:r>
              <a:rPr/>
              <a:t>This improves over the first few months</a:t>
            </a:r>
          </a:p>
          <a:p>
            <a:pPr lvl="0" indent="0" marL="0">
              <a:buNone/>
            </a:pPr>
            <a:r>
              <a:rPr/>
              <a:t>A wedge pillow can be helpful for sleep</a:t>
            </a:r>
          </a:p>
        </p:txBody>
      </p:sp>
      <p:pic>
        <p:nvPicPr>
          <p:cNvPr descr="images/wedge_pillow_comm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Postoperative Visit at 7-10 Days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Check surgical site</a:t>
            </a:r>
          </a:p>
          <a:p>
            <a:pPr lvl="0"/>
            <a:r>
              <a:rPr/>
              <a:t>Remove staples (if needed)</a:t>
            </a:r>
          </a:p>
          <a:p>
            <a:pPr lvl="0" indent="0" marL="0">
              <a:buNone/>
            </a:pPr>
            <a:r>
              <a:rPr/>
              <a:t>Adjust medicines as needed</a:t>
            </a:r>
          </a:p>
          <a:p>
            <a:pPr lvl="0"/>
            <a:r>
              <a:rPr/>
              <a:t>Insulin (for diabetic patients on insulin)</a:t>
            </a:r>
          </a:p>
          <a:p>
            <a:pPr lvl="0"/>
            <a:r>
              <a:rPr/>
              <a:t>Reduce beta blocker medicines</a:t>
            </a:r>
          </a:p>
          <a:p>
            <a:pPr lvl="0" indent="0" marL="0">
              <a:buNone/>
            </a:pPr>
            <a:r>
              <a:rPr/>
              <a:t>Advance diet</a:t>
            </a:r>
          </a:p>
          <a:p>
            <a:pPr lvl="0" indent="0" marL="0">
              <a:buNone/>
            </a:pPr>
            <a:r>
              <a:rPr/>
              <a:t>Reduce tube feeds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Wean off medicines added after surgery</a:t>
            </a:r>
          </a:p>
          <a:p>
            <a:pPr lvl="0"/>
            <a:r>
              <a:rPr/>
              <a:t>Pain medicines</a:t>
            </a:r>
          </a:p>
          <a:p>
            <a:pPr lvl="0"/>
            <a:r>
              <a:rPr/>
              <a:t>Beta-blockers</a:t>
            </a:r>
          </a:p>
          <a:p>
            <a:pPr lvl="0"/>
            <a:r>
              <a:rPr/>
              <a:t>Reglan and Remeron</a:t>
            </a:r>
          </a:p>
          <a:p>
            <a:pPr lvl="0" indent="0" marL="0">
              <a:buNone/>
            </a:pPr>
            <a:r>
              <a:rPr/>
              <a:t>Continue acid blockers for at least 1 year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Jejunostomy Removal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Jejunostomy tube is removed in the office once you can take in enough nutrients by mouth</a:t>
            </a:r>
          </a:p>
          <a:p>
            <a:pPr lvl="0" indent="0" marL="0">
              <a:buNone/>
            </a:pPr>
            <a:r>
              <a:rPr/>
              <a:t>Removal usually around 8 weeks after surgery</a:t>
            </a:r>
          </a:p>
          <a:p>
            <a:pPr lvl="0" indent="0" marL="0">
              <a:buNone/>
            </a:pPr>
            <a:r>
              <a:rPr/>
              <a:t>May take 30 minutes and some local anesthetic to loosen up the tube for removal.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may have difficulty absorbing some nutrients:</a:t>
            </a:r>
          </a:p>
          <a:p>
            <a:pPr lvl="0"/>
            <a:r>
              <a:rPr/>
              <a:t>Iron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Monitoring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About 3 months after the jejunostomy tube is removed, we will check blood levels:</a:t>
            </a:r>
          </a:p>
          <a:p>
            <a:pPr lvl="0"/>
            <a:r>
              <a:rPr/>
              <a:t>Iron (ferritin)</a:t>
            </a:r>
          </a:p>
          <a:p>
            <a:pPr lvl="0"/>
            <a:r>
              <a:rPr/>
              <a:t>Vitamin B12</a:t>
            </a:r>
          </a:p>
          <a:p>
            <a:pPr lvl="0"/>
            <a:r>
              <a:rPr/>
              <a:t>Vitamin D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Nutritional Replacements after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Vitamin or iron replacements can be ordered by:</a:t>
            </a:r>
          </a:p>
          <a:p>
            <a:pPr lvl="0"/>
            <a:r>
              <a:rPr/>
              <a:t>Primary Care Provider (PCP)</a:t>
            </a:r>
          </a:p>
          <a:p>
            <a:pPr lvl="0"/>
            <a:r>
              <a:rPr/>
              <a:t>Medical Oncologist</a:t>
            </a:r>
          </a:p>
          <a:p>
            <a:pPr lvl="0"/>
            <a:r>
              <a:rPr/>
              <a:t>Surgeon</a:t>
            </a:r>
          </a:p>
          <a:p>
            <a:pPr lvl="0" indent="0" marL="0">
              <a:buNone/>
            </a:pPr>
            <a:r>
              <a:rPr/>
              <a:t>If levels are low</a:t>
            </a:r>
          </a:p>
          <a:p>
            <a:pPr lvl="0"/>
            <a:r>
              <a:rPr/>
              <a:t>Replacement</a:t>
            </a:r>
          </a:p>
          <a:p>
            <a:pPr lvl="0"/>
            <a:r>
              <a:rPr/>
              <a:t>Repeat testing in 3-6 months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Prior to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Clear liquids for dinner evening prior</a:t>
            </a:r>
          </a:p>
          <a:p>
            <a:pPr lvl="0"/>
            <a:r>
              <a:rPr/>
              <a:t>You will receive instructions regarding medicines</a:t>
            </a:r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Unless instructed otherwise:</a:t>
            </a:r>
          </a:p>
          <a:p>
            <a:pPr lvl="0"/>
            <a:r>
              <a:rPr/>
              <a:t>You will be notified regarding </a:t>
            </a:r>
            <a:r>
              <a:rPr i="1"/>
              <a:t>arrival</a:t>
            </a:r>
            <a:r>
              <a:rPr/>
              <a:t> time, which is usually 2-3 hours before the </a:t>
            </a:r>
            <a:r>
              <a:rPr i="1"/>
              <a:t>surgery</a:t>
            </a:r>
            <a:r>
              <a:rPr/>
              <a:t> time.</a:t>
            </a:r>
          </a:p>
          <a:p>
            <a:pPr lvl="0"/>
            <a:r>
              <a:rPr/>
              <a:t>Nothing to eat or drink after midnight</a:t>
            </a:r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Medicines the Day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Medicines with a sip of water or </a:t>
            </a:r>
            <a:r>
              <a:rPr i="1"/>
              <a:t>black</a:t>
            </a:r>
            <a:r>
              <a:rPr/>
              <a:t> coffee</a:t>
            </a:r>
          </a:p>
          <a:p>
            <a:pPr lvl="0"/>
            <a:r>
              <a:rPr/>
              <a:t>No milk or cream</a:t>
            </a:r>
          </a:p>
          <a:p>
            <a:pPr lvl="0"/>
            <a:r>
              <a:rPr/>
              <a:t>Surgery will be cancelled for milk/cream</a:t>
            </a:r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 - Laura Swift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Esophagus</dc:title>
  <dc:creator/>
  <cp:keywords/>
  <dcterms:created xsi:type="dcterms:W3CDTF">2026-02-10T12:13:12Z</dcterms:created>
  <dcterms:modified xsi:type="dcterms:W3CDTF">2026-02-10T12:13:12Z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toc-title">
    <vt:lpwstr>Table of contents</vt:lpwstr>
  </property>
</Properties>
</file>