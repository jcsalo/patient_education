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6" Type="http://schemas.openxmlformats.org/officeDocument/2006/relationships/viewProps" Target="viewProps.xml" /><Relationship Id="rId6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8" Type="http://schemas.openxmlformats.org/officeDocument/2006/relationships/tableStyles" Target="tableStyles.xml" /><Relationship Id="rId6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jp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jp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0.png" /><Relationship Id="rId2" Type="http://schemas.openxmlformats.org/officeDocument/2006/relationships/image" Target="../media/image19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1.png" /><Relationship Id="rId2" Type="http://schemas.openxmlformats.org/officeDocument/2006/relationships/image" Target="../media/image19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3.png" /><Relationship Id="rId2" Type="http://schemas.openxmlformats.org/officeDocument/2006/relationships/image" Target="../media/image22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4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5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5.png" /><Relationship Id="rId2" Type="http://schemas.openxmlformats.org/officeDocument/2006/relationships/image" Target="../media/image24.png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6.pn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7.png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8.pn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9.png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9.png" /><Relationship Id="rId2" Type="http://schemas.openxmlformats.org/officeDocument/2006/relationships/image" Target="../media/image24.png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T3 Cancer of the Stomach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Anatomy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Food moves from the throat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esophagus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stomach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small bowel (jejunum)</a:t>
                </a:r>
              </a:p>
            </p:txBody>
          </p:sp>
        </mc:Choice>
      </mc:AlternateContent>
      <p:pic>
        <p:nvPicPr>
          <p:cNvPr descr="images/Eso_Anatomy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Staging refers to the tests to determine</a:t>
            </a:r>
          </a:p>
          <a:p>
            <a:pPr lvl="0"/>
            <a:r>
              <a:rPr/>
              <a:t>How large is the tumor?</a:t>
            </a:r>
          </a:p>
          <a:p>
            <a:pPr lvl="0"/>
            <a:r>
              <a:rPr/>
              <a:t>Has there been spread to lymph nodes?</a:t>
            </a:r>
          </a:p>
          <a:p>
            <a:pPr lvl="0"/>
            <a:r>
              <a:rPr/>
              <a:t>Has it spread to other parts of the body?</a:t>
            </a:r>
          </a:p>
          <a:p>
            <a:pPr lvl="0" indent="0" marL="0">
              <a:buNone/>
            </a:pPr>
            <a:r>
              <a:rPr b="1"/>
              <a:t>Treatment options depend upon the cancer stage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</a:t>
            </a:r>
            <a:r>
              <a:rPr/>
              <a:t> = Tumor - Depth of growth into the wall</a:t>
            </a:r>
            <a:br/>
            <a:br/>
          </a:p>
          <a:p>
            <a:pPr lvl="0"/>
            <a:r>
              <a:rPr b="1"/>
              <a:t>N</a:t>
            </a:r>
            <a:r>
              <a:rPr/>
              <a:t> = Nodes - Spread to the lymph nodes</a:t>
            </a:r>
            <a:br/>
            <a:br/>
          </a:p>
          <a:p>
            <a:pPr lvl="0"/>
            <a:r>
              <a:rPr b="1"/>
              <a:t>M</a:t>
            </a:r>
            <a:r>
              <a:rPr/>
              <a:t> = Metastasis - Spread to liver, lungs, or bone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Early Stage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start on the very inside layer called the mucosa</a:t>
            </a:r>
          </a:p>
        </p:txBody>
      </p:sp>
      <p:pic>
        <p:nvPicPr>
          <p:cNvPr descr="images/gastric_tumor_t1a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Over time, cancers can grow into the muscular wall</a:t>
            </a:r>
          </a:p>
        </p:txBody>
      </p:sp>
      <p:pic>
        <p:nvPicPr>
          <p:cNvPr descr="images/gastric_tumor_t2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Lymph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In some cases, cancer cells can break off from the main tumor and spread to lymph nodes</a:t>
            </a:r>
          </a:p>
        </p:txBody>
      </p:sp>
      <p:pic>
        <p:nvPicPr>
          <p:cNvPr descr="images/gastric_tumor_t3_node_nolab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Cancers are categorized based upon the thickness of the tumor, known as the T stage</a:t>
            </a:r>
          </a:p>
        </p:txBody>
      </p:sp>
      <p:pic>
        <p:nvPicPr>
          <p:cNvPr descr="images/tumor_t_fu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Cancers are categorized by whether there is spread to the nodes.</a:t>
            </a:r>
          </a:p>
          <a:p>
            <a:pPr lvl="0"/>
            <a:r>
              <a:rPr b="1"/>
              <a:t>N0</a:t>
            </a:r>
            <a:r>
              <a:rPr/>
              <a:t> cancers have not spread to the nodes</a:t>
            </a:r>
          </a:p>
          <a:p>
            <a:pPr lvl="0"/>
            <a:r>
              <a:rPr b="1"/>
              <a:t>N1</a:t>
            </a:r>
            <a:r>
              <a:rPr/>
              <a:t> cancers have spread to the nodes.</a:t>
            </a:r>
          </a:p>
        </p:txBody>
      </p:sp>
      <p:pic>
        <p:nvPicPr>
          <p:cNvPr descr="images/tumor_t3_nodes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cancers spread to other parts of the body</a:t>
            </a:r>
          </a:p>
          <a:p>
            <a:pPr lvl="0"/>
            <a:r>
              <a:rPr b="1"/>
              <a:t>M0</a:t>
            </a:r>
            <a:r>
              <a:rPr/>
              <a:t> cancers have not spread</a:t>
            </a:r>
          </a:p>
          <a:p>
            <a:pPr lvl="0"/>
            <a:r>
              <a:rPr b="1"/>
              <a:t>M1</a:t>
            </a:r>
            <a:r>
              <a:rPr/>
              <a:t> cancers have spread to lungs, liver, bone, or within the abdomen</a:t>
            </a:r>
          </a:p>
        </p:txBody>
      </p:sp>
      <p:pic>
        <p:nvPicPr>
          <p:cNvPr descr="images/Eso_M_St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Carcinomatosis (M1)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Spread within the abdomen is </a:t>
            </a:r>
            <a:r>
              <a:rPr b="1"/>
              <a:t>carcinomatosis</a:t>
            </a:r>
          </a:p>
          <a:p>
            <a:pPr lvl="0" indent="0" marL="0">
              <a:buNone/>
            </a:pPr>
            <a:r>
              <a:rPr/>
              <a:t>Tumors can be very small (grain of rice)</a:t>
            </a:r>
          </a:p>
          <a:p>
            <a:pPr lvl="0" indent="0" marL="0">
              <a:buNone/>
            </a:pPr>
            <a:r>
              <a:rPr/>
              <a:t>Fluid can also build up: </a:t>
            </a:r>
            <a:r>
              <a:rPr b="1"/>
              <a:t>ascites</a:t>
            </a:r>
          </a:p>
        </p:txBody>
      </p:sp>
      <p:pic>
        <p:nvPicPr>
          <p:cNvPr descr="images/Eso_M1_Carcinomat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Similar to CT scan</a:t>
            </a:r>
          </a:p>
          <a:p>
            <a:pPr lvl="0" indent="0" marL="0">
              <a:buNone/>
            </a:pPr>
            <a:r>
              <a:rPr/>
              <a:t>Tracer shows ‘hot spots’</a:t>
            </a:r>
          </a:p>
          <a:p>
            <a:pPr lvl="0"/>
            <a:r>
              <a:rPr/>
              <a:t>Cancer</a:t>
            </a:r>
          </a:p>
          <a:p>
            <a:pPr lvl="0"/>
            <a:r>
              <a:rPr/>
              <a:t>Inflammation or infection</a:t>
            </a:r>
          </a:p>
          <a:p>
            <a:pPr lvl="0"/>
            <a:r>
              <a:rPr/>
              <a:t>Normal organs (heart, kidneys)</a:t>
            </a:r>
          </a:p>
        </p:txBody>
      </p:sp>
      <p:pic>
        <p:nvPicPr>
          <p:cNvPr descr="images/Pet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35500" y="1879600"/>
            <a:ext cx="4191000" cy="2362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Nothing to eat or drink for 4 hours prior to exam</a:t>
            </a:r>
          </a:p>
          <a:p>
            <a:pPr lvl="0"/>
            <a:r>
              <a:rPr/>
              <a:t>High-protein low-carbohydrate diet the day prior</a:t>
            </a:r>
          </a:p>
          <a:p>
            <a:pPr lvl="0"/>
            <a:r>
              <a:rPr/>
              <a:t>No strenous activity day prior to study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PET scan uses a modified sugar as a tracer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you will need to be careful about blood sugar and insulin before the study</a:t>
                </a:r>
              </a:p>
              <a:p>
                <a:pPr lvl="0"/>
                <a:r>
                  <a:rPr/>
                  <a:t>No insulin within 4 hours of the exam</a:t>
                </a:r>
              </a:p>
              <a:p>
                <a:pPr lvl="0"/>
                <a:r>
                  <a:rPr/>
                  <a:t>OK to take diabetes pills the day of the exam</a:t>
                </a:r>
              </a:p>
              <a:p>
                <a:pPr lvl="0"/>
                <a:r>
                  <a:rPr/>
                  <a:t>PET scans are generally best in the morning</a:t>
                </a:r>
              </a:p>
              <a:p>
                <a:pPr lvl="0"/>
                <a:r>
                  <a:rPr/>
                  <a:t>Plan to eat a meal after the PET scan, with half the usual morning dose of insulin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PET scan Prepration - Diabetic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PET is scheduled after 10AM:</a:t>
            </a:r>
          </a:p>
          <a:p>
            <a:pPr lvl="1"/>
            <a:r>
              <a:rPr/>
              <a:t>low-carbohydrate breakfast at least 4 hours before</a:t>
            </a:r>
          </a:p>
          <a:p>
            <a:pPr lvl="1"/>
            <a:r>
              <a:rPr/>
              <a:t>half the usual regular (short-acting) insulin</a:t>
            </a:r>
          </a:p>
          <a:p>
            <a:pPr lvl="0"/>
            <a:r>
              <a:rPr/>
              <a:t>No long-acting insulin after midnight.</a:t>
            </a:r>
          </a:p>
          <a:p>
            <a:pPr lvl="0"/>
            <a:r>
              <a:rPr/>
              <a:t>Insulin pump: turn it off 4 hours before the study (or turn it down to basal/night-time rate)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Endoscopic Ultrasound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Similar to upper endoscopy (EGD)</a:t>
            </a:r>
          </a:p>
          <a:p>
            <a:pPr lvl="0"/>
            <a:r>
              <a:rPr/>
              <a:t>Ultrasound in scope</a:t>
            </a:r>
          </a:p>
          <a:p>
            <a:pPr lvl="0"/>
            <a:r>
              <a:rPr/>
              <a:t>Evaluates T stage</a:t>
            </a:r>
          </a:p>
        </p:txBody>
      </p:sp>
      <p:pic>
        <p:nvPicPr>
          <p:cNvPr descr="images/EU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Some stomach cancers can spread inside the abdomen</a:t>
            </a:r>
          </a:p>
          <a:p>
            <a:pPr lvl="0"/>
            <a:r>
              <a:rPr/>
              <a:t>Areas of spread can be very small (grain of rice)</a:t>
            </a:r>
          </a:p>
          <a:p>
            <a:pPr lvl="0"/>
            <a:r>
              <a:rPr/>
              <a:t>Laparoscopy can detect spread inside the abdomen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General anesthetic</a:t>
            </a:r>
          </a:p>
          <a:p>
            <a:pPr lvl="0"/>
            <a:r>
              <a:rPr/>
              <a:t>1/4” incisions</a:t>
            </a:r>
          </a:p>
          <a:p>
            <a:pPr lvl="0"/>
            <a:r>
              <a:rPr/>
              <a:t>Telescope examines the abdomen</a:t>
            </a:r>
          </a:p>
          <a:p>
            <a:pPr lvl="0"/>
            <a:r>
              <a:rPr/>
              <a:t>Biopsies performed</a:t>
            </a:r>
          </a:p>
          <a:p>
            <a:pPr lvl="0"/>
            <a:r>
              <a:rPr/>
              <a:t>Fluid sampled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Treatment Plan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br/>
                <a:r>
                  <a:rPr/>
                  <a:t>Superficial (T1a): Endoscopic Therapy</a:t>
                </a:r>
                <a:br/>
                <a:br/>
                <a:r>
                  <a:rPr/>
                  <a:t>Localized (T1b/T2): Surgery</a:t>
                </a:r>
                <a:br/>
                <a:br/>
                <a:r>
                  <a:rPr/>
                  <a:t>Locally-advanced (T3M0): Chemo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</a:t>
                </a:r>
                <a:br/>
                <a:br/>
                <a:r>
                  <a:rPr/>
                  <a:t>Metastatic (M1): Chemotherapy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Locally-advanced Adenocarcinoma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“Sandwich” chemotherapy before + after surgery:</a:t>
                </a:r>
              </a:p>
              <a:p>
                <a:pPr lvl="0" indent="0" marL="0">
                  <a:buNone/>
                </a:pPr>
                <a:r>
                  <a:rPr/>
                  <a:t>Chemo (8 wks)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Chemo (8 wks)</a:t>
                </a:r>
              </a:p>
              <a:p>
                <a:pPr lvl="0" indent="0" marL="0">
                  <a:buNone/>
                </a:pPr>
                <a:r>
                  <a:rPr/>
                  <a:t>Two different drug combinations:</a:t>
                </a:r>
              </a:p>
              <a:p>
                <a:pPr lvl="0"/>
                <a:r>
                  <a:rPr/>
                  <a:t>FLOT (more effective)</a:t>
                </a:r>
              </a:p>
              <a:p>
                <a:pPr lvl="0"/>
                <a:r>
                  <a:rPr/>
                  <a:t>FOLFOX (better tolerated)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“Sandwich” Chemotherapy Drugs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FLOT</a:t>
            </a:r>
          </a:p>
          <a:p>
            <a:pPr lvl="0"/>
            <a:r>
              <a:rPr/>
              <a:t>5-FU</a:t>
            </a:r>
          </a:p>
          <a:p>
            <a:pPr lvl="0"/>
            <a:r>
              <a:rPr/>
              <a:t>Leucovorion</a:t>
            </a:r>
          </a:p>
          <a:p>
            <a:pPr lvl="0"/>
            <a:r>
              <a:rPr/>
              <a:t>Oxaliplatin</a:t>
            </a:r>
          </a:p>
          <a:p>
            <a:pPr lvl="0"/>
            <a:r>
              <a:rPr/>
              <a:t>Taxotere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FOLFOX</a:t>
            </a:r>
          </a:p>
          <a:p>
            <a:pPr lvl="0"/>
            <a:r>
              <a:rPr/>
              <a:t>5-FU</a:t>
            </a:r>
          </a:p>
          <a:p>
            <a:pPr lvl="0"/>
            <a:r>
              <a:rPr/>
              <a:t>Leucovorin</a:t>
            </a:r>
          </a:p>
          <a:p>
            <a:pPr lvl="0"/>
            <a:r>
              <a:rPr/>
              <a:t>Oxaliplatin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FLOT Treatment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FLOT Chemo every 2 weeks x 4 (=8 weeks total)</a:t>
            </a:r>
          </a:p>
          <a:p>
            <a:pPr lvl="0"/>
            <a:r>
              <a:rPr/>
              <a:t>Surgery (4-6 weeks later)</a:t>
            </a:r>
          </a:p>
          <a:p>
            <a:pPr lvl="0"/>
            <a:r>
              <a:rPr/>
              <a:t>FLOT Chemo every 2 weeks x 4 (=8 weeks total)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Durvalumab Immunotherapy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Cancer cells can turn off immune cells using a protein PD-L1</a:t>
            </a:r>
          </a:p>
          <a:p>
            <a:pPr lvl="0" indent="0" marL="0">
              <a:buNone/>
            </a:pPr>
            <a:r>
              <a:rPr/>
              <a:t>Darvalumab turns on immune cells by counteracting PD-L1</a:t>
            </a:r>
          </a:p>
          <a:p>
            <a:pPr lvl="0" indent="0" marL="0">
              <a:buNone/>
            </a:pPr>
            <a:r>
              <a:rPr/>
              <a:t>Durvalumab strengthens the immmune system to fight cancer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Matterhorn Trial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Matterhorn clinical trial compared two types of treatment:</a:t>
                </a:r>
              </a:p>
              <a:p>
                <a:pPr lvl="0" indent="0" marL="0">
                  <a:buNone/>
                </a:pPr>
                <a:r>
                  <a:rPr/>
                  <a:t>FLOT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FLOT</a:t>
                </a:r>
              </a:p>
              <a:p>
                <a:pPr lvl="0" indent="0" marL="0">
                  <a:buNone/>
                </a:pPr>
                <a:r>
                  <a:rPr/>
                  <a:t>FLOT + Durvalumab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FLOT + Durvalumab</a:t>
                </a:r>
              </a:p>
              <a:p>
                <a:pPr lvl="0" indent="0" marL="0">
                  <a:buNone/>
                </a:pPr>
                <a:r>
                  <a:rPr/>
                  <a:t>Better survival with addition of durvalumab to FLOT</a:t>
                </a:r>
              </a:p>
              <a:p>
                <a:pPr lvl="0" indent="0" marL="0">
                  <a:buNone/>
                </a:pPr>
                <a:r>
                  <a:rPr b="1"/>
                  <a:t>Treatment with durvalumab depends upon approval from insurance company</a:t>
                </a:r>
              </a:p>
            </p:txBody>
          </p:sp>
        </mc:Choice>
      </mc:AlternateContent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FLOT Chemo ± Durvalumab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FLOT Chemotherapy</a:t>
            </a:r>
          </a:p>
          <a:p>
            <a:pPr lvl="0"/>
            <a:r>
              <a:rPr/>
              <a:t>FLOT (8 weeks)</a:t>
            </a:r>
          </a:p>
          <a:p>
            <a:pPr lvl="0"/>
            <a:r>
              <a:rPr/>
              <a:t>Surgery (4-6 weeks later)</a:t>
            </a:r>
          </a:p>
          <a:p>
            <a:pPr lvl="0"/>
            <a:r>
              <a:rPr/>
              <a:t>FLOT (8 weeks)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FLOT + Durvalumab</a:t>
            </a:r>
          </a:p>
          <a:p>
            <a:pPr lvl="0"/>
            <a:r>
              <a:rPr/>
              <a:t>FLOT + Durvalumab (8 wks)</a:t>
            </a:r>
          </a:p>
          <a:p>
            <a:pPr lvl="0"/>
            <a:r>
              <a:rPr/>
              <a:t>Surgery (4-6 weeks later)</a:t>
            </a:r>
          </a:p>
          <a:p>
            <a:pPr lvl="0"/>
            <a:r>
              <a:rPr/>
              <a:t>FLOT + Durvalumab (8 wks)</a:t>
            </a:r>
          </a:p>
          <a:p>
            <a:pPr lvl="0"/>
            <a:r>
              <a:rPr/>
              <a:t>Durvalumab monthly x10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Tumor Biomarkers - Additional Pathology Tests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Show whether other drugs may be helpful:</a:t>
                </a:r>
              </a:p>
              <a:p>
                <a:pPr lvl="0"/>
                <a:r>
                  <a:rPr/>
                  <a:t>HER-2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Herceptin can be helpful</a:t>
                </a:r>
              </a:p>
              <a:p>
                <a:pPr lvl="0"/>
                <a:r>
                  <a:rPr/>
                  <a:t>PD-L1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Immunotherapy can be helpful</a:t>
                </a:r>
              </a:p>
              <a:p>
                <a:pPr lvl="0"/>
                <a:r>
                  <a:rPr/>
                  <a:t>MMR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Immunotherapy can be very helpful</a:t>
                </a:r>
              </a:p>
              <a:p>
                <a:pPr lvl="0" indent="0" marL="0">
                  <a:buNone/>
                </a:pPr>
                <a:r>
                  <a:rPr/>
                  <a:t>Biomarkers reported in a separate pathology report</a:t>
                </a:r>
              </a:p>
              <a:p>
                <a:pPr lvl="0" indent="0" marL="0">
                  <a:buNone/>
                </a:pPr>
                <a:r>
                  <a:rPr/>
                  <a:t>Your medical oncologist will review these with you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Chemotherapy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chemotherapy is administered by vein.</a:t>
            </a:r>
          </a:p>
          <a:p>
            <a:pPr lvl="0" indent="0" marL="0">
              <a:buNone/>
            </a:pPr>
            <a:r>
              <a:rPr/>
              <a:t>Several options exist to administer chemotherapy:</a:t>
            </a:r>
          </a:p>
          <a:p>
            <a:pPr lvl="0"/>
            <a:r>
              <a:rPr/>
              <a:t>Intravenous catheter in peripheral veins</a:t>
            </a:r>
          </a:p>
          <a:p>
            <a:pPr lvl="0"/>
            <a:r>
              <a:rPr/>
              <a:t>Peripheral Intravenous Central Catheter (PICC)</a:t>
            </a:r>
          </a:p>
          <a:p>
            <a:pPr lvl="0"/>
            <a:r>
              <a:rPr/>
              <a:t>Central Venous port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Intravenous Catheter in Peripheral Vein (“IV”)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IV catheter placed in vein of hand or arm</a:t>
            </a:r>
          </a:p>
          <a:p>
            <a:pPr lvl="0"/>
            <a:r>
              <a:rPr/>
              <a:t>Allows administration of chemo and fluids</a:t>
            </a:r>
          </a:p>
          <a:p>
            <a:pPr lvl="0"/>
            <a:r>
              <a:rPr/>
              <a:t>Placed for each dose</a:t>
            </a:r>
          </a:p>
          <a:p>
            <a:pPr lvl="0"/>
            <a:r>
              <a:rPr/>
              <a:t>Removed that day</a:t>
            </a:r>
          </a:p>
          <a:p>
            <a:pPr lvl="0"/>
            <a:r>
              <a:rPr/>
              <a:t>Not suitable for FLOT chemo</a:t>
            </a:r>
          </a:p>
        </p:txBody>
      </p:sp>
      <p:pic>
        <p:nvPicPr>
          <p:cNvPr descr="images/access_peripheral-venous-catheter-427167-7_960_720-pixabay.jpe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0" y="1193800"/>
            <a:ext cx="27940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Implantable device makes chemo easier</a:t>
            </a:r>
          </a:p>
          <a:p>
            <a:pPr lvl="0"/>
            <a:r>
              <a:rPr/>
              <a:t>May shower in 24 hrs</a:t>
            </a:r>
          </a:p>
          <a:p>
            <a:pPr lvl="0"/>
            <a:r>
              <a:rPr/>
              <a:t>No special care at home</a:t>
            </a:r>
          </a:p>
          <a:p>
            <a:pPr lvl="0"/>
            <a:r>
              <a:rPr/>
              <a:t>OK for FLOT chemo</a:t>
            </a:r>
          </a:p>
          <a:p>
            <a:pPr lvl="0"/>
            <a:r>
              <a:rPr/>
              <a:t>Allows for blood draws</a:t>
            </a:r>
          </a:p>
        </p:txBody>
      </p:sp>
      <p:pic>
        <p:nvPicPr>
          <p:cNvPr descr="images/access_cv_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Implanted under skin</a:t>
            </a:r>
          </a:p>
          <a:p>
            <a:pPr lvl="0"/>
            <a:r>
              <a:rPr/>
              <a:t>Neck incision (1/4”)</a:t>
            </a:r>
          </a:p>
          <a:p>
            <a:pPr lvl="0"/>
            <a:r>
              <a:rPr/>
              <a:t>Incision below the collarbone</a:t>
            </a:r>
          </a:p>
          <a:p>
            <a:pPr lvl="0"/>
            <a:r>
              <a:rPr/>
              <a:t>Sutures dissolve</a:t>
            </a:r>
          </a:p>
          <a:p>
            <a:pPr lvl="0"/>
            <a:r>
              <a:rPr/>
              <a:t>“Superglue” on incisions</a:t>
            </a:r>
          </a:p>
        </p:txBody>
      </p:sp>
      <p:pic>
        <p:nvPicPr>
          <p:cNvPr descr="images/access_cv_port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Central Venous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it is time for chemotherapy, a needle is inserted through the skin into the port</a:t>
            </a:r>
          </a:p>
        </p:txBody>
      </p:sp>
      <p:pic>
        <p:nvPicPr>
          <p:cNvPr descr="images/access_cv_port_detail_17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Restaging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CT or PET scan performed after preoperative therapy</a:t>
            </a:r>
          </a:p>
          <a:p>
            <a:pPr lvl="0" indent="0" marL="0">
              <a:buNone/>
            </a:pPr>
            <a:br/>
          </a:p>
          <a:p>
            <a:pPr lvl="0"/>
            <a:r>
              <a:rPr/>
              <a:t>Surgery performed after restaging</a:t>
            </a:r>
          </a:p>
          <a:p>
            <a:pPr lvl="0"/>
            <a:r>
              <a:rPr/>
              <a:t>Timing depends upon recovery from therapy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Primary Care Practitioner (PCP)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to coordinate care between specialists.</a:t>
            </a:r>
          </a:p>
          <a:p>
            <a:pPr lvl="0" indent="0" marL="0">
              <a:buNone/>
            </a:pPr>
            <a:r>
              <a:rPr/>
              <a:t>We will update your PCP after each visit</a:t>
            </a:r>
          </a:p>
          <a:p>
            <a:pPr lvl="0" indent="0" marL="0">
              <a:buNone/>
            </a:pPr>
            <a:r>
              <a:rPr/>
              <a:t>PCP Referral Line (844) 235-6998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Atrium Patient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Critical to good communication with your care team</a:t>
            </a:r>
          </a:p>
          <a:p>
            <a:pPr lvl="0"/>
            <a:r>
              <a:rPr/>
              <a:t>Available for desktop or laptop or phone</a:t>
            </a:r>
          </a:p>
          <a:p>
            <a:pPr lvl="0"/>
            <a:r>
              <a:rPr/>
              <a:t>Sign up at my.atriumhealth.org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Reduces risk of complications from treatment</a:t>
            </a:r>
          </a:p>
          <a:p>
            <a:pPr lvl="0"/>
            <a:r>
              <a:rPr/>
              <a:t>Goal is 30min/day of vigorous exercise 6 days/wk</a:t>
            </a:r>
          </a:p>
          <a:p>
            <a:pPr lvl="1"/>
            <a:r>
              <a:rPr/>
              <a:t>Working hard enough that you can’t converse</a:t>
            </a:r>
          </a:p>
          <a:p>
            <a:pPr lvl="1"/>
            <a:r>
              <a:rPr/>
              <a:t>Start slowly and build up</a:t>
            </a:r>
          </a:p>
          <a:p>
            <a:pPr lvl="1"/>
            <a:r>
              <a:rPr/>
              <a:t>Every day counts! (Aim for daily activity)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Smoking Cessation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Smoking makes cancer treatment more difficult</a:t>
            </a:r>
          </a:p>
          <a:p>
            <a:pPr lvl="1"/>
            <a:r>
              <a:rPr/>
              <a:t>Increases risk of complications after surgery</a:t>
            </a:r>
          </a:p>
          <a:p>
            <a:pPr lvl="0"/>
            <a:r>
              <a:rPr/>
              <a:t>Options for help with smoking cessation:</a:t>
            </a:r>
          </a:p>
          <a:p>
            <a:pPr lvl="1"/>
            <a:r>
              <a:rPr/>
              <a:t>NC Quit Line 1-800-QUIT-NOW (1-800-784-8669)</a:t>
            </a:r>
          </a:p>
          <a:p>
            <a:pPr lvl="1"/>
            <a:r>
              <a:rPr/>
              <a:t>American Lung Assn www.freedomfromsmoking.org</a:t>
            </a:r>
          </a:p>
          <a:p>
            <a:pPr lvl="1"/>
            <a:r>
              <a:rPr/>
              <a:t>Smoking Cessation Counseling (Metro Charlotte)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Protein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Men: Average 75 grams/day</a:t>
            </a:r>
          </a:p>
          <a:p>
            <a:pPr lvl="0"/>
            <a:r>
              <a:rPr/>
              <a:t>Women: Average 60 grams/day</a:t>
            </a:r>
          </a:p>
          <a:p>
            <a:pPr lvl="0" indent="0" marL="0">
              <a:buNone/>
            </a:pPr>
            <a:r>
              <a:rPr/>
              <a:t>Protein Shakes provide protein with minimal sugar</a:t>
            </a:r>
          </a:p>
        </p:txBody>
      </p:sp>
      <p:pic>
        <p:nvPicPr>
          <p:cNvPr descr="images/nutrition_protein_shakes90090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Nutrition to bypasses the esophagus and stomach</a:t>
            </a:r>
          </a:p>
          <a:p>
            <a:pPr lvl="0"/>
            <a:r>
              <a:rPr/>
              <a:t>Placed in small intestine</a:t>
            </a:r>
          </a:p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Feeding done at night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Typical Regimen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tube feeds for 16 hours (6pm-10am)</a:t>
            </a:r>
          </a:p>
          <a:p>
            <a:pPr lvl="1"/>
            <a:r>
              <a:rPr/>
              <a:t>Men: 75mL/hour x 16 hours = 5 cartons</a:t>
            </a:r>
          </a:p>
          <a:p>
            <a:pPr lvl="1"/>
            <a:r>
              <a:rPr/>
              <a:t>Women: 60mL/hour x 16 hours = 4 cartons</a:t>
            </a:r>
          </a:p>
          <a:p>
            <a:pPr lvl="0"/>
            <a:r>
              <a:rPr/>
              <a:t>Water 240ml (8oz) via syringe 4x/day</a:t>
            </a:r>
          </a:p>
          <a:p>
            <a:pPr lvl="0" indent="0" marL="0">
              <a:buNone/>
            </a:pPr>
            <a:r>
              <a:rPr/>
              <a:t>Hospital nurses will teach use of the feeding tube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 with Diabetes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feedings elevate blood sugars</a:t>
            </a:r>
          </a:p>
          <a:p>
            <a:pPr lvl="0"/>
            <a:r>
              <a:rPr/>
              <a:t>Insulin may be required along with feeds</a:t>
            </a:r>
          </a:p>
          <a:p>
            <a:pPr lvl="0" indent="0" marL="0">
              <a:buNone/>
            </a:pPr>
            <a:r>
              <a:rPr/>
              <a:t>Typical Pattern for tube feeds</a:t>
            </a:r>
          </a:p>
          <a:p>
            <a:pPr lvl="0"/>
            <a:r>
              <a:rPr/>
              <a:t>Feeds run via pump from 6pm to 10am</a:t>
            </a:r>
          </a:p>
          <a:p>
            <a:pPr lvl="0"/>
            <a:r>
              <a:rPr/>
              <a:t>Insulin at 6pm (70/30 insulin)</a:t>
            </a:r>
          </a:p>
          <a:p>
            <a:pPr lvl="0"/>
            <a:r>
              <a:rPr/>
              <a:t>Insulin at Midnight (70/30 insulin)</a:t>
            </a:r>
          </a:p>
          <a:p>
            <a:pPr lvl="0"/>
            <a:r>
              <a:rPr/>
              <a:t>No insulin if tube feedings are not run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video is available to help become familiar with the feeding jejunostomy</a:t>
            </a:r>
          </a:p>
        </p:txBody>
      </p:sp>
      <p:pic>
        <p:nvPicPr>
          <p:cNvPr descr="images/nutrition_jejunostomy_qrco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Stomach Cancer Surgery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Staging refers to the tests to determine</a:t>
            </a:r>
          </a:p>
          <a:p>
            <a:pPr lvl="0"/>
            <a:r>
              <a:rPr/>
              <a:t>Remove the tumor</a:t>
            </a:r>
          </a:p>
          <a:p>
            <a:pPr lvl="0"/>
            <a:r>
              <a:rPr/>
              <a:t>Remove lymph nodes (depends upon tumor type)</a:t>
            </a:r>
          </a:p>
          <a:p>
            <a:pPr lvl="0"/>
            <a:r>
              <a:rPr/>
              <a:t>Preserve stomach function</a:t>
            </a:r>
          </a:p>
          <a:p>
            <a:pPr lvl="0"/>
            <a:r>
              <a:rPr/>
              <a:t>Reconstruct GI tract</a:t>
            </a:r>
          </a:p>
          <a:p>
            <a:pPr lvl="0" indent="0" marL="0">
              <a:buNone/>
            </a:pPr>
            <a:r>
              <a:rPr b="1"/>
              <a:t>Treatment options depend upon the cancer stage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Distal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Distal cancers are those in the lower part of the stomach</a:t>
            </a:r>
          </a:p>
        </p:txBody>
      </p:sp>
      <p:pic>
        <p:nvPicPr>
          <p:cNvPr descr="images/gast_dist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Removes the tumor</a:t>
            </a:r>
          </a:p>
          <a:p>
            <a:pPr lvl="0"/>
            <a:r>
              <a:rPr/>
              <a:t>Lymph nodes not removed</a:t>
            </a:r>
          </a:p>
          <a:p>
            <a:pPr lvl="0"/>
            <a:r>
              <a:rPr/>
              <a:t>Best suited for:</a:t>
            </a:r>
          </a:p>
          <a:p>
            <a:pPr lvl="1"/>
            <a:r>
              <a:rPr/>
              <a:t>Small adenocarcinoma</a:t>
            </a:r>
          </a:p>
          <a:p>
            <a:pPr lvl="1"/>
            <a:r>
              <a:rPr/>
              <a:t>GI Stromal Tumors</a:t>
            </a:r>
          </a:p>
        </p:txBody>
      </p:sp>
      <p:pic>
        <p:nvPicPr>
          <p:cNvPr descr="images/gast_parti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Partial Gastrectomy</a:t>
            </a:r>
          </a:p>
        </p:txBody>
      </p:sp>
      <p:pic>
        <p:nvPicPr>
          <p:cNvPr descr="images/gast_dist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parti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bottom half of the stomach</a:t>
            </a:r>
          </a:p>
          <a:p>
            <a:pPr lvl="0"/>
            <a:r>
              <a:rPr/>
              <a:t>Does lower lymph nodes</a:t>
            </a:r>
          </a:p>
        </p:txBody>
      </p:sp>
      <p:pic>
        <p:nvPicPr>
          <p:cNvPr descr="images/gast_distal_gastrectom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Distal Gastrectomy</a:t>
            </a:r>
          </a:p>
        </p:txBody>
      </p:sp>
      <p:pic>
        <p:nvPicPr>
          <p:cNvPr descr="images/gast_dist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distal_gastrectomy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Body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Body is the mid-portion of the stomach</a:t>
            </a:r>
          </a:p>
        </p:txBody>
      </p:sp>
      <p:pic>
        <p:nvPicPr>
          <p:cNvPr descr="images/gast_bod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Subtotal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bottom 2/3 of stomach</a:t>
            </a:r>
          </a:p>
          <a:p>
            <a:pPr lvl="0"/>
            <a:r>
              <a:rPr/>
              <a:t>Removes lymph nodes</a:t>
            </a:r>
          </a:p>
          <a:p>
            <a:pPr lvl="0"/>
            <a:r>
              <a:rPr/>
              <a:t>Reconstruction with small intestine</a:t>
            </a:r>
          </a:p>
        </p:txBody>
      </p:sp>
      <p:pic>
        <p:nvPicPr>
          <p:cNvPr descr="images/gast_subto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Subtotal Gastrectomy</a:t>
            </a:r>
          </a:p>
        </p:txBody>
      </p:sp>
      <p:pic>
        <p:nvPicPr>
          <p:cNvPr descr="images/gast_bod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subtot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Proximal Tumors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Located near the top of the stomach</a:t>
            </a:r>
          </a:p>
          <a:p>
            <a:pPr lvl="0"/>
            <a:r>
              <a:rPr/>
              <a:t>Challenging area for surgery</a:t>
            </a:r>
          </a:p>
        </p:txBody>
      </p:sp>
      <p:pic>
        <p:nvPicPr>
          <p:cNvPr descr="images/gast_proxim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all of the stomach</a:t>
            </a:r>
          </a:p>
          <a:p>
            <a:pPr lvl="0"/>
            <a:r>
              <a:rPr/>
              <a:t>Reconstruction with small intestine</a:t>
            </a:r>
          </a:p>
          <a:p>
            <a:pPr lvl="0"/>
            <a:r>
              <a:rPr/>
              <a:t>Needed for those with CDH1 mutations</a:t>
            </a:r>
          </a:p>
        </p:txBody>
      </p:sp>
      <p:pic>
        <p:nvPicPr>
          <p:cNvPr descr="images/gast_to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Gastrectomy</a:t>
            </a:r>
          </a:p>
        </p:txBody>
      </p:sp>
      <p:pic>
        <p:nvPicPr>
          <p:cNvPr descr="images/gast_proxim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tot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Esophagogastrectomy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top part of stomach</a:t>
            </a:r>
          </a:p>
          <a:p>
            <a:pPr lvl="0"/>
            <a:r>
              <a:rPr/>
              <a:t>Remove bottom half of esophagus</a:t>
            </a:r>
          </a:p>
          <a:p>
            <a:pPr lvl="0"/>
            <a:r>
              <a:rPr/>
              <a:t>Surgery in both abdomen and chest</a:t>
            </a:r>
          </a:p>
        </p:txBody>
      </p:sp>
      <p:pic>
        <p:nvPicPr>
          <p:cNvPr descr="images/Eso_tumor00_resection2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Esophagogastrectomy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Removes top part of stomach</a:t>
            </a:r>
          </a:p>
          <a:p>
            <a:pPr lvl="0"/>
            <a:r>
              <a:rPr/>
              <a:t>Remove bottom half of esophagus</a:t>
            </a:r>
          </a:p>
          <a:p>
            <a:pPr lvl="0"/>
            <a:r>
              <a:rPr/>
              <a:t>Surgery in both abdomen and chest</a:t>
            </a:r>
          </a:p>
        </p:txBody>
      </p:sp>
      <p:pic>
        <p:nvPicPr>
          <p:cNvPr descr="images/ivor_lewis_simple2_9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Esophagogastrectomy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Removes top part of stomach</a:t>
            </a:r>
          </a:p>
          <a:p>
            <a:pPr lvl="0"/>
            <a:r>
              <a:rPr/>
              <a:t>Remove bottom half of esophagus</a:t>
            </a:r>
          </a:p>
          <a:p>
            <a:pPr lvl="0"/>
            <a:r>
              <a:rPr/>
              <a:t>Surgery in both abdomen and chest</a:t>
            </a:r>
          </a:p>
        </p:txBody>
      </p:sp>
      <p:pic>
        <p:nvPicPr>
          <p:cNvPr descr="images/ivor_lewis_simple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Dual Tract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r>
              <a:rPr/>
              <a:t>Alternative surgical approach for small tumors near the top of the stomach</a:t>
            </a:r>
          </a:p>
          <a:p>
            <a:pPr lvl="0"/>
            <a:r>
              <a:rPr/>
              <a:t>Preserves the bottom of the stomach as a reservoir</a:t>
            </a:r>
          </a:p>
        </p:txBody>
      </p:sp>
      <p:pic>
        <p:nvPicPr>
          <p:cNvPr descr="images/gast_dualtra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Dual Tract Gastrectomy</a:t>
            </a:r>
          </a:p>
        </p:txBody>
      </p:sp>
      <p:pic>
        <p:nvPicPr>
          <p:cNvPr descr="images/gast_proxim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dualtrac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Some stomach cancers can spread inside the abdomen</a:t>
            </a:r>
          </a:p>
          <a:p>
            <a:pPr lvl="0"/>
            <a:r>
              <a:rPr/>
              <a:t>Areas of spread can be very small (grain of rice)</a:t>
            </a:r>
          </a:p>
          <a:p>
            <a:pPr lvl="0"/>
            <a:r>
              <a:rPr/>
              <a:t>Laparoscopy can detect spread inside the abdomen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General anesthetic</a:t>
            </a:r>
          </a:p>
          <a:p>
            <a:pPr lvl="0"/>
            <a:r>
              <a:rPr/>
              <a:t>1/4” incisions</a:t>
            </a:r>
          </a:p>
          <a:p>
            <a:pPr lvl="0"/>
            <a:r>
              <a:rPr/>
              <a:t>Telescope examines the abdomen</a:t>
            </a:r>
          </a:p>
          <a:p>
            <a:pPr lvl="0"/>
            <a:r>
              <a:rPr/>
              <a:t>Biopsies performed</a:t>
            </a:r>
          </a:p>
          <a:p>
            <a:pPr lvl="0"/>
            <a:r>
              <a:rPr/>
              <a:t>Fluid sampled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Leak where bowel is joined together (anastomosis)</a:t>
            </a:r>
          </a:p>
          <a:p>
            <a:pPr lvl="0"/>
            <a:r>
              <a:rPr/>
              <a:t>Bleeding requiring reoperation</a:t>
            </a:r>
          </a:p>
          <a:p>
            <a:pPr lvl="0"/>
            <a:r>
              <a:rPr/>
              <a:t>Delayed stomach function</a:t>
            </a:r>
          </a:p>
          <a:p>
            <a:pPr lvl="0"/>
            <a:r>
              <a:rPr/>
              <a:t>Infection in the abdomen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Care Provider</a:t>
            </a:r>
          </a:p>
          <a:p>
            <a:pPr lvl="0" indent="0" marL="0">
              <a:buNone/>
            </a:pPr>
            <a:r>
              <a:rPr/>
              <a:t>Gastroenterologist</a:t>
            </a:r>
          </a:p>
          <a:p>
            <a:pPr lvl="0" indent="0" marL="0">
              <a:buNone/>
            </a:pPr>
            <a:r>
              <a:rPr/>
              <a:t>Medical Oncologist (chemotherapy)</a:t>
            </a:r>
          </a:p>
          <a:p>
            <a:pPr lvl="0" indent="0" marL="0">
              <a:buNone/>
            </a:pPr>
            <a:r>
              <a:rPr/>
              <a:t>Radiation Oncologist (radiation)</a:t>
            </a:r>
          </a:p>
          <a:p>
            <a:pPr lvl="0" indent="0" marL="0">
              <a:buNone/>
            </a:pPr>
            <a:r>
              <a:rPr/>
              <a:t>Surgeon</a:t>
            </a:r>
          </a:p>
          <a:p>
            <a:pPr lvl="0"/>
            <a:r>
              <a:rPr/>
              <a:t>Jonathan Salo MD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Support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Physician Assistant - Kate Duncan PA-C</a:t>
            </a:r>
          </a:p>
          <a:p>
            <a:pPr lvl="0" indent="0" marL="0">
              <a:buNone/>
            </a:pPr>
            <a:r>
              <a:rPr/>
              <a:t>Dietitian - Liz Koch</a:t>
            </a:r>
          </a:p>
          <a:p>
            <a:pPr lvl="0" indent="0" marL="0">
              <a:buNone/>
            </a:pPr>
            <a:r>
              <a:rPr/>
              <a:t>Nurses</a:t>
            </a:r>
          </a:p>
          <a:p>
            <a:pPr lvl="0"/>
            <a:r>
              <a:rPr/>
              <a:t>Matthew Carpenter RN</a:t>
            </a:r>
          </a:p>
          <a:p>
            <a:pPr lvl="0"/>
            <a:r>
              <a:rPr/>
              <a:t>Brandon Galloway LPN</a:t>
            </a:r>
          </a:p>
          <a:p>
            <a:pPr lvl="0" indent="0" marL="0">
              <a:buNone/>
            </a:pPr>
            <a:r>
              <a:rPr/>
              <a:t>Navigators</a:t>
            </a:r>
          </a:p>
          <a:p>
            <a:pPr lvl="0"/>
            <a:r>
              <a:rPr/>
              <a:t>Laura Swift</a:t>
            </a:r>
          </a:p>
          <a:p>
            <a:pPr lvl="0"/>
            <a:r>
              <a:rPr/>
              <a:t>Lorna Espinal</a:t>
            </a:r>
          </a:p>
          <a:p>
            <a:pPr lvl="0" indent="0" marL="0">
              <a:buNone/>
            </a:pPr>
            <a:r>
              <a:rPr/>
              <a:t>Care Coordinator - Karen Julian-Martinez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T3 Cancer of the Stomach</dc:title>
  <dc:creator/>
  <cp:keywords/>
  <dcterms:created xsi:type="dcterms:W3CDTF">2026-09-22T00:40:19Z</dcterms:created>
  <dcterms:modified xsi:type="dcterms:W3CDTF">2026-09-22T00:40:19Z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