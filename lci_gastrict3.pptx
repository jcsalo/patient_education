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0.png" /><Relationship Id="rId2" Type="http://schemas.openxmlformats.org/officeDocument/2006/relationships/image" Target="../media/image19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1.png" /><Relationship Id="rId2" Type="http://schemas.openxmlformats.org/officeDocument/2006/relationships/image" Target="../media/image19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3.png" /><Relationship Id="rId2" Type="http://schemas.openxmlformats.org/officeDocument/2006/relationships/image" Target="../media/image22.png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4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5.png" /><Relationship Id="rId2" Type="http://schemas.openxmlformats.org/officeDocument/2006/relationships/image" Target="../media/image24.png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6.pn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9.png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9.png" /><Relationship Id="rId2" Type="http://schemas.openxmlformats.org/officeDocument/2006/relationships/image" Target="../media/image24.png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T3 Cancer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br/>
                <a:r>
                  <a:rPr/>
                  <a:t>Superficial (T1a): Endoscopic Therapy</a:t>
                </a:r>
                <a:br/>
                <a:br/>
                <a:r>
                  <a:rPr/>
                  <a:t>Localized (T1b/T2): Surgery</a:t>
                </a:r>
                <a:br/>
                <a:br/>
                <a:r>
                  <a:rPr/>
                  <a:t>Locally-advanced (T3M0):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  <a:br/>
                <a:br/>
                <a:r>
                  <a:rPr/>
                  <a:t>Metastatic (M1): Chemotherapy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Adenocarcinoma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“Sandwich” chemotherapy before + after surgery:</a:t>
                </a:r>
              </a:p>
              <a:p>
                <a:pPr lvl="0" indent="0" marL="0">
                  <a:buNone/>
                </a:pPr>
                <a:r>
                  <a:rPr/>
                  <a:t>Chemo (8 wks)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(8 wks)</a:t>
                </a:r>
              </a:p>
              <a:p>
                <a:pPr lvl="0" indent="0" marL="0">
                  <a:buNone/>
                </a:pPr>
                <a:r>
                  <a:rPr/>
                  <a:t>Two different drug combinations:</a:t>
                </a:r>
              </a:p>
              <a:p>
                <a:pPr lvl="0"/>
                <a:r>
                  <a:rPr/>
                  <a:t>FLOT (more effective)</a:t>
                </a:r>
              </a:p>
              <a:p>
                <a:pPr lvl="0"/>
                <a:r>
                  <a:rPr/>
                  <a:t>FOLFOX (better tolerated)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“Sandwich” Chemotherapy Drugs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Leucovorion</a:t>
            </a:r>
          </a:p>
          <a:p>
            <a:pPr lvl="0"/>
            <a:r>
              <a:rPr/>
              <a:t>Oxaliplatin</a:t>
            </a:r>
          </a:p>
          <a:p>
            <a:pPr lvl="0"/>
            <a:r>
              <a:rPr/>
              <a:t>Taxotere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FOLFOX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Leucovorin</a:t>
            </a:r>
          </a:p>
          <a:p>
            <a:pPr lvl="0"/>
            <a:r>
              <a:rPr/>
              <a:t>Oxaliplatin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Treatment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FLOT Chemo every 2 weeks x 4 (=8 weeks total)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Chemo every 2 weeks x 4 (=8 weeks total)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Durvalumab Immunotherapy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 cells can turn off immune cells using a protein PD-L1</a:t>
            </a:r>
          </a:p>
          <a:p>
            <a:pPr lvl="0" indent="0" marL="0">
              <a:buNone/>
            </a:pPr>
            <a:r>
              <a:rPr/>
              <a:t>Darvalumab turns on immune cells by counteracting PD-L1</a:t>
            </a:r>
          </a:p>
          <a:p>
            <a:pPr lvl="0" indent="0" marL="0">
              <a:buNone/>
            </a:pPr>
            <a:r>
              <a:rPr/>
              <a:t>Durvalumab strengthens the immmune system to fight cancer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Matterhorn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Matterhorn clinical trial compared two types of treatment:</a:t>
                </a:r>
              </a:p>
              <a:p>
                <a:pPr lvl="0" indent="0" marL="0">
                  <a:buNone/>
                </a:pPr>
                <a:r>
                  <a:rPr/>
                  <a:t>FLOT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</a:t>
                </a:r>
              </a:p>
              <a:p>
                <a:pPr lvl="0" indent="0" marL="0">
                  <a:buNone/>
                </a:pPr>
                <a:r>
                  <a:rPr/>
                  <a:t>FLOT + Durvalumab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+ Durvalumab</a:t>
                </a:r>
              </a:p>
              <a:p>
                <a:pPr lvl="0" indent="0" marL="0">
                  <a:buNone/>
                </a:pPr>
                <a:r>
                  <a:rPr/>
                  <a:t>Better survival with addition of durvalumab to FLOT</a:t>
                </a:r>
              </a:p>
              <a:p>
                <a:pPr lvl="0" indent="0" marL="0">
                  <a:buNone/>
                </a:pPr>
                <a:r>
                  <a:rPr b="1"/>
                  <a:t>Treatment with durvalumab depends upon approval from insurance company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Chemo ± Durvalumab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Chemotherapy</a:t>
            </a:r>
          </a:p>
          <a:p>
            <a:pPr lvl="0"/>
            <a:r>
              <a:rPr/>
              <a:t>FLOT (8 weeks)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(8 weeks)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+ Durvalumab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Durvalumab monthly x10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Biomarkers - Additional Pathology Tests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Show whether other drugs may be helpful:</a:t>
                </a:r>
              </a:p>
              <a:p>
                <a:pPr lvl="0"/>
                <a:r>
                  <a:rPr/>
                  <a:t>HER-2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Herceptin can be helpful</a:t>
                </a:r>
              </a:p>
              <a:p>
                <a:pPr lvl="0"/>
                <a:r>
                  <a:rPr/>
                  <a:t>PD-L1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helpful</a:t>
                </a:r>
              </a:p>
              <a:p>
                <a:pPr lvl="0"/>
                <a:r>
                  <a:rPr/>
                  <a:t>MMR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very helpful</a:t>
                </a:r>
              </a:p>
              <a:p>
                <a:pPr lvl="0" indent="0" marL="0">
                  <a:buNone/>
                </a:pPr>
                <a:r>
                  <a:rPr/>
                  <a:t>Biomarkers reported in a separate pathology report</a:t>
                </a:r>
              </a:p>
              <a:p>
                <a:pPr lvl="0" indent="0" marL="0">
                  <a:buNone/>
                </a:pPr>
                <a:r>
                  <a:rPr/>
                  <a:t>Your medical oncologist will review these with you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 or PET scan performed after preoperative therapy</a:t>
            </a:r>
          </a:p>
          <a:p>
            <a:pPr lvl="0" indent="0" marL="0">
              <a:buNone/>
            </a:pPr>
            <a:br/>
          </a:p>
          <a:p>
            <a:pPr lvl="0"/>
            <a:r>
              <a:rPr/>
              <a:t>Surgery performed after restaging</a:t>
            </a:r>
          </a:p>
          <a:p>
            <a:pPr lvl="0"/>
            <a:r>
              <a:rPr/>
              <a:t>Timing depends upon recovery from therapy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T3 Cancer of the Stomach</dc:title>
  <dc:creator/>
  <cp:keywords/>
  <dcterms:created xsi:type="dcterms:W3CDTF">2026-07-24T01:07:42Z</dcterms:created>
  <dcterms:modified xsi:type="dcterms:W3CDTF">2026-07-24T01:07:42Z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