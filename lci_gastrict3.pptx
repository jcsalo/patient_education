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slide" Target="slides/slide63.xml" /><Relationship Id="rId66" Type="http://schemas.openxmlformats.org/officeDocument/2006/relationships/viewProps" Target="viewProps.xml" /><Relationship Id="rId6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8" Type="http://schemas.openxmlformats.org/officeDocument/2006/relationships/tableStyles" Target="tableStyles.xml" /><Relationship Id="rId6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jp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0.png" /><Relationship Id="rId2" Type="http://schemas.openxmlformats.org/officeDocument/2006/relationships/image" Target="../media/image19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1.png" /><Relationship Id="rId2" Type="http://schemas.openxmlformats.org/officeDocument/2006/relationships/image" Target="../media/image19.png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png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3.png" /><Relationship Id="rId2" Type="http://schemas.openxmlformats.org/officeDocument/2006/relationships/image" Target="../media/image22.png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4.png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5.png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5.png" /><Relationship Id="rId2" Type="http://schemas.openxmlformats.org/officeDocument/2006/relationships/image" Target="../media/image24.png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6.png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7.png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8.png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9.png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9.png" /><Relationship Id="rId2" Type="http://schemas.openxmlformats.org/officeDocument/2006/relationships/image" Target="../media/image24.png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T3 Cancer of the Stomach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How large is the tumor?</a:t>
            </a:r>
          </a:p>
          <a:p>
            <a:pPr lvl="0"/>
            <a:r>
              <a:rPr/>
              <a:t>Has there been spread to lymph nodes?</a:t>
            </a:r>
          </a:p>
          <a:p>
            <a:pPr lvl="0"/>
            <a:r>
              <a:rPr/>
              <a:t>Has it spread to other parts of the body?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</a:t>
            </a:r>
            <a:br/>
            <a:br/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  <a:br/>
            <a:br/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Early Stage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start on the very inside layer called the mucosa</a:t>
            </a:r>
          </a:p>
        </p:txBody>
      </p:sp>
      <p:pic>
        <p:nvPicPr>
          <p:cNvPr descr="images/gastric_tumor_t1a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Over time, cancers can grow into the muscular wall</a:t>
            </a:r>
          </a:p>
        </p:txBody>
      </p:sp>
      <p:pic>
        <p:nvPicPr>
          <p:cNvPr descr="images/gastric_tumor_t2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Lymph Nodes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In some cases, cancer cells can break off from the main tumor and spread to lymph nodes</a:t>
            </a:r>
          </a:p>
        </p:txBody>
      </p:sp>
      <p:pic>
        <p:nvPicPr>
          <p:cNvPr descr="images/gastric_tumor_t3_node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are categorized based upon the thickness of the tumor, known as the T stage</a:t>
            </a:r>
          </a:p>
        </p:txBody>
      </p:sp>
      <p:pic>
        <p:nvPicPr>
          <p:cNvPr descr="images/tumor_t_ful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Cancers are categorized by whether there is spread to the nodes.</a:t>
            </a:r>
          </a:p>
          <a:p>
            <a:pPr lvl="0"/>
            <a:r>
              <a:rPr b="1"/>
              <a:t>N0</a:t>
            </a:r>
            <a:r>
              <a:rPr/>
              <a:t> cancers have not spread to the nodes</a:t>
            </a:r>
          </a:p>
          <a:p>
            <a:pPr lvl="0"/>
            <a:r>
              <a:rPr b="1"/>
              <a:t>N1</a:t>
            </a:r>
            <a:r>
              <a:rPr/>
              <a:t> cancers have spread to the nodes.</a:t>
            </a:r>
          </a:p>
        </p:txBody>
      </p:sp>
      <p:pic>
        <p:nvPicPr>
          <p:cNvPr descr="images/tumor_t3_nodes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</a:t>
            </a:r>
          </a:p>
          <a:p>
            <a:pPr lvl="0"/>
            <a:r>
              <a:rPr b="1"/>
              <a:t>M1</a:t>
            </a:r>
            <a:r>
              <a:rPr/>
              <a:t> cancers have spread to lungs, liver, bone, or within the abdomen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Carcinomatosis (M1)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Spread within the abdomen is </a:t>
            </a:r>
            <a:r>
              <a:rPr b="1"/>
              <a:t>carcinomatosis</a:t>
            </a:r>
          </a:p>
          <a:p>
            <a:pPr lvl="0" indent="0" marL="0">
              <a:buNone/>
            </a:pPr>
            <a:r>
              <a:rPr/>
              <a:t>Tumors can be very small (grain of rice)</a:t>
            </a:r>
          </a:p>
          <a:p>
            <a:pPr lvl="0" indent="0" marL="0">
              <a:buNone/>
            </a:pPr>
            <a:r>
              <a:rPr/>
              <a:t>Fluid can also build up: </a:t>
            </a:r>
            <a:r>
              <a:rPr b="1"/>
              <a:t>ascites</a:t>
            </a:r>
          </a:p>
        </p:txBody>
      </p:sp>
      <p:pic>
        <p:nvPicPr>
          <p:cNvPr descr="images/Eso_M1_Carcinomat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 to CT scan</a:t>
            </a:r>
          </a:p>
          <a:p>
            <a:pPr lvl="0" indent="0" marL="0">
              <a:buNone/>
            </a:pPr>
            <a:r>
              <a:rPr/>
              <a:t>Tracer shows ‘hot spots’</a:t>
            </a:r>
          </a:p>
          <a:p>
            <a:pPr lvl="0"/>
            <a:r>
              <a:rPr/>
              <a:t>Cancer</a:t>
            </a:r>
          </a:p>
          <a:p>
            <a:pPr lvl="0"/>
            <a:r>
              <a:rPr/>
              <a:t>Inflammation or infection</a:t>
            </a:r>
          </a:p>
          <a:p>
            <a:pPr lvl="0"/>
            <a:r>
              <a:rPr/>
              <a:t>Normal organs (heart, kidneys)</a:t>
            </a:r>
          </a:p>
        </p:txBody>
      </p:sp>
      <p:pic>
        <p:nvPicPr>
          <p:cNvPr descr="images/PetIm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Nothing to eat or drink for 4 hours prior to exam</a:t>
            </a:r>
          </a:p>
          <a:p>
            <a:pPr lvl="0"/>
            <a:r>
              <a:rPr/>
              <a:t>High-protein low-carbohydrate diet the day prior</a:t>
            </a:r>
          </a:p>
          <a:p>
            <a:pPr lvl="0"/>
            <a:r>
              <a:rPr/>
              <a:t>No strenous activity day prior to study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PET scan uses a modified sugar as a tracer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you will need to be careful about blood sugar and insulin before the study</a:t>
                </a:r>
              </a:p>
              <a:p>
                <a:pPr lvl="0"/>
                <a:r>
                  <a:rPr/>
                  <a:t>No insulin within 4 hours of the exam</a:t>
                </a:r>
              </a:p>
              <a:p>
                <a:pPr lvl="0"/>
                <a:r>
                  <a:rPr/>
                  <a:t>OK to take diabetes pills the day of the exam</a:t>
                </a:r>
              </a:p>
              <a:p>
                <a:pPr lvl="0"/>
                <a:r>
                  <a:rPr/>
                  <a:t>PET scans are generally best in the morning</a:t>
                </a:r>
              </a:p>
              <a:p>
                <a:pPr lvl="0"/>
                <a:r>
                  <a:rPr/>
                  <a:t>Plan to eat a meal after the PET scan, with half the usual morning dose of insulin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If PET is scheduled after 10AM:</a:t>
            </a:r>
          </a:p>
          <a:p>
            <a:pPr lvl="1"/>
            <a:r>
              <a:rPr/>
              <a:t>low-carbohydrate breakfast at least 4 hours before</a:t>
            </a:r>
          </a:p>
          <a:p>
            <a:pPr lvl="1"/>
            <a:r>
              <a:rPr/>
              <a:t>half the usual regular (short-acting) insulin</a:t>
            </a:r>
          </a:p>
          <a:p>
            <a:pPr lvl="0"/>
            <a:r>
              <a:rPr/>
              <a:t>No long-acting insulin after midnight.</a:t>
            </a:r>
          </a:p>
          <a:p>
            <a:pPr lvl="0"/>
            <a:r>
              <a:rPr/>
              <a:t>Insulin pump: turn it off 4 hours before the study (or turn it down to basal/night-time rate)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Ultrasound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Similar to upper endoscopy (EGD)</a:t>
            </a:r>
          </a:p>
          <a:p>
            <a:pPr lvl="0"/>
            <a:r>
              <a:rPr/>
              <a:t>Ultrasound in scope</a:t>
            </a:r>
          </a:p>
          <a:p>
            <a:pPr lvl="0"/>
            <a:r>
              <a:rPr/>
              <a:t>Evaluates T stage</a:t>
            </a:r>
          </a:p>
        </p:txBody>
      </p:sp>
      <p:pic>
        <p:nvPicPr>
          <p:cNvPr descr="images/EU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br/>
                <a:r>
                  <a:rPr/>
                  <a:t>Superficial (T1a): Endoscopic Therapy</a:t>
                </a:r>
                <a:br/>
                <a:br/>
                <a:r>
                  <a:rPr/>
                  <a:t>Localized (T1b/T2): Surgery</a:t>
                </a:r>
                <a:br/>
                <a:br/>
                <a:r>
                  <a:rPr/>
                  <a:t>Locally-advanced (T3M0):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  <a:br/>
                <a:br/>
                <a:r>
                  <a:rPr/>
                  <a:t>Metastatic (M1): Chemotherapy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Adenocarcinoma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“Sandwich” chemotherapy before + after surgery:</a:t>
                </a:r>
              </a:p>
              <a:p>
                <a:pPr lvl="0" indent="0" marL="0">
                  <a:buNone/>
                </a:pPr>
                <a:r>
                  <a:rPr/>
                  <a:t>Chemo (8 wks)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(8 wks)</a:t>
                </a:r>
              </a:p>
              <a:p>
                <a:pPr lvl="0" indent="0" marL="0">
                  <a:buNone/>
                </a:pPr>
                <a:r>
                  <a:rPr/>
                  <a:t>Two different drug combinations:</a:t>
                </a:r>
              </a:p>
              <a:p>
                <a:pPr lvl="0"/>
                <a:r>
                  <a:rPr/>
                  <a:t>FLOT (more effective)</a:t>
                </a:r>
              </a:p>
              <a:p>
                <a:pPr lvl="0"/>
                <a:r>
                  <a:rPr/>
                  <a:t>FOLFOX (better tolerated)</a:t>
                </a:r>
              </a:p>
            </p:txBody>
          </p:sp>
        </mc:Choice>
      </mc:AlternateContent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“Sandwich” Chemotherapy Drugs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</a:t>
            </a:r>
          </a:p>
          <a:p>
            <a:pPr lvl="0"/>
            <a:r>
              <a:rPr/>
              <a:t>5-FU</a:t>
            </a:r>
          </a:p>
          <a:p>
            <a:pPr lvl="0"/>
            <a:r>
              <a:rPr/>
              <a:t>Leucovorion</a:t>
            </a:r>
          </a:p>
          <a:p>
            <a:pPr lvl="0"/>
            <a:r>
              <a:rPr/>
              <a:t>Oxaliplatin</a:t>
            </a:r>
          </a:p>
          <a:p>
            <a:pPr lvl="0"/>
            <a:r>
              <a:rPr/>
              <a:t>Taxotere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FOLFOX</a:t>
            </a:r>
          </a:p>
          <a:p>
            <a:pPr lvl="0"/>
            <a:r>
              <a:rPr/>
              <a:t>5-FU</a:t>
            </a:r>
          </a:p>
          <a:p>
            <a:pPr lvl="0"/>
            <a:r>
              <a:rPr/>
              <a:t>Leucovorin</a:t>
            </a:r>
          </a:p>
          <a:p>
            <a:pPr lvl="0"/>
            <a:r>
              <a:rPr/>
              <a:t>Oxaliplatin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FLOT Treatment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FLOT Chemo every 2 weeks x 4 (=8 weeks total)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Chemo every 2 weeks x 4 (=8 weeks total)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Durvalumab Immunotherapy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 cells can turn off immune cells using a protein PD-L1</a:t>
            </a:r>
          </a:p>
          <a:p>
            <a:pPr lvl="0" indent="0" marL="0">
              <a:buNone/>
            </a:pPr>
            <a:r>
              <a:rPr/>
              <a:t>Darvalumab turns on immune cells by counteracting PD-L1</a:t>
            </a:r>
          </a:p>
          <a:p>
            <a:pPr lvl="0" indent="0" marL="0">
              <a:buNone/>
            </a:pPr>
            <a:r>
              <a:rPr/>
              <a:t>Durvalumab strengthens the immmune system to fight cancer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Matterhorn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Matterhorn clinical trial compared two types of treatment:</a:t>
                </a:r>
              </a:p>
              <a:p>
                <a:pPr lvl="0" indent="0" marL="0">
                  <a:buNone/>
                </a:pPr>
                <a:r>
                  <a:rPr/>
                  <a:t>FLOT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</a:t>
                </a:r>
              </a:p>
              <a:p>
                <a:pPr lvl="0" indent="0" marL="0">
                  <a:buNone/>
                </a:pPr>
                <a:r>
                  <a:rPr/>
                  <a:t>FLOT + Durvalumab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 + Durvalumab</a:t>
                </a:r>
              </a:p>
              <a:p>
                <a:pPr lvl="0" indent="0" marL="0">
                  <a:buNone/>
                </a:pPr>
                <a:r>
                  <a:rPr/>
                  <a:t>Better survival with addition of durvalumab to FLOT</a:t>
                </a:r>
              </a:p>
              <a:p>
                <a:pPr lvl="0" indent="0" marL="0">
                  <a:buNone/>
                </a:pPr>
                <a:r>
                  <a:rPr b="1"/>
                  <a:t>Treatment with durvalumab depends upon approval from insurance company</a:t>
                </a:r>
              </a:p>
            </p:txBody>
          </p:sp>
        </mc:Choice>
      </mc:AlternateContent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FLOT Chemo ± Durvalumab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 Chemotherapy</a:t>
            </a:r>
          </a:p>
          <a:p>
            <a:pPr lvl="0"/>
            <a:r>
              <a:rPr/>
              <a:t>FLOT (8 weeks)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(8 weeks)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 + Durvalumab</a:t>
            </a:r>
          </a:p>
          <a:p>
            <a:pPr lvl="0"/>
            <a:r>
              <a:rPr/>
              <a:t>FLOT + Durvalumab (8 wks)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+ Durvalumab (8 wks)</a:t>
            </a:r>
          </a:p>
          <a:p>
            <a:pPr lvl="0"/>
            <a:r>
              <a:rPr/>
              <a:t>Durvalumab monthly x10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Tumor Biomarkers - Additional Pathology Tests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Show whether other drugs may be helpful:</a:t>
                </a:r>
              </a:p>
              <a:p>
                <a:pPr lvl="0"/>
                <a:r>
                  <a:rPr/>
                  <a:t>HER-2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Herceptin can be helpful</a:t>
                </a:r>
              </a:p>
              <a:p>
                <a:pPr lvl="0"/>
                <a:r>
                  <a:rPr/>
                  <a:t>PD-L1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helpful</a:t>
                </a:r>
              </a:p>
              <a:p>
                <a:pPr lvl="0"/>
                <a:r>
                  <a:rPr/>
                  <a:t>MMR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very helpful</a:t>
                </a:r>
              </a:p>
              <a:p>
                <a:pPr lvl="0" indent="0" marL="0">
                  <a:buNone/>
                </a:pPr>
                <a:r>
                  <a:rPr/>
                  <a:t>Biomarkers reported in a separate pathology report</a:t>
                </a:r>
              </a:p>
              <a:p>
                <a:pPr lvl="0" indent="0" marL="0">
                  <a:buNone/>
                </a:pPr>
                <a:r>
                  <a:rPr/>
                  <a:t>Your medical oncologist will review these with you</a:t>
                </a:r>
              </a:p>
            </p:txBody>
          </p:sp>
        </mc:Choice>
      </mc:AlternateContent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CT or PET scan performed after preoperative therapy</a:t>
            </a:r>
          </a:p>
          <a:p>
            <a:pPr lvl="0" indent="0" marL="0">
              <a:buNone/>
            </a:pPr>
            <a:br/>
          </a:p>
          <a:p>
            <a:pPr lvl="0"/>
            <a:r>
              <a:rPr/>
              <a:t>Surgery performed after restaging</a:t>
            </a:r>
          </a:p>
          <a:p>
            <a:pPr lvl="0"/>
            <a:r>
              <a:rPr/>
              <a:t>Timing depends upon recovery from therapy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T3 Cancer of the Stomach</dc:title>
  <dc:creator/>
  <cp:keywords/>
  <dcterms:created xsi:type="dcterms:W3CDTF">2026-08-08T20:36:25Z</dcterms:created>
  <dcterms:modified xsi:type="dcterms:W3CDTF">2026-08-08T20:36:25Z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