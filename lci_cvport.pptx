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Chemotherapy Administration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chemotherapy is administered by vein.</a:t>
            </a:r>
          </a:p>
          <a:p>
            <a:pPr lvl="0" indent="0" marL="0">
              <a:buNone/>
            </a:pPr>
            <a:r>
              <a:rPr/>
              <a:t>Several options exist to administer chemotherapy:</a:t>
            </a:r>
          </a:p>
          <a:p>
            <a:pPr lvl="0"/>
            <a:r>
              <a:rPr/>
              <a:t>Intravenous catheter in peripheral veins</a:t>
            </a:r>
          </a:p>
          <a:p>
            <a:pPr lvl="0"/>
            <a:r>
              <a:rPr/>
              <a:t>Peripheral Intravenous Central Catheter (PICC)</a:t>
            </a:r>
          </a:p>
          <a:p>
            <a:pPr lvl="0"/>
            <a:r>
              <a:rPr/>
              <a:t>Central Venous port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Intravenous Catheter in Peripheral Vein (“IV”)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IV catheter placed in vein of hand or arm</a:t>
            </a:r>
          </a:p>
          <a:p>
            <a:pPr lvl="0"/>
            <a:r>
              <a:rPr/>
              <a:t>Allows administration of chemo and fluids</a:t>
            </a:r>
          </a:p>
          <a:p>
            <a:pPr lvl="0"/>
            <a:r>
              <a:rPr/>
              <a:t>Placed for each dose</a:t>
            </a:r>
          </a:p>
          <a:p>
            <a:pPr lvl="0"/>
            <a:r>
              <a:rPr/>
              <a:t>Removed that day</a:t>
            </a:r>
          </a:p>
          <a:p>
            <a:pPr lvl="0"/>
            <a:r>
              <a:rPr/>
              <a:t>Not suitable for FLOT chemo</a:t>
            </a:r>
          </a:p>
        </p:txBody>
      </p:sp>
      <p:pic>
        <p:nvPicPr>
          <p:cNvPr descr="images/access_peripheral-venous-catheter-427167-7_960_720-pixabay.jpe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334000" y="1193800"/>
            <a:ext cx="27940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Implantable device makes chemo easier</a:t>
            </a:r>
          </a:p>
          <a:p>
            <a:pPr lvl="0"/>
            <a:r>
              <a:rPr/>
              <a:t>May shower in 24 hrs</a:t>
            </a:r>
          </a:p>
          <a:p>
            <a:pPr lvl="0"/>
            <a:r>
              <a:rPr/>
              <a:t>No special care at home</a:t>
            </a:r>
          </a:p>
          <a:p>
            <a:pPr lvl="0"/>
            <a:r>
              <a:rPr/>
              <a:t>OK for FLOT chemo</a:t>
            </a:r>
          </a:p>
          <a:p>
            <a:pPr lvl="0"/>
            <a:r>
              <a:rPr/>
              <a:t>Allows for blood draws</a:t>
            </a:r>
          </a:p>
        </p:txBody>
      </p:sp>
      <p:pic>
        <p:nvPicPr>
          <p:cNvPr descr="images/access_cv_por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Implanted under skin</a:t>
            </a:r>
          </a:p>
          <a:p>
            <a:pPr lvl="0"/>
            <a:r>
              <a:rPr/>
              <a:t>Neck incision (1/4”)</a:t>
            </a:r>
          </a:p>
          <a:p>
            <a:pPr lvl="0"/>
            <a:r>
              <a:rPr/>
              <a:t>Incision below the collarbone</a:t>
            </a:r>
          </a:p>
          <a:p>
            <a:pPr lvl="0"/>
            <a:r>
              <a:rPr/>
              <a:t>Sutures dissolve</a:t>
            </a:r>
          </a:p>
          <a:p>
            <a:pPr lvl="0"/>
            <a:r>
              <a:rPr/>
              <a:t>“Superglue” on incisions</a:t>
            </a:r>
          </a:p>
        </p:txBody>
      </p:sp>
      <p:pic>
        <p:nvPicPr>
          <p:cNvPr descr="images/access_cv_port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Central Venous Port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it is time for chemotherapy, a needle is inserted through the skin into the port</a:t>
            </a:r>
          </a:p>
        </p:txBody>
      </p:sp>
      <p:pic>
        <p:nvPicPr>
          <p:cNvPr descr="images/access_cv_port_detail_17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864100" y="1193800"/>
            <a:ext cx="37338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Physicians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Primary Care Provider</a:t>
            </a:r>
          </a:p>
          <a:p>
            <a:pPr lvl="0" indent="0" marL="0">
              <a:buNone/>
            </a:pPr>
            <a:r>
              <a:rPr/>
              <a:t>Gastroenterologist</a:t>
            </a:r>
          </a:p>
          <a:p>
            <a:pPr lvl="0" indent="0" marL="0">
              <a:buNone/>
            </a:pPr>
            <a:r>
              <a:rPr/>
              <a:t>Medical Oncologist (chemotherapy)</a:t>
            </a:r>
          </a:p>
          <a:p>
            <a:pPr lvl="0" indent="0" marL="0">
              <a:buNone/>
            </a:pPr>
            <a:r>
              <a:rPr/>
              <a:t>Radiation Oncologist (radiation)</a:t>
            </a:r>
          </a:p>
          <a:p>
            <a:pPr lvl="0" indent="0" marL="0">
              <a:buNone/>
            </a:pPr>
            <a:r>
              <a:rPr/>
              <a:t>Surgeons</a:t>
            </a:r>
          </a:p>
          <a:p>
            <a:pPr lvl="0"/>
            <a:r>
              <a:rPr/>
              <a:t>Jonathan Salo MD</a:t>
            </a:r>
          </a:p>
          <a:p>
            <a:pPr lvl="0"/>
            <a:r>
              <a:rPr/>
              <a:t>Jeffrey Hagen MD</a:t>
            </a:r>
          </a:p>
          <a:p>
            <a:pPr lvl="0"/>
            <a:r>
              <a:rPr/>
              <a:t>Michael Roach MD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Team Members - Support Staff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Physician Assistant - Kate Duncan PA-C</a:t>
            </a:r>
          </a:p>
          <a:p>
            <a:pPr lvl="0" indent="0" marL="0">
              <a:buNone/>
            </a:pPr>
            <a:r>
              <a:rPr/>
              <a:t>Dietitian - Liz Koch</a:t>
            </a:r>
          </a:p>
          <a:p>
            <a:pPr lvl="0" indent="0" marL="0">
              <a:buNone/>
            </a:pPr>
            <a:r>
              <a:rPr/>
              <a:t>Nurses</a:t>
            </a:r>
          </a:p>
          <a:p>
            <a:pPr lvl="0"/>
            <a:r>
              <a:rPr/>
              <a:t>Matthew Carpenter RN</a:t>
            </a:r>
          </a:p>
          <a:p>
            <a:pPr lvl="0"/>
            <a:r>
              <a:rPr/>
              <a:t>Brandon Galloway LPN</a:t>
            </a:r>
          </a:p>
          <a:p>
            <a:pPr lvl="0" indent="0" marL="0">
              <a:buNone/>
            </a:pPr>
            <a:r>
              <a:rPr/>
              <a:t>Navigators</a:t>
            </a:r>
          </a:p>
          <a:p>
            <a:pPr lvl="0"/>
            <a:r>
              <a:rPr/>
              <a:t>Laura Swift</a:t>
            </a:r>
          </a:p>
          <a:p>
            <a:pPr lvl="0"/>
            <a:r>
              <a:rPr/>
              <a:t>Lorna Espinal</a:t>
            </a:r>
          </a:p>
          <a:p>
            <a:pPr lvl="0" indent="0" marL="0">
              <a:buNone/>
            </a:pPr>
            <a:r>
              <a:rPr/>
              <a:t>Care Coordinator - Karen Julian-Martinez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Central Venous Port</dc:title>
  <dc:creator/>
  <cp:keywords/>
  <dcterms:created xsi:type="dcterms:W3CDTF">2026-06-25T01:23:54Z</dcterms:created>
  <dcterms:modified xsi:type="dcterms:W3CDTF">2026-06-25T01:23:54Z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