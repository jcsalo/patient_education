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6" Type="http://schemas.openxmlformats.org/officeDocument/2006/relationships/viewProps" Target="viewProps.xml" /><Relationship Id="rId4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8" Type="http://schemas.openxmlformats.org/officeDocument/2006/relationships/tableStyles" Target="tableStyles.xml" /><Relationship Id="rId4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M1 Cancer of the Stomach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How large is the tumor?</a:t>
            </a:r>
          </a:p>
          <a:p>
            <a:pPr lvl="0"/>
            <a:r>
              <a:rPr/>
              <a:t>Has there been spread to lymph nodes?</a:t>
            </a:r>
          </a:p>
          <a:p>
            <a:pPr lvl="0"/>
            <a:r>
              <a:rPr/>
              <a:t>Has it spread to other parts of the body?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</a:t>
            </a:r>
            <a:br/>
            <a:br/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  <a:br/>
            <a:br/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Early Stage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start on the very inside layer called the mucosa</a:t>
            </a:r>
          </a:p>
        </p:txBody>
      </p:sp>
      <p:pic>
        <p:nvPicPr>
          <p:cNvPr descr="images/gastric_tumor_t1a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Over time, cancers can grow into the muscular wall</a:t>
            </a:r>
          </a:p>
        </p:txBody>
      </p:sp>
      <p:pic>
        <p:nvPicPr>
          <p:cNvPr descr="images/gastric_tumor_t2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Lymph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In some cases, cancer cells can break off from the main tumor and spread to lymph nodes</a:t>
            </a:r>
          </a:p>
        </p:txBody>
      </p:sp>
      <p:pic>
        <p:nvPicPr>
          <p:cNvPr descr="images/gastric_tumor_t3_node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are categorized based upon the thickness of the tumor, known as the T stage</a:t>
            </a:r>
          </a:p>
        </p:txBody>
      </p:sp>
      <p:pic>
        <p:nvPicPr>
          <p:cNvPr descr="images/tumor_t_fu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Cancers are categorized by whether there is spread to the nodes.</a:t>
            </a:r>
          </a:p>
          <a:p>
            <a:pPr lvl="0"/>
            <a:r>
              <a:rPr b="1"/>
              <a:t>N0</a:t>
            </a:r>
            <a:r>
              <a:rPr/>
              <a:t> cancers have not spread to the nodes</a:t>
            </a:r>
          </a:p>
          <a:p>
            <a:pPr lvl="0"/>
            <a:r>
              <a:rPr b="1"/>
              <a:t>N1</a:t>
            </a:r>
            <a:r>
              <a:rPr/>
              <a:t> cancers have spread to the nodes.</a:t>
            </a:r>
          </a:p>
        </p:txBody>
      </p:sp>
      <p:pic>
        <p:nvPicPr>
          <p:cNvPr descr="images/tumor_t3_nodes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</a:t>
            </a:r>
          </a:p>
          <a:p>
            <a:pPr lvl="0"/>
            <a:r>
              <a:rPr b="1"/>
              <a:t>M1</a:t>
            </a:r>
            <a:r>
              <a:rPr/>
              <a:t> cancers have spread to lungs, liver, bone, or within the abdomen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Carcinomatosis (M1)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Spread within the abdomen is </a:t>
            </a:r>
            <a:r>
              <a:rPr b="1"/>
              <a:t>carcinomatosis</a:t>
            </a:r>
          </a:p>
          <a:p>
            <a:pPr lvl="0" indent="0" marL="0">
              <a:buNone/>
            </a:pPr>
            <a:r>
              <a:rPr/>
              <a:t>Tumors can be very small (grain of rice)</a:t>
            </a:r>
          </a:p>
          <a:p>
            <a:pPr lvl="0" indent="0" marL="0">
              <a:buNone/>
            </a:pPr>
            <a:r>
              <a:rPr/>
              <a:t>Fluid can also build up: </a:t>
            </a:r>
            <a:r>
              <a:rPr b="1"/>
              <a:t>ascites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 to CT scan</a:t>
            </a:r>
          </a:p>
          <a:p>
            <a:pPr lvl="0" indent="0" marL="0">
              <a:buNone/>
            </a:pPr>
            <a:r>
              <a:rPr/>
              <a:t>Tracer shows ‘hot spots’</a:t>
            </a:r>
          </a:p>
          <a:p>
            <a:pPr lvl="0"/>
            <a:r>
              <a:rPr/>
              <a:t>Cancer</a:t>
            </a:r>
          </a:p>
          <a:p>
            <a:pPr lvl="0"/>
            <a:r>
              <a:rPr/>
              <a:t>Inflammation or infection</a:t>
            </a:r>
          </a:p>
          <a:p>
            <a:pPr lvl="0"/>
            <a:r>
              <a:rPr/>
              <a:t>Normal organs (heart, kidneys)</a:t>
            </a:r>
          </a:p>
        </p:txBody>
      </p:sp>
      <p:pic>
        <p:nvPicPr>
          <p:cNvPr descr="images/Pet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Nothing to eat or drink for 4 hours prior to exam</a:t>
            </a:r>
          </a:p>
          <a:p>
            <a:pPr lvl="0"/>
            <a:r>
              <a:rPr/>
              <a:t>High-protein low-carbohydrate diet the day prior</a:t>
            </a:r>
          </a:p>
          <a:p>
            <a:pPr lvl="0"/>
            <a:r>
              <a:rPr/>
              <a:t>No strenous activity day prior to study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PET scan uses a modified sugar as a tracer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you will need to be careful about blood sugar and insulin before the study</a:t>
                </a:r>
              </a:p>
              <a:p>
                <a:pPr lvl="0"/>
                <a:r>
                  <a:rPr/>
                  <a:t>No insulin within 4 hours of the exam</a:t>
                </a:r>
              </a:p>
              <a:p>
                <a:pPr lvl="0"/>
                <a:r>
                  <a:rPr/>
                  <a:t>OK to take diabetes pills the day of the exam</a:t>
                </a:r>
              </a:p>
              <a:p>
                <a:pPr lvl="0"/>
                <a:r>
                  <a:rPr/>
                  <a:t>PET scans are generally best in the morning</a:t>
                </a:r>
              </a:p>
              <a:p>
                <a:pPr lvl="0"/>
                <a:r>
                  <a:rPr/>
                  <a:t>Plan to eat a meal after the PET scan, with half the usual morning dose of insulin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If PET is scheduled after 10AM:</a:t>
            </a:r>
          </a:p>
          <a:p>
            <a:pPr lvl="1"/>
            <a:r>
              <a:rPr/>
              <a:t>low-carbohydrate breakfast at least 4 hours before</a:t>
            </a:r>
          </a:p>
          <a:p>
            <a:pPr lvl="1"/>
            <a:r>
              <a:rPr/>
              <a:t>half the usual regular (short-acting) insulin</a:t>
            </a:r>
          </a:p>
          <a:p>
            <a:pPr lvl="0"/>
            <a:r>
              <a:rPr/>
              <a:t>No long-acting insulin after midnight.</a:t>
            </a:r>
          </a:p>
          <a:p>
            <a:pPr lvl="0"/>
            <a:r>
              <a:rPr/>
              <a:t>Insulin pump: turn it off 4 hours before the study (or turn it down to basal/night-time rate)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Ultrasound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Similar to upper endoscopy (EGD)</a:t>
            </a:r>
          </a:p>
          <a:p>
            <a:pPr lvl="0"/>
            <a:r>
              <a:rPr/>
              <a:t>Ultrasound in scope</a:t>
            </a:r>
          </a:p>
          <a:p>
            <a:pPr lvl="0"/>
            <a:r>
              <a:rPr/>
              <a:t>Evaluates T stage</a:t>
            </a:r>
          </a:p>
        </p:txBody>
      </p:sp>
      <p:pic>
        <p:nvPicPr>
          <p:cNvPr descr="images/EU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br/>
                <a:r>
                  <a:rPr/>
                  <a:t>Superficial (T1a): Endoscopic Therapy</a:t>
                </a:r>
                <a:br/>
                <a:br/>
                <a:r>
                  <a:rPr/>
                  <a:t>Localized (T1b/T2): Surgery</a:t>
                </a:r>
                <a:br/>
                <a:br/>
                <a:r>
                  <a:rPr/>
                  <a:t>Locally-advanced (T3M0):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  <a:br/>
                <a:br/>
                <a:r>
                  <a:rPr/>
                  <a:t>Metastatic (M1): Chemotherapy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Biomarkers - Additional Pathology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PD-L1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helpful</a:t>
                </a:r>
              </a:p>
              <a:p>
                <a:pPr lvl="0"/>
                <a:r>
                  <a:rPr/>
                  <a:t>MMR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very helpful</a:t>
                </a:r>
              </a:p>
              <a:p>
                <a:pPr lvl="0"/>
                <a:r>
                  <a:rPr/>
                  <a:t>HER-2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Herceptin (Stage IV)</a:t>
                </a:r>
              </a:p>
              <a:p>
                <a:pPr lvl="0"/>
                <a:r>
                  <a:rPr/>
                  <a:t>Claudin 18.2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zolbetuximab (Stage IV)</a:t>
                </a:r>
              </a:p>
              <a:p>
                <a:pPr lvl="0" indent="0" marL="0">
                  <a:buNone/>
                </a:pPr>
                <a:r>
                  <a:rPr/>
                  <a:t>Biomarkers reported in a separate pathology report</a:t>
                </a:r>
              </a:p>
              <a:p>
                <a:pPr lvl="0" indent="0" marL="0">
                  <a:buNone/>
                </a:pPr>
                <a:r>
                  <a:rPr/>
                  <a:t>Your medical oncologist will review these with you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Genetic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Stage IV disease, genetic testing of the cancer can be performed:</a:t>
            </a:r>
          </a:p>
          <a:p>
            <a:pPr lvl="0" indent="0" marL="0">
              <a:buNone/>
            </a:pPr>
            <a:r>
              <a:rPr/>
              <a:t>May help identify effective drugs</a:t>
            </a:r>
          </a:p>
          <a:p>
            <a:pPr lvl="0" indent="0" marL="0">
              <a:buNone/>
            </a:pPr>
            <a:r>
              <a:rPr/>
              <a:t>Your medical oncologist will review these with you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Restaging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CT performed every 3-6 months to guide therapy</a:t>
                </a:r>
              </a:p>
              <a:p>
                <a:pPr lvl="0" indent="0" marL="0">
                  <a:buNone/>
                </a:pPr>
                <a:br/>
              </a:p>
              <a:p>
                <a:pPr lvl="0"/>
                <a:r>
                  <a:rPr/>
                  <a:t>If CT shows shrinkage of tumor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continue</a:t>
                </a:r>
              </a:p>
              <a:p>
                <a:pPr lvl="0"/>
                <a:r>
                  <a:rPr/>
                  <a:t>If CT shows growth of tumor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switch drugs</a:t>
                </a:r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Additional Therapy - Lung Metastasis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there is a solitary spread of cancer to the lung:</a:t>
            </a:r>
          </a:p>
          <a:p>
            <a:pPr lvl="0" indent="0" marL="0">
              <a:buNone/>
            </a:pPr>
            <a:br/>
            <a:r>
              <a:rPr/>
              <a:t>Stereotactic radiation can be performed</a:t>
            </a:r>
          </a:p>
          <a:p>
            <a:pPr lvl="0" indent="0" marL="0">
              <a:buNone/>
            </a:pPr>
            <a:r>
              <a:rPr/>
              <a:t>Treatment will take 2-3 sessions</a:t>
            </a:r>
          </a:p>
        </p:txBody>
      </p:sp>
      <p:pic>
        <p:nvPicPr>
          <p:cNvPr descr="images/Eso_M1_lun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Additional Therapy - Bone Metastasis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Spread of cancer to bone can be painful</a:t>
            </a:r>
          </a:p>
          <a:p>
            <a:pPr lvl="0" indent="0" marL="0">
              <a:buNone/>
            </a:pPr>
            <a:br/>
            <a:r>
              <a:rPr/>
              <a:t>Radiation therapy can be very effective</a:t>
            </a:r>
          </a:p>
          <a:p>
            <a:pPr lvl="0" indent="0" marL="0">
              <a:buNone/>
            </a:pPr>
            <a:r>
              <a:rPr/>
              <a:t>Treatment can be one in 1 to 10 doses</a:t>
            </a:r>
          </a:p>
        </p:txBody>
      </p:sp>
      <p:pic>
        <p:nvPicPr>
          <p:cNvPr descr="images/Eso_M1_bo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Additional Therapy - Liver Metastasis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treatment options for spread of cancer to the liver that does not respond to chemotherapy:</a:t>
            </a:r>
          </a:p>
          <a:p>
            <a:pPr lvl="0"/>
            <a:r>
              <a:rPr/>
              <a:t>Stereotactic radiation</a:t>
            </a:r>
          </a:p>
          <a:p>
            <a:pPr lvl="0"/>
            <a:r>
              <a:rPr/>
              <a:t>Microwave ablation</a:t>
            </a:r>
          </a:p>
          <a:p>
            <a:pPr lvl="0"/>
            <a:r>
              <a:rPr/>
              <a:t>Radioactive beads</a:t>
            </a:r>
          </a:p>
        </p:txBody>
      </p:sp>
      <p:pic>
        <p:nvPicPr>
          <p:cNvPr descr="images/Eso_M1_liv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Additional Therapy - Carcinomatosis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Treatment for spread of cancer within the abdomen:</a:t>
            </a:r>
          </a:p>
          <a:p>
            <a:pPr lvl="0"/>
            <a:r>
              <a:rPr/>
              <a:t>Intraperitoneal chemo via catheter (Taxol)</a:t>
            </a:r>
          </a:p>
          <a:p>
            <a:pPr lvl="0"/>
            <a:r>
              <a:rPr/>
              <a:t>Heated intraperitoneal chemotherapy (HIPEC)</a:t>
            </a:r>
          </a:p>
          <a:p>
            <a:pPr lvl="0"/>
            <a:r>
              <a:rPr/>
              <a:t>Cytoreductive surgery (often in combination with HIPEC)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Additional Therapy -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can be performed in selected circumstances:</a:t>
            </a:r>
          </a:p>
          <a:p>
            <a:pPr lvl="0"/>
            <a:r>
              <a:rPr/>
              <a:t>Perforation</a:t>
            </a:r>
          </a:p>
          <a:p>
            <a:pPr lvl="0"/>
            <a:r>
              <a:rPr/>
              <a:t>Obstruction</a:t>
            </a:r>
          </a:p>
          <a:p>
            <a:pPr lvl="1"/>
            <a:r>
              <a:rPr/>
              <a:t>Removal of cancer and a portion of the stomach</a:t>
            </a:r>
          </a:p>
          <a:p>
            <a:pPr lvl="1"/>
            <a:r>
              <a:rPr/>
              <a:t>Bypass of the cancer</a:t>
            </a:r>
          </a:p>
          <a:p>
            <a:pPr lvl="0"/>
            <a:r>
              <a:rPr/>
              <a:t>Residual disease in the stomach in patients responding to chemotherapy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M1 Cancer of the Stomach</dc:title>
  <dc:creator/>
  <cp:keywords/>
  <dcterms:created xsi:type="dcterms:W3CDTF">2026-07-16T00:41:51Z</dcterms:created>
  <dcterms:modified xsi:type="dcterms:W3CDTF">2026-07-16T00:41:51Z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