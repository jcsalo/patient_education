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M1 Cancer of the Stomach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br/>
                <a:r>
                  <a:rPr/>
                  <a:t>Superficial (T1a): Endoscopic Therapy</a:t>
                </a:r>
                <a:br/>
                <a:br/>
                <a:r>
                  <a:rPr/>
                  <a:t>Localized (T1b/T2): Surgery</a:t>
                </a:r>
                <a:br/>
                <a:br/>
                <a:r>
                  <a:rPr/>
                  <a:t>Locally-advanced (T3M0): 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  <a:br/>
                <a:br/>
                <a:r>
                  <a:rPr/>
                  <a:t>Metastatic (M1): Chemotherapy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Biomarkers - Additional Pathology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PD-L1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helpful</a:t>
                </a:r>
              </a:p>
              <a:p>
                <a:pPr lvl="0"/>
                <a:r>
                  <a:rPr/>
                  <a:t>MMR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very helpful</a:t>
                </a:r>
              </a:p>
              <a:p>
                <a:pPr lvl="0"/>
                <a:r>
                  <a:rPr/>
                  <a:t>HER-2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Herceptin (Stage IV)</a:t>
                </a:r>
              </a:p>
              <a:p>
                <a:pPr lvl="0"/>
                <a:r>
                  <a:rPr/>
                  <a:t>Claudin 18.2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zolbetuximab (Stage IV)</a:t>
                </a:r>
              </a:p>
              <a:p>
                <a:pPr lvl="0" indent="0" marL="0">
                  <a:buNone/>
                </a:pPr>
                <a:r>
                  <a:rPr/>
                  <a:t>Biomarkers reported in a separate pathology report</a:t>
                </a:r>
              </a:p>
              <a:p>
                <a:pPr lvl="0" indent="0" marL="0">
                  <a:buNone/>
                </a:pPr>
                <a:r>
                  <a:rPr/>
                  <a:t>Your medical oncologist will review these with you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Genetic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Stage IV disease, genetic testing of the cancer can be performed:</a:t>
            </a:r>
          </a:p>
          <a:p>
            <a:pPr lvl="0" indent="0" marL="0">
              <a:buNone/>
            </a:pPr>
            <a:r>
              <a:rPr/>
              <a:t>May help identify effective drugs</a:t>
            </a:r>
          </a:p>
          <a:p>
            <a:pPr lvl="0" indent="0" marL="0">
              <a:buNone/>
            </a:pPr>
            <a:r>
              <a:rPr/>
              <a:t>Your medical oncologist will review these with you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CT performed every 3-6 months to guide therapy</a:t>
                </a:r>
              </a:p>
              <a:p>
                <a:pPr lvl="0" indent="0" marL="0">
                  <a:buNone/>
                </a:pPr>
                <a:br/>
              </a:p>
              <a:p>
                <a:pPr lvl="0"/>
                <a:r>
                  <a:rPr/>
                  <a:t>If CT shows shrinkage of tumor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continue</a:t>
                </a:r>
              </a:p>
              <a:p>
                <a:pPr lvl="0"/>
                <a:r>
                  <a:rPr/>
                  <a:t>If CT shows growth of tumor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switch drugs</a:t>
                </a:r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Rate can be easily adjusted</a:t>
            </a:r>
          </a:p>
        </p:txBody>
      </p:sp>
      <p:pic>
        <p:nvPicPr>
          <p:cNvPr descr="images/jejunostomy/enteralbag_pump_hopis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1193800"/>
            <a:ext cx="256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Therapy - Lung Metastasis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there is a solitary spread of cancer to the lung:</a:t>
            </a:r>
          </a:p>
          <a:p>
            <a:pPr lvl="0" indent="0" marL="0">
              <a:buNone/>
            </a:pPr>
            <a:br/>
            <a:r>
              <a:rPr/>
              <a:t>Stereotactic radiation can be performed</a:t>
            </a:r>
          </a:p>
          <a:p>
            <a:pPr lvl="0" indent="0" marL="0">
              <a:buNone/>
            </a:pPr>
            <a:r>
              <a:rPr/>
              <a:t>Treatment will take 2-3 sessions</a:t>
            </a:r>
          </a:p>
        </p:txBody>
      </p:sp>
      <p:pic>
        <p:nvPicPr>
          <p:cNvPr descr="images/Eso_M1_lu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Therapy - Bone Metastasis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r>
              <a:rPr/>
              <a:t>Spread of cancer to bone can be painful</a:t>
            </a:r>
          </a:p>
          <a:p>
            <a:pPr lvl="0" indent="0" marL="0">
              <a:buNone/>
            </a:pPr>
            <a:br/>
            <a:r>
              <a:rPr/>
              <a:t>Radiation therapy can be very effective</a:t>
            </a:r>
          </a:p>
          <a:p>
            <a:pPr lvl="0" indent="0" marL="0">
              <a:buNone/>
            </a:pPr>
            <a:r>
              <a:rPr/>
              <a:t>Treatment can be one in 1 to 10 doses</a:t>
            </a:r>
          </a:p>
        </p:txBody>
      </p:sp>
      <p:pic>
        <p:nvPicPr>
          <p:cNvPr descr="images/Eso_M1_bo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Therapy - Liver Metastasis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treatment options for spread of cancer to the liver that does not respond to chemotherapy:</a:t>
            </a:r>
          </a:p>
          <a:p>
            <a:pPr lvl="0"/>
            <a:r>
              <a:rPr/>
              <a:t>Stereotactic radiation</a:t>
            </a:r>
          </a:p>
          <a:p>
            <a:pPr lvl="0"/>
            <a:r>
              <a:rPr/>
              <a:t>Microwave ablation</a:t>
            </a:r>
          </a:p>
          <a:p>
            <a:pPr lvl="0"/>
            <a:r>
              <a:rPr/>
              <a:t>Radioactive beads</a:t>
            </a:r>
          </a:p>
        </p:txBody>
      </p:sp>
      <p:pic>
        <p:nvPicPr>
          <p:cNvPr descr="images/Eso_M1_liv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Therapy - Carcinomatosis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Treatment for spread of cancer within the abdomen:</a:t>
            </a:r>
          </a:p>
          <a:p>
            <a:pPr lvl="0"/>
            <a:r>
              <a:rPr/>
              <a:t>Intraperitoneal chemo via catheter (Taxol)</a:t>
            </a:r>
          </a:p>
          <a:p>
            <a:pPr lvl="0"/>
            <a:r>
              <a:rPr/>
              <a:t>Heated intraperitoneal chemotherapy (HIPEC)</a:t>
            </a:r>
          </a:p>
          <a:p>
            <a:pPr lvl="0"/>
            <a:r>
              <a:rPr/>
              <a:t>Cytoreductive surgery (often in combination with HIPEC)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Therapy -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Surgery can be performed in selected circumstances:</a:t>
            </a:r>
          </a:p>
          <a:p>
            <a:pPr lvl="0"/>
            <a:r>
              <a:rPr/>
              <a:t>Perforation</a:t>
            </a:r>
          </a:p>
          <a:p>
            <a:pPr lvl="0"/>
            <a:r>
              <a:rPr/>
              <a:t>Obstruction</a:t>
            </a:r>
          </a:p>
          <a:p>
            <a:pPr lvl="1"/>
            <a:r>
              <a:rPr/>
              <a:t>Removal of cancer and a portion of the stomach</a:t>
            </a:r>
          </a:p>
          <a:p>
            <a:pPr lvl="1"/>
            <a:r>
              <a:rPr/>
              <a:t>Bypass of the cancer</a:t>
            </a:r>
          </a:p>
          <a:p>
            <a:pPr lvl="0"/>
            <a:r>
              <a:rPr/>
              <a:t>Residual disease in the stomach in patients responding to chemotherapy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Cancer of the Stomach</dc:title>
  <dc:creator/>
  <cp:keywords/>
  <dcterms:created xsi:type="dcterms:W3CDTF">2026-09-26T07:21:56Z</dcterms:created>
  <dcterms:modified xsi:type="dcterms:W3CDTF">2026-09-26T07:21:56Z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