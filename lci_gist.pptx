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3" Type="http://schemas.openxmlformats.org/officeDocument/2006/relationships/viewProps" Target="viewProps.xml" /><Relationship Id="rId3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5" Type="http://schemas.openxmlformats.org/officeDocument/2006/relationships/tableStyles" Target="tableStyles.xml" /><Relationship Id="rId3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2.png" /><Relationship Id="rId2" Type="http://schemas.openxmlformats.org/officeDocument/2006/relationships/image" Target="../media/image1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3.png" /><Relationship Id="rId2" Type="http://schemas.openxmlformats.org/officeDocument/2006/relationships/image" Target="../media/image1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5.png" /><Relationship Id="rId2" Type="http://schemas.openxmlformats.org/officeDocument/2006/relationships/image" Target="../media/image4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7.png" /><Relationship Id="rId2" Type="http://schemas.openxmlformats.org/officeDocument/2006/relationships/image" Target="../media/image6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11.png" /><Relationship Id="rId2" Type="http://schemas.openxmlformats.org/officeDocument/2006/relationships/image" Target="../media/image6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GI Stromal Tumors of the Stomach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GI Stromal Tumors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Arise from the wall of the stomach</a:t>
            </a:r>
          </a:p>
          <a:p>
            <a:pPr lvl="0"/>
            <a:r>
              <a:rPr/>
              <a:t>Grow slowly over time</a:t>
            </a:r>
          </a:p>
          <a:p>
            <a:pPr lvl="0"/>
            <a:r>
              <a:rPr/>
              <a:t>Lymph nodes rarely involved</a:t>
            </a:r>
          </a:p>
          <a:p>
            <a:pPr lvl="0"/>
            <a:r>
              <a:rPr/>
              <a:t>Not conventional stomach cancer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GIST vs Adenocarcinoma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GIST</a:t>
            </a:r>
          </a:p>
          <a:p>
            <a:pPr lvl="0"/>
            <a:r>
              <a:rPr/>
              <a:t>Starts from wall of stomach</a:t>
            </a:r>
          </a:p>
          <a:p>
            <a:pPr lvl="0"/>
            <a:r>
              <a:rPr/>
              <a:t>Slow growing</a:t>
            </a:r>
          </a:p>
          <a:p>
            <a:pPr lvl="0"/>
            <a:r>
              <a:rPr/>
              <a:t>Rarely spreads to lymph nodes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Adenocarcinoma</a:t>
            </a:r>
          </a:p>
          <a:p>
            <a:pPr lvl="0"/>
            <a:r>
              <a:rPr/>
              <a:t>Conventional “stomach cancer”</a:t>
            </a:r>
          </a:p>
          <a:p>
            <a:pPr lvl="0"/>
            <a:r>
              <a:rPr/>
              <a:t>Starts from lining of stomach</a:t>
            </a:r>
          </a:p>
          <a:p>
            <a:pPr lvl="0"/>
            <a:r>
              <a:rPr/>
              <a:t>Can spread to lymph nodes</a:t>
            </a:r>
          </a:p>
          <a:p>
            <a:pPr lvl="0"/>
            <a:r>
              <a:rPr/>
              <a:t>More aggressive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GIST: Benign or Malignant?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GIST tumors have a range of behavior:</a:t>
            </a:r>
          </a:p>
          <a:p>
            <a:pPr lvl="0"/>
            <a:r>
              <a:rPr/>
              <a:t>Small tumors tend to behave in a benign manner but can grow over time</a:t>
            </a:r>
          </a:p>
          <a:p>
            <a:pPr lvl="0"/>
            <a:r>
              <a:rPr/>
              <a:t>Larger tumors tend to behave in a malignant (cancerous) manner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GIST Treatment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Initial treatment usually surgery</a:t>
            </a:r>
          </a:p>
          <a:p>
            <a:pPr lvl="0"/>
            <a:r>
              <a:rPr/>
              <a:t>Risk of recurrence determined by pathology</a:t>
            </a:r>
          </a:p>
          <a:p>
            <a:pPr lvl="0"/>
            <a:r>
              <a:rPr/>
              <a:t>Size of tumor</a:t>
            </a:r>
          </a:p>
          <a:p>
            <a:pPr lvl="0"/>
            <a:r>
              <a:rPr/>
              <a:t>Mitotic rate = how rapidly tumor is dividing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Imatinib = Gleevec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Oral drug shrinks GIST tumors</a:t>
            </a:r>
          </a:p>
          <a:p>
            <a:pPr lvl="0"/>
            <a:r>
              <a:rPr/>
              <a:t>Well tolerated</a:t>
            </a:r>
          </a:p>
          <a:p>
            <a:pPr lvl="0"/>
            <a:r>
              <a:rPr/>
              <a:t>Given </a:t>
            </a:r>
            <a:r>
              <a:rPr i="1"/>
              <a:t>after</a:t>
            </a:r>
            <a:r>
              <a:rPr/>
              <a:t> surgery for high-risk tumors</a:t>
            </a:r>
          </a:p>
          <a:p>
            <a:pPr lvl="1"/>
            <a:r>
              <a:rPr/>
              <a:t>1 or 3 years depending upon risk</a:t>
            </a:r>
          </a:p>
          <a:p>
            <a:pPr lvl="0"/>
            <a:r>
              <a:rPr/>
              <a:t>Given </a:t>
            </a:r>
            <a:r>
              <a:rPr i="1"/>
              <a:t>before</a:t>
            </a:r>
            <a:r>
              <a:rPr/>
              <a:t> surgery for large tumors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Stomach Cancer Surgery Goals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Staging refers to the tests to determine</a:t>
            </a:r>
          </a:p>
          <a:p>
            <a:pPr lvl="0"/>
            <a:r>
              <a:rPr/>
              <a:t>Remove the tumor</a:t>
            </a:r>
          </a:p>
          <a:p>
            <a:pPr lvl="0"/>
            <a:r>
              <a:rPr/>
              <a:t>Remove lymph nodes (depends upon tumor type)</a:t>
            </a:r>
          </a:p>
          <a:p>
            <a:pPr lvl="0"/>
            <a:r>
              <a:rPr/>
              <a:t>Preserve stomach function</a:t>
            </a:r>
          </a:p>
          <a:p>
            <a:pPr lvl="0"/>
            <a:r>
              <a:rPr/>
              <a:t>Reconstruct GI tract</a:t>
            </a:r>
          </a:p>
          <a:p>
            <a:pPr lvl="0" indent="0" marL="0">
              <a:buNone/>
            </a:pPr>
            <a:r>
              <a:rPr b="1"/>
              <a:t>Treatment options depend upon the cancer stage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Distal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Distal cancers are those in the lower part of the stomach</a:t>
            </a:r>
          </a:p>
        </p:txBody>
      </p:sp>
      <p:pic>
        <p:nvPicPr>
          <p:cNvPr descr="images/gast_dist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Partial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Removes the tumor</a:t>
            </a:r>
          </a:p>
          <a:p>
            <a:pPr lvl="0"/>
            <a:r>
              <a:rPr/>
              <a:t>Lymph nodes not removed</a:t>
            </a:r>
          </a:p>
          <a:p>
            <a:pPr lvl="0"/>
            <a:r>
              <a:rPr/>
              <a:t>Best suited for:</a:t>
            </a:r>
          </a:p>
          <a:p>
            <a:pPr lvl="1"/>
            <a:r>
              <a:rPr/>
              <a:t>Small adenocarcinoma</a:t>
            </a:r>
          </a:p>
          <a:p>
            <a:pPr lvl="1"/>
            <a:r>
              <a:rPr/>
              <a:t>GI Stromal Tumors</a:t>
            </a:r>
          </a:p>
        </p:txBody>
      </p:sp>
      <p:pic>
        <p:nvPicPr>
          <p:cNvPr descr="images/gast_parti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Partial Gastrectomy</a:t>
            </a:r>
          </a:p>
        </p:txBody>
      </p:sp>
      <p:pic>
        <p:nvPicPr>
          <p:cNvPr descr="images/gast_dist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parti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bottom half of the stomach</a:t>
            </a:r>
          </a:p>
          <a:p>
            <a:pPr lvl="0"/>
            <a:r>
              <a:rPr/>
              <a:t>Does lower lymph nodes</a:t>
            </a:r>
          </a:p>
        </p:txBody>
      </p:sp>
      <p:pic>
        <p:nvPicPr>
          <p:cNvPr descr="images/gast_distal_gastrectom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Distal Gastrectomy</a:t>
            </a:r>
          </a:p>
        </p:txBody>
      </p:sp>
      <p:pic>
        <p:nvPicPr>
          <p:cNvPr descr="images/gast_dist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distal_gastrectomy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Body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Body is the mid-portion of the stomach</a:t>
            </a:r>
          </a:p>
        </p:txBody>
      </p:sp>
      <p:pic>
        <p:nvPicPr>
          <p:cNvPr descr="images/gast_bod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Subtotal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bottom 2/3 of stomach</a:t>
            </a:r>
          </a:p>
          <a:p>
            <a:pPr lvl="0"/>
            <a:r>
              <a:rPr/>
              <a:t>Removes lymph nodes</a:t>
            </a:r>
          </a:p>
          <a:p>
            <a:pPr lvl="0"/>
            <a:r>
              <a:rPr/>
              <a:t>Reconstruction with small intestine</a:t>
            </a:r>
          </a:p>
        </p:txBody>
      </p:sp>
      <p:pic>
        <p:nvPicPr>
          <p:cNvPr descr="images/gast_subtot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Subtotal Gastrectomy</a:t>
            </a:r>
          </a:p>
        </p:txBody>
      </p:sp>
      <p:pic>
        <p:nvPicPr>
          <p:cNvPr descr="images/gast_bod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subtot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Proximal Tumors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Located near the top of the stomach</a:t>
            </a:r>
          </a:p>
          <a:p>
            <a:pPr lvl="0"/>
            <a:r>
              <a:rPr/>
              <a:t>Challenging area for surgery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all of the stomach</a:t>
            </a:r>
          </a:p>
          <a:p>
            <a:pPr lvl="0"/>
            <a:r>
              <a:rPr/>
              <a:t>Reconstruction with small intestine</a:t>
            </a:r>
          </a:p>
          <a:p>
            <a:pPr lvl="0"/>
            <a:r>
              <a:rPr/>
              <a:t>Needed for those with CDH1 mutations</a:t>
            </a:r>
          </a:p>
        </p:txBody>
      </p:sp>
      <p:pic>
        <p:nvPicPr>
          <p:cNvPr descr="images/gast_tot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Gastrectomy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tot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Esophagogastrectomy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top part of stomach</a:t>
            </a:r>
          </a:p>
          <a:p>
            <a:pPr lvl="0"/>
            <a:r>
              <a:rPr/>
              <a:t>Remove bottom half of esophagus</a:t>
            </a:r>
          </a:p>
          <a:p>
            <a:pPr lvl="0"/>
            <a:r>
              <a:rPr/>
              <a:t>Surgery in both abdomen and chest</a:t>
            </a:r>
          </a:p>
        </p:txBody>
      </p:sp>
      <p:pic>
        <p:nvPicPr>
          <p:cNvPr descr="images/Eso_tumor00_resection2_16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Esophagogastrectomy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Removes top part of stomach</a:t>
            </a:r>
          </a:p>
          <a:p>
            <a:pPr lvl="0"/>
            <a:r>
              <a:rPr/>
              <a:t>Remove bottom half of esophagus</a:t>
            </a:r>
          </a:p>
          <a:p>
            <a:pPr lvl="0"/>
            <a:r>
              <a:rPr/>
              <a:t>Surgery in both abdomen and chest</a:t>
            </a:r>
          </a:p>
        </p:txBody>
      </p:sp>
      <p:pic>
        <p:nvPicPr>
          <p:cNvPr descr="images/ivor_lewis_simple2_9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Esophagogastrectomy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Removes top part of stomach</a:t>
            </a:r>
          </a:p>
          <a:p>
            <a:pPr lvl="0"/>
            <a:r>
              <a:rPr/>
              <a:t>Remove bottom half of esophagus</a:t>
            </a:r>
          </a:p>
          <a:p>
            <a:pPr lvl="0"/>
            <a:r>
              <a:rPr/>
              <a:t>Surgery in both abdomen and chest</a:t>
            </a:r>
          </a:p>
        </p:txBody>
      </p:sp>
      <p:pic>
        <p:nvPicPr>
          <p:cNvPr descr="images/ivor_lewis_simple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Dual Tract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r>
              <a:rPr/>
              <a:t>Alternative surgical approach for small tumors near the top of the stomach</a:t>
            </a:r>
          </a:p>
          <a:p>
            <a:pPr lvl="0"/>
            <a:r>
              <a:rPr/>
              <a:t>Preserves the bottom of the stomach as a reservoir</a:t>
            </a:r>
          </a:p>
        </p:txBody>
      </p:sp>
      <p:pic>
        <p:nvPicPr>
          <p:cNvPr descr="images/gast_dualtrac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Dual Tract Gastrectomy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dualtract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Some stomach cancers can spread inside the abdomen</a:t>
            </a:r>
          </a:p>
          <a:p>
            <a:pPr lvl="0"/>
            <a:r>
              <a:rPr/>
              <a:t>Areas of spread can be very small (grain of rice)</a:t>
            </a:r>
          </a:p>
          <a:p>
            <a:pPr lvl="0"/>
            <a:r>
              <a:rPr/>
              <a:t>Laparoscopy can detect spread inside the abdomen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General anesthetic</a:t>
            </a:r>
          </a:p>
          <a:p>
            <a:pPr lvl="0"/>
            <a:r>
              <a:rPr/>
              <a:t>Several 1/4” incisions</a:t>
            </a:r>
          </a:p>
          <a:p>
            <a:pPr lvl="0"/>
            <a:r>
              <a:rPr/>
              <a:t>Telescope examines the abdomen</a:t>
            </a:r>
          </a:p>
          <a:p>
            <a:pPr lvl="0"/>
            <a:r>
              <a:rPr/>
              <a:t>Biopsies can be performed.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Leak where bowel is joined together (anastomosis)</a:t>
            </a:r>
          </a:p>
          <a:p>
            <a:pPr lvl="0"/>
            <a:r>
              <a:rPr/>
              <a:t>Bleeding requiring reoperation</a:t>
            </a:r>
          </a:p>
          <a:p>
            <a:pPr lvl="0"/>
            <a:r>
              <a:rPr/>
              <a:t>Delayed stomach function</a:t>
            </a:r>
          </a:p>
          <a:p>
            <a:pPr lvl="0"/>
            <a:r>
              <a:rPr/>
              <a:t>Infection in the abdomen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Primary Care Practitioner (PCP)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Critical to coordinate care between specialists.</a:t>
            </a:r>
          </a:p>
          <a:p>
            <a:pPr lvl="0" indent="0" marL="0">
              <a:buNone/>
            </a:pPr>
            <a:r>
              <a:rPr/>
              <a:t>We will update your PCP after each visit</a:t>
            </a:r>
          </a:p>
          <a:p>
            <a:pPr lvl="0" indent="0" marL="0">
              <a:buNone/>
            </a:pPr>
            <a:r>
              <a:rPr/>
              <a:t>PCP Referral Line (844) 235-6998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My Atrium Patient Portal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Critical to good communication with your care team</a:t>
            </a:r>
          </a:p>
          <a:p>
            <a:pPr lvl="0"/>
            <a:r>
              <a:rPr/>
              <a:t>Available for desktop or laptop or phone</a:t>
            </a:r>
          </a:p>
          <a:p>
            <a:pPr lvl="0"/>
            <a:r>
              <a:rPr/>
              <a:t>Sign up at my.atriumhealth.org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Exercise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Reduces risk of complications from treatment</a:t>
            </a:r>
          </a:p>
          <a:p>
            <a:pPr lvl="0"/>
            <a:r>
              <a:rPr/>
              <a:t>Goal is 30min/day of vigorous exercise 6 days/wk</a:t>
            </a:r>
          </a:p>
          <a:p>
            <a:pPr lvl="1"/>
            <a:r>
              <a:rPr/>
              <a:t>Working hard enough that you can’t converse</a:t>
            </a:r>
          </a:p>
          <a:p>
            <a:pPr lvl="1"/>
            <a:r>
              <a:rPr/>
              <a:t>Start slowly and build up</a:t>
            </a:r>
          </a:p>
          <a:p>
            <a:pPr lvl="1"/>
            <a:r>
              <a:rPr/>
              <a:t>Every day counts! (Aim for daily activity)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Smoking Cessation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Smoking makes cancer treatment more difficult</a:t>
            </a:r>
          </a:p>
          <a:p>
            <a:pPr lvl="1"/>
            <a:r>
              <a:rPr/>
              <a:t>Increases risk of complications after surgery</a:t>
            </a:r>
          </a:p>
          <a:p>
            <a:pPr lvl="0"/>
            <a:r>
              <a:rPr/>
              <a:t>Options for help with smoking cessation:</a:t>
            </a:r>
          </a:p>
          <a:p>
            <a:pPr lvl="1"/>
            <a:r>
              <a:rPr/>
              <a:t>NC Quit Line 1-800-QUIT-NOW (1-800-784-8669)</a:t>
            </a:r>
          </a:p>
          <a:p>
            <a:pPr lvl="1"/>
            <a:r>
              <a:rPr/>
              <a:t>American Lung Assn www.freedomfromsmoking.org</a:t>
            </a:r>
          </a:p>
          <a:p>
            <a:pPr lvl="1"/>
            <a:r>
              <a:rPr/>
              <a:t>Smoking Cessation Counseling (Metro Charlotte)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GI Stromal Tumors of the Stomach</dc:title>
  <dc:creator/>
  <cp:keywords/>
  <dcterms:created xsi:type="dcterms:W3CDTF">2025-11-01T20:47:01Z</dcterms:created>
  <dcterms:modified xsi:type="dcterms:W3CDTF">2025-11-01T20:47:01Z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