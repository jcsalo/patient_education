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png" ContentType="image/png"/>
  <Default Extension="jpg" ContentType="image/jpeg"/>
  <Override PartName="/docProps/app.xml" ContentType="application/vnd.openxmlformats-officedocument.extended-properties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autoCompressPictures="0" saveSubsetFonts="1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</p:sldIdLst>
  <p:sldSz cx="9144000" cy="5143500" type="screen16x9"/>
  <p:notesSz cx="6858000" cy="9144000"/>
  <p:defaultTextStyle>
    <a:defPPr>
      <a:defRPr lang="en-US"/>
    </a:defPPr>
    <a:lvl1pPr algn="l" defTabSz="4572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4572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4572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4572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4572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4572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4572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4572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4572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2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69012ECD-51FC-41F1-AA8D-1B2483CD663E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616DA210-FB5B-4158-B5E0-FEB733F419BA}" styleName="Light Style 3">
    <a:wholeTbl>
      <a:tcTxStyle>
        <a:fontRef idx="minor">
          <a:scrgbClr r="0" g="0" b="0"/>
        </a:fontRef>
        <a:schemeClr val="tx1"/>
      </a:tcTxStyle>
      <a:tcStyle>
        <a:tcBdr>
          <a:left>
            <a:ln w="12700" cmpd="sng">
              <a:solidFill>
                <a:schemeClr val="tx1"/>
              </a:solidFill>
            </a:ln>
          </a:left>
          <a:right>
            <a:ln w="12700" cmpd="sng">
              <a:solidFill>
                <a:schemeClr val="tx1"/>
              </a:solidFill>
            </a:ln>
          </a:right>
          <a:top>
            <a:ln w="12700" cmpd="sng">
              <a:solidFill>
                <a:schemeClr val="tx1"/>
              </a:solidFill>
            </a:ln>
          </a:top>
          <a:bottom>
            <a:ln w="12700" cmpd="sng">
              <a:solidFill>
                <a:schemeClr val="tx1"/>
              </a:solidFill>
            </a:ln>
          </a:bottom>
          <a:insideH>
            <a:ln w="12700" cmpd="sng">
              <a:solidFill>
                <a:schemeClr val="tx1"/>
              </a:solidFill>
            </a:ln>
          </a:insideH>
          <a:insideV>
            <a:ln w="12700" cmpd="sng">
              <a:solidFill>
                <a:schemeClr val="tx1"/>
              </a:solidFill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tx1">
              <a:alpha val="20000"/>
            </a:schemeClr>
          </a:solidFill>
        </a:fill>
      </a:tcStyle>
    </a:band1H>
    <a:band1V>
      <a:tcStyle>
        <a:tcBdr/>
        <a:fill>
          <a:solidFill>
            <a:schemeClr val="tx1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tx1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25400" cmpd="sng">
              <a:solidFill>
                <a:schemeClr val="tx1"/>
              </a:solidFill>
            </a:ln>
          </a:bottom>
        </a:tcBdr>
        <a:fill>
          <a:noFill/>
        </a:fill>
      </a:tcStyle>
    </a:firstRow>
  </a:tblStyle>
  <a:tblStyle styleId="{69012ECD-51FC-41F1-AA8D-1B2483CD663E}" styleName="Light Style 2 - Accent 1">
    <a:wholeTbl>
      <a:tcTxStyle>
        <a:fontRef idx="minor">
          <a:scrgbClr r="0" g="0" b="0"/>
        </a:fontRef>
        <a:schemeClr val="tx1"/>
      </a:tcTxStyle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</a:tcBdr>
      </a:tcStyle>
    </a:band1H>
    <a:band1V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</a:tcBdr>
      </a:tcStyle>
    </a:band1V>
    <a:band2V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</a:tcBdr>
      </a:tcStyle>
    </a:band2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1"/>
              </a:solidFill>
            </a:ln>
          </a:top>
        </a:tcBdr>
      </a:tcStyle>
    </a:lastRow>
    <a:firstRow>
      <a:tcTxStyle b="on">
        <a:fontRef idx="minor">
          <a:scrgbClr r="0" g="0" b="0"/>
        </a:fontRef>
        <a:schemeClr val="bg1"/>
      </a:tcTxStyle>
      <a:tcStyle>
        <a:tcBdr/>
        <a:fillRef idx="1">
          <a:schemeClr val="accent1"/>
        </a:fillRef>
      </a:tcStyle>
    </a:firstRow>
  </a:tblStyle>
</a:tblStyleLst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15674"/>
    <p:restoredTop autoAdjust="0" sz="94694"/>
  </p:normalViewPr>
  <p:slideViewPr>
    <p:cSldViewPr snapToGrid="0" snapToObjects="1">
      <p:cViewPr varScale="1">
        <p:scale>
          <a:sx d="100" n="166"/>
          <a:sy d="100" n="166"/>
        </p:scale>
        <p:origin x="520" y="192"/>
      </p:cViewPr>
      <p:guideLst>
        <p:guide orient="horz" pos="1620"/>
        <p:guide pos="2880"/>
      </p:guideLst>
    </p:cSldViewPr>
  </p:slideViewPr>
  <p:outlineViewPr>
    <p:cViewPr>
      <p:scale>
        <a:sx d="100" n="33"/>
        <a:sy d="100" n="33"/>
      </p:scale>
      <p:origin x="0" y="0"/>
    </p:cViewPr>
  </p:outlineViewPr>
  <p:notesTextViewPr>
    <p:cViewPr>
      <p:scale>
        <a:sx d="100" n="100"/>
        <a:sy d="100" n="100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3" Type="http://schemas.openxmlformats.org/officeDocument/2006/relationships/slide" Target="slides/slide2.xml" /><Relationship Id="rId4" Type="http://schemas.openxmlformats.org/officeDocument/2006/relationships/slide" Target="slides/slide3.xml" /><Relationship Id="rId5" Type="http://schemas.openxmlformats.org/officeDocument/2006/relationships/slide" Target="slides/slide4.xml" /><Relationship Id="rId6" Type="http://schemas.openxmlformats.org/officeDocument/2006/relationships/slide" Target="slides/slide5.xml" /><Relationship Id="rId7" Type="http://schemas.openxmlformats.org/officeDocument/2006/relationships/slide" Target="slides/slide6.xml" /><Relationship Id="rId8" Type="http://schemas.openxmlformats.org/officeDocument/2006/relationships/slide" Target="slides/slide7.xml" /><Relationship Id="rId9" Type="http://schemas.openxmlformats.org/officeDocument/2006/relationships/slide" Target="slides/slide8.xml" /><Relationship Id="rId10" Type="http://schemas.openxmlformats.org/officeDocument/2006/relationships/slide" Target="slides/slide9.xml" /><Relationship Id="rId11" Type="http://schemas.openxmlformats.org/officeDocument/2006/relationships/slide" Target="slides/slide10.xml" /><Relationship Id="rId12" Type="http://schemas.openxmlformats.org/officeDocument/2006/relationships/slide" Target="slides/slide11.xml" /><Relationship Id="rId13" Type="http://schemas.openxmlformats.org/officeDocument/2006/relationships/slide" Target="slides/slide12.xml" /><Relationship Id="rId14" Type="http://schemas.openxmlformats.org/officeDocument/2006/relationships/slide" Target="slides/slide13.xml" /><Relationship Id="rId15" Type="http://schemas.openxmlformats.org/officeDocument/2006/relationships/slide" Target="slides/slide14.xml" /><Relationship Id="rId16" Type="http://schemas.openxmlformats.org/officeDocument/2006/relationships/slide" Target="slides/slide15.xml" /><Relationship Id="rId17" Type="http://schemas.openxmlformats.org/officeDocument/2006/relationships/slide" Target="slides/slide16.xml" /><Relationship Id="rId18" Type="http://schemas.openxmlformats.org/officeDocument/2006/relationships/slide" Target="slides/slide17.xml" /><Relationship Id="rId19" Type="http://schemas.openxmlformats.org/officeDocument/2006/relationships/slide" Target="slides/slide18.xml" /><Relationship Id="rId20" Type="http://schemas.openxmlformats.org/officeDocument/2006/relationships/slide" Target="slides/slide19.xml" /><Relationship Id="rId21" Type="http://schemas.openxmlformats.org/officeDocument/2006/relationships/slide" Target="slides/slide20.xml" /><Relationship Id="rId22" Type="http://schemas.openxmlformats.org/officeDocument/2006/relationships/slide" Target="slides/slide21.xml" /><Relationship Id="rId23" Type="http://schemas.openxmlformats.org/officeDocument/2006/relationships/slide" Target="slides/slide22.xml" /><Relationship Id="rId24" Type="http://schemas.openxmlformats.org/officeDocument/2006/relationships/slide" Target="slides/slide23.xml" /><Relationship Id="rId25" Type="http://schemas.openxmlformats.org/officeDocument/2006/relationships/slide" Target="slides/slide24.xml" /><Relationship Id="rId27" Type="http://schemas.openxmlformats.org/officeDocument/2006/relationships/viewProps" Target="viewProps.xml" /><Relationship Id="rId26" Type="http://schemas.openxmlformats.org/officeDocument/2006/relationships/presProps" Target="presProps.xml" /><Relationship Id="rId1" Type="http://schemas.openxmlformats.org/officeDocument/2006/relationships/slideMaster" Target="slideMasters/slideMaster1.xml" /><Relationship Id="rId29" Type="http://schemas.openxmlformats.org/officeDocument/2006/relationships/tableStyles" Target="tableStyles.xml" /><Relationship Id="rId28" Type="http://schemas.openxmlformats.org/officeDocument/2006/relationships/theme" Target="theme/theme1.xml" 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>
            <a:lvl1pPr>
              <a:defRPr baseline="0">
                <a:latin typeface="Lato Semibold" panose="020F0502020204030203" pitchFamily="34" charset="0"/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2914650"/>
            <a:ext cx="6400800" cy="131445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3429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685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0287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17145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057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4003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241EB5C9-1307-BA42-ABA2-0BC069CD8E7F}" type="datetimeFigureOut">
              <a:rPr lang="en-US" smtClean="0"/>
              <a:t>2/24/25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435751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284309" y="960504"/>
            <a:ext cx="8552330" cy="3977017"/>
          </a:xfrm>
        </p:spPr>
        <p:txBody>
          <a:bodyPr/>
          <a:lstStyle>
            <a:lvl1pPr marL="228600" indent="-228600">
              <a:tabLst/>
              <a:defRPr sz="2800"/>
            </a:lvl1pPr>
            <a:lvl2pPr>
              <a:defRPr sz="2800"/>
            </a:lvl2pPr>
            <a:lvl3pPr>
              <a:defRPr sz="2400"/>
            </a:lvl3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</p:spTree>
    <p:extLst>
      <p:ext uri="{BB962C8B-B14F-4D97-AF65-F5344CB8AC3E}">
        <p14:creationId xmlns:p14="http://schemas.microsoft.com/office/powerpoint/2010/main" val="338346009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1620" userDrawn="1">
          <p15:clr>
            <a:srgbClr val="FBAE40"/>
          </p15:clr>
        </p15:guide>
        <p15:guide id="2" pos="2880" userDrawn="1">
          <p15:clr>
            <a:srgbClr val="FBAE40"/>
          </p15:clr>
        </p15:guide>
      </p15:sldGuideLst>
    </p:ext>
  </p:extLst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 anchor="t"/>
          <a:lstStyle>
            <a:lvl1pPr algn="l">
              <a:defRPr sz="3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180035"/>
            <a:ext cx="7772400" cy="1125140"/>
          </a:xfrm>
        </p:spPr>
        <p:txBody>
          <a:bodyPr anchor="b"/>
          <a:lstStyle>
            <a:lvl1pPr marL="0" indent="0">
              <a:buNone/>
              <a:defRPr sz="15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241EB5C9-1307-BA42-ABA2-0BC069CD8E7F}" type="datetimeFigureOut">
              <a:rPr lang="en-US" smtClean="0"/>
              <a:t>2/24/25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306907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315045" y="1200151"/>
            <a:ext cx="4180755" cy="3737370"/>
          </a:xfrm>
        </p:spPr>
        <p:txBody>
          <a:bodyPr/>
          <a:lstStyle>
            <a:lvl1pPr marL="174625" indent="-174625">
              <a:tabLst/>
              <a:defRPr sz="2800" baseline="0">
                <a:latin typeface="Lato Medium" panose="020F0502020204030203" pitchFamily="34" charset="0"/>
              </a:defRPr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199" y="1200151"/>
            <a:ext cx="4196123" cy="3737370"/>
          </a:xfrm>
        </p:spPr>
        <p:txBody>
          <a:bodyPr/>
          <a:lstStyle>
            <a:lvl1pPr marL="174625" indent="-174625">
              <a:tabLst/>
              <a:defRPr sz="2800" baseline="0">
                <a:latin typeface="Lato Medium" panose="020F0502020204030203" pitchFamily="34" charset="0"/>
              </a:defRPr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</p:spTree>
    <p:extLst>
      <p:ext uri="{BB962C8B-B14F-4D97-AF65-F5344CB8AC3E}">
        <p14:creationId xmlns:p14="http://schemas.microsoft.com/office/powerpoint/2010/main" val="261988624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151335"/>
            <a:ext cx="4040188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1631156"/>
            <a:ext cx="4040188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6" y="1151335"/>
            <a:ext cx="4041775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6" y="1631156"/>
            <a:ext cx="4041775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241EB5C9-1307-BA42-ABA2-0BC069CD8E7F}" type="datetimeFigureOut">
              <a:rPr lang="en-US" smtClean="0"/>
              <a:t>2/24/25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579396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 baseline="0">
                <a:latin typeface="Lato Semibold" panose="020F0502020204030203" pitchFamily="34" charset="0"/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241EB5C9-1307-BA42-ABA2-0BC069CD8E7F}" type="datetimeFigureOut">
              <a:rPr lang="en-US" smtClean="0"/>
              <a:t>2/24/25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272125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241EB5C9-1307-BA42-ABA2-0BC069CD8E7F}" type="datetimeFigureOut">
              <a:rPr lang="en-US" smtClean="0"/>
              <a:t>2/24/25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3090109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1" y="204787"/>
            <a:ext cx="3008313" cy="871538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04788"/>
            <a:ext cx="5111750" cy="4389835"/>
          </a:xfrm>
        </p:spPr>
        <p:txBody>
          <a:bodyPr/>
          <a:lstStyle>
            <a:lvl1pPr>
              <a:defRPr sz="2400"/>
            </a:lvl1pPr>
            <a:lvl2pPr>
              <a:defRPr sz="2100"/>
            </a:lvl2pPr>
            <a:lvl3pPr>
              <a:defRPr sz="1800"/>
            </a:lvl3pPr>
            <a:lvl4pPr>
              <a:defRPr sz="1500"/>
            </a:lvl4pPr>
            <a:lvl5pPr>
              <a:defRPr sz="15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1" y="1076326"/>
            <a:ext cx="3008313" cy="351829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241EB5C9-1307-BA42-ABA2-0BC069CD8E7F}" type="datetimeFigureOut">
              <a:rPr lang="en-US" smtClean="0"/>
              <a:t>2/24/25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08956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3600450"/>
            <a:ext cx="5486400" cy="425054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459581"/>
            <a:ext cx="5486400" cy="3086100"/>
          </a:xfrm>
        </p:spPr>
        <p:txBody>
          <a:bodyPr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4025503"/>
            <a:ext cx="5486400" cy="60364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241EB5C9-1307-BA42-ABA2-0BC069CD8E7F}" type="datetimeFigureOut">
              <a:rPr lang="en-US" smtClean="0"/>
              <a:t>2/24/25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689985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241EB5C9-1307-BA42-ABA2-0BC069CD8E7F}" type="datetimeFigureOut">
              <a:rPr lang="en-US" smtClean="0"/>
              <a:t>2/24/25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9147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241EB5C9-1307-BA42-ABA2-0BC069CD8E7F}" type="datetimeFigureOut">
              <a:rPr lang="en-US" smtClean="0"/>
              <a:t>2/24/25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1529045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1_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241EB5C9-1307-BA42-ABA2-0BC069CD8E7F}" type="datetimeFigureOut">
              <a:rPr lang="en-US" smtClean="0"/>
              <a:t>2/24/25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  <p:graphicFrame>
        <p:nvGraphicFramePr>
          <p:cNvPr id="7" name="Table 6">
            <a:extLst>
              <a:ext uri="{FF2B5EF4-FFF2-40B4-BE49-F238E27FC236}">
                <a16:creationId xmlns:a16="http://schemas.microsoft.com/office/drawing/2014/main" id="{40E5F148-B214-9ED5-96D2-C8C952B333EC}"/>
              </a:ext>
            </a:extLst>
          </p:cNvPr>
          <p:cNvGraphicFramePr>
            <a:graphicFrameLocks noGrp="1"/>
          </p:cNvGraphicFramePr>
          <p:nvPr userDrawn="1">
            <p:extLst>
              <p:ext uri="{D42A27DB-BD31-4B8C-83A1-F6EECF244321}">
                <p14:modId xmlns:p14="http://schemas.microsoft.com/office/powerpoint/2010/main" val="1121345573"/>
              </p:ext>
            </p:extLst>
          </p:nvPr>
        </p:nvGraphicFramePr>
        <p:xfrm>
          <a:off x="1524000" y="539750"/>
          <a:ext cx="6096000" cy="914400"/>
        </p:xfrm>
        <a:graphic>
          <a:graphicData uri="http://schemas.openxmlformats.org/drawingml/2006/table">
            <a:tbl>
              <a:tblPr firstRow="1" bandRow="1">
                <a:tableStyleId>{69012ECD-51FC-41F1-AA8D-1B2483CD663E}</a:tableStyleId>
              </a:tblPr>
              <a:tblGrid>
                <a:gridCol w="2032000">
                  <a:extLst>
                    <a:ext uri="{9D8B030D-6E8A-4147-A177-3AD203B41FA5}">
                      <a16:colId xmlns:a16="http://schemas.microsoft.com/office/drawing/2014/main" val="271011269"/>
                    </a:ext>
                  </a:extLst>
                </a:gridCol>
                <a:gridCol w="2032000">
                  <a:extLst>
                    <a:ext uri="{9D8B030D-6E8A-4147-A177-3AD203B41FA5}">
                      <a16:colId xmlns:a16="http://schemas.microsoft.com/office/drawing/2014/main" val="2080703046"/>
                    </a:ext>
                  </a:extLst>
                </a:gridCol>
                <a:gridCol w="2032000">
                  <a:extLst>
                    <a:ext uri="{9D8B030D-6E8A-4147-A177-3AD203B41FA5}">
                      <a16:colId xmlns:a16="http://schemas.microsoft.com/office/drawing/2014/main" val="1138284043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endParaRPr lang="en-US" sz="24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sz="24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sz="240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769229322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endParaRPr lang="en-US" sz="24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sz="24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sz="24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84196425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2939788966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8" Target="../slideLayouts/slideLayout8.xml" Type="http://schemas.openxmlformats.org/officeDocument/2006/relationships/slideLayout" /><Relationship Id="rId13" Target="../theme/theme1.xml" Type="http://schemas.openxmlformats.org/officeDocument/2006/relationships/theme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12" Target="../slideLayouts/slideLayout12.xml" Type="http://schemas.openxmlformats.org/officeDocument/2006/relationships/slideLayout" /><Relationship Id="rId2" Target="../slideLayouts/slideLayout2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11" Target="../slideLayouts/slideLayout11.xml" Type="http://schemas.openxmlformats.org/officeDocument/2006/relationships/slideLayout" /><Relationship Id="rId5" Target="../slideLayouts/slideLayout5.xml" Type="http://schemas.openxmlformats.org/officeDocument/2006/relationships/slideLayout" /><Relationship Id="rId10" Target="../slideLayouts/slideLayout10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05979"/>
            <a:ext cx="8229600" cy="716105"/>
          </a:xfrm>
          <a:prstGeom prst="rect">
            <a:avLst/>
          </a:prstGeom>
        </p:spPr>
        <p:txBody>
          <a:bodyPr anchor="ctr" bIns="45720" lIns="91440" rIns="91440" rtlCol="0" tIns="45720" vert="horz">
            <a:normAutofit/>
          </a:bodyPr>
          <a:lstStyle/>
          <a:p>
            <a:r>
              <a:rPr dirty="0"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>
          <a:xfrm>
            <a:off x="457200" y="998924"/>
            <a:ext cx="8229600" cy="3938597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dirty="0" lang="en-US"/>
              <a:t>Click to edit Master text styles</a:t>
            </a:r>
          </a:p>
          <a:p>
            <a:pPr lvl="1"/>
            <a:r>
              <a:rPr dirty="0" lang="en-US"/>
              <a:t>Second level</a:t>
            </a:r>
          </a:p>
          <a:p>
            <a:pPr lvl="2"/>
            <a:r>
              <a:rPr dirty="0" lang="en-US"/>
              <a:t>Third level</a:t>
            </a:r>
          </a:p>
          <a:p>
            <a:pPr lvl="3"/>
            <a:r>
              <a:rPr dirty="0" lang="en-US"/>
              <a:t>Fourth level</a:t>
            </a:r>
          </a:p>
          <a:p>
            <a:pPr lvl="4"/>
            <a:r>
              <a:rPr dirty="0" lang="en-US"/>
              <a:t>Fifth level</a:t>
            </a:r>
          </a:p>
        </p:txBody>
      </p:sp>
    </p:spTree>
    <p:extLst>
      <p:ext uri="{BB962C8B-B14F-4D97-AF65-F5344CB8AC3E}">
        <p14:creationId xmlns:p14="http://schemas.microsoft.com/office/powerpoint/2010/main" val="3676200875"/>
      </p:ext>
    </p:extLst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  <p:sldLayoutId id="2147483660" r:id="rId12"/>
  </p:sldLayoutIdLst>
  <p:txStyles>
    <p:titleStyle>
      <a:lvl1pPr algn="ctr" defTabSz="342900" eaLnBrk="1" hangingPunct="1" latinLnBrk="0" rtl="0">
        <a:spcBef>
          <a:spcPct val="0"/>
        </a:spcBef>
        <a:buNone/>
        <a:defRPr baseline="0" kern="1200" sz="3300">
          <a:solidFill>
            <a:schemeClr val="tx1"/>
          </a:solidFill>
          <a:latin charset="0" panose="020F0502020204030203" pitchFamily="34" typeface="Lato Semibold"/>
          <a:ea typeface="+mj-ea"/>
          <a:cs typeface="+mj-cs"/>
        </a:defRPr>
      </a:lvl1pPr>
    </p:titleStyle>
    <p:bodyStyle>
      <a:lvl1pPr algn="l" defTabSz="342900" eaLnBrk="1" hangingPunct="1" indent="-342900" latinLnBrk="0" marL="342900" rtl="0">
        <a:spcBef>
          <a:spcPct val="20000"/>
        </a:spcBef>
        <a:buFont typeface="Arial"/>
        <a:buChar char="•"/>
        <a:defRPr baseline="0" kern="1200" sz="2400">
          <a:solidFill>
            <a:schemeClr val="tx1"/>
          </a:solidFill>
          <a:latin charset="0" panose="020F0502020204030203" pitchFamily="34" typeface="Lato Medium"/>
          <a:ea typeface="+mn-ea"/>
          <a:cs typeface="+mn-cs"/>
        </a:defRPr>
      </a:lvl1pPr>
      <a:lvl2pPr algn="l" defTabSz="342900" eaLnBrk="1" hangingPunct="1" indent="-342900" latinLnBrk="0" marL="685800" rtl="0">
        <a:spcBef>
          <a:spcPct val="20000"/>
        </a:spcBef>
        <a:buFont charset="0" panose="020B0604020202020204" pitchFamily="34" typeface="Arial"/>
        <a:buChar char="•"/>
        <a:defRPr baseline="0" kern="1200" sz="2400">
          <a:solidFill>
            <a:schemeClr val="tx1"/>
          </a:solidFill>
          <a:latin charset="0" panose="020F0502020204030203" pitchFamily="34" typeface="Lato Medium"/>
          <a:ea typeface="+mn-ea"/>
          <a:cs typeface="+mn-cs"/>
        </a:defRPr>
      </a:lvl2pPr>
      <a:lvl3pPr algn="l" defTabSz="342900" eaLnBrk="1" hangingPunct="1" indent="-342900" latinLnBrk="0" marL="1028700" rtl="0">
        <a:spcBef>
          <a:spcPct val="20000"/>
        </a:spcBef>
        <a:buFont typeface="Arial"/>
        <a:buChar char="•"/>
        <a:defRPr kern="1200" sz="240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indent="-342900" latinLnBrk="0" marL="1371600" rtl="0">
        <a:spcBef>
          <a:spcPct val="20000"/>
        </a:spcBef>
        <a:buFont typeface="Arial"/>
        <a:buChar char="–"/>
        <a:defRPr kern="1200" sz="240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indent="-342900" latinLnBrk="0" marL="1714500" rtl="0">
        <a:spcBef>
          <a:spcPct val="20000"/>
        </a:spcBef>
        <a:buFont typeface="Arial"/>
        <a:buChar char="»"/>
        <a:defRPr kern="1200" sz="150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indent="-342900" latinLnBrk="0" marL="20574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indent="-342900" latinLnBrk="0" marL="24003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indent="-342900" latinLnBrk="0" marL="27432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indent="-342900" latinLnBrk="0" marL="30861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342900" eaLnBrk="1" hangingPunct="1" latinLnBrk="0" marL="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latinLnBrk="0" marL="3429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latinLnBrk="0" marL="6858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latinLnBrk="0" marL="10287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latinLnBrk="0" marL="13716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latinLnBrk="0" marL="17145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latinLnBrk="0" marL="20574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latinLnBrk="0" marL="24003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latinLnBrk="0" marL="27432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9pPr>
    </p:otherStyle>
  </p:txStyles>
  <p:extLst>
    <p:ext uri="{27BBF7A9-308A-43DC-89C8-2F10F3537804}">
      <p15:sldGuideLst xmlns:p15="http://schemas.microsoft.com/office/powerpoint/2012/main">
        <p15:guide id="1" orient="horz" pos="1620" userDrawn="1">
          <p15:clr>
            <a:srgbClr val="F26B43"/>
          </p15:clr>
        </p15:guide>
        <p15:guide id="2" pos="2880" userDrawn="1">
          <p15:clr>
            <a:srgbClr val="F26B43"/>
          </p15:clr>
        </p15:guide>
      </p15:sldGuideLst>
    </p:ext>
  </p:extLst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 /></Relationships>
</file>

<file path=ppt/slides/_rels/slide2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.png" /></Relationships>
</file>

<file path=ppt/slides/_rels/slide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2.png" /></Relationships>
</file>

<file path=ppt/slides/_rels/slide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0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3.jpg" /></Relationships>
</file>

<file path=ppt/slides/_rels/slide11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4.png" /></Relationships>
</file>

<file path=ppt/slides/_rels/slide12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5.png" /></Relationships>
</file>

<file path=ppt/slides/_rels/slide13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6.png" /></Relationships>
</file>

<file path=ppt/slides/_rels/slide1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5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7.png" /></Relationships>
</file>

<file path=ppt/slides/_rels/slide16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8.jpg" /></Relationships>
</file>

<file path=ppt/slides/_rels/slide1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/>
          <a:p>
            <a:pPr lvl="0" indent="0" marL="0">
              <a:buNone/>
            </a:pPr>
            <a:r>
              <a:rPr/>
              <a:t>Stage IV Cancer of the Esophagus and GE Junction</a:t>
            </a:r>
          </a:p>
        </p:txBody>
      </p:sp>
    </p:spTree>
  </p:cSld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Anatomy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 sz="half"/>
              </p:nvPr>
            </p:nvSpPr>
            <p:spPr/>
            <p:txBody>
              <a:bodyPr/>
              <a:lstStyle/>
              <a:p>
                <a:pPr lvl="0" indent="0" marL="0">
                  <a:buNone/>
                </a:pPr>
                <a:r>
                  <a:rPr/>
                  <a:t>Food moves from the throat</a:t>
                </a:r>
              </a:p>
              <a:p>
                <a:pPr lvl="0" indent="0" marL="0">
                  <a:buNone/>
                </a:pPr>
                <a14:m>
                  <m:oMath xmlns:m="http://schemas.openxmlformats.org/officeDocument/2006/math">
                    <m:r>
                      <m:rPr>
                        <m:sty m:val="p"/>
                      </m:rPr>
                      <m:t>→</m:t>
                    </m:r>
                  </m:oMath>
                </a14:m>
                <a:r>
                  <a:rPr/>
                  <a:t> esophagus</a:t>
                </a:r>
              </a:p>
              <a:p>
                <a:pPr lvl="0" indent="0" marL="0">
                  <a:buNone/>
                </a:pPr>
                <a14:m>
                  <m:oMath xmlns:m="http://schemas.openxmlformats.org/officeDocument/2006/math">
                    <m:r>
                      <m:rPr>
                        <m:sty m:val="p"/>
                      </m:rPr>
                      <m:t>→</m:t>
                    </m:r>
                  </m:oMath>
                </a14:m>
                <a:r>
                  <a:rPr/>
                  <a:t> stomach</a:t>
                </a:r>
              </a:p>
              <a:p>
                <a:pPr lvl="0" indent="0" marL="0">
                  <a:buNone/>
                </a:pPr>
                <a14:m>
                  <m:oMath xmlns:m="http://schemas.openxmlformats.org/officeDocument/2006/math">
                    <m:r>
                      <m:rPr>
                        <m:sty m:val="p"/>
                      </m:rPr>
                      <m:t>→</m:t>
                    </m:r>
                  </m:oMath>
                </a14:m>
                <a:r>
                  <a:rPr/>
                  <a:t> small bowel (jejunum)</a:t>
                </a:r>
              </a:p>
            </p:txBody>
          </p:sp>
        </mc:Choice>
      </mc:AlternateContent>
      <p:pic>
        <p:nvPicPr>
          <p:cNvPr descr="images/Eso_Anatomy_Labels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914900" y="1193800"/>
            <a:ext cx="36322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Esophageal Cancer Staging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b="1"/>
              <a:t>T</a:t>
            </a:r>
            <a:r>
              <a:rPr/>
              <a:t> = Tumor - Depth of growth into the wall of the esophagus</a:t>
            </a:r>
          </a:p>
          <a:p>
            <a:pPr lvl="0"/>
            <a:r>
              <a:rPr b="1"/>
              <a:t>N</a:t>
            </a:r>
            <a:r>
              <a:rPr/>
              <a:t> = Nodes - Spread to the lymph nodes</a:t>
            </a:r>
          </a:p>
          <a:p>
            <a:pPr lvl="0"/>
            <a:r>
              <a:rPr b="1"/>
              <a:t>M</a:t>
            </a:r>
            <a:r>
              <a:rPr/>
              <a:t> = Metastasis - Spread to liver, lungs, or bone</a:t>
            </a:r>
          </a:p>
        </p:txBody>
      </p:sp>
    </p:spTree>
  </p:cSld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Metastatic Cancers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Metastatic cancers spread to other parts of the body</a:t>
            </a:r>
          </a:p>
          <a:p>
            <a:pPr lvl="0"/>
            <a:r>
              <a:rPr b="1"/>
              <a:t>M0</a:t>
            </a:r>
            <a:r>
              <a:rPr/>
              <a:t> cancers have not spread to other parts of the body</a:t>
            </a:r>
          </a:p>
          <a:p>
            <a:pPr lvl="0"/>
            <a:r>
              <a:rPr b="1"/>
              <a:t>M1</a:t>
            </a:r>
            <a:r>
              <a:rPr/>
              <a:t> cancers have spread lungs, liver, or bone</a:t>
            </a:r>
          </a:p>
          <a:p>
            <a:pPr lvl="0" indent="0" marL="0">
              <a:buNone/>
            </a:pPr>
            <a:r>
              <a:rPr/>
              <a:t>M1 cancers is also known as Stage 4</a:t>
            </a:r>
          </a:p>
        </p:txBody>
      </p:sp>
      <p:pic>
        <p:nvPicPr>
          <p:cNvPr descr="images/Eso_M_Stage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914900" y="1193800"/>
            <a:ext cx="36322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Treatment Plan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pPr lvl="0"/>
                <a:r>
                  <a:rPr/>
                  <a:t>Superficial (T1)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m:t>⇒</m:t>
                    </m:r>
                  </m:oMath>
                </a14:m>
                <a:r>
                  <a:rPr/>
                  <a:t> Endoscopic Therapy</a:t>
                </a:r>
              </a:p>
              <a:p>
                <a:pPr lvl="0"/>
                <a:r>
                  <a:rPr/>
                  <a:t>Localized (T1b/T2)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m:t>⇒</m:t>
                    </m:r>
                  </m:oMath>
                </a14:m>
                <a:r>
                  <a:rPr/>
                  <a:t> Surgery</a:t>
                </a:r>
              </a:p>
              <a:p>
                <a:pPr lvl="0"/>
                <a:r>
                  <a:rPr/>
                  <a:t>Locally-advanced (T3M0)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m:t>⇒</m:t>
                    </m:r>
                  </m:oMath>
                </a14:m>
                <a:r>
                  <a:rPr/>
                  <a:t> Chemo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m:t>±</m:t>
                    </m:r>
                  </m:oMath>
                </a14:m>
                <a:r>
                  <a:rPr/>
                  <a:t> Radiation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m:t>→</m:t>
                    </m:r>
                  </m:oMath>
                </a14:m>
                <a:r>
                  <a:rPr/>
                  <a:t>Surgery</a:t>
                </a:r>
              </a:p>
              <a:p>
                <a:pPr lvl="0"/>
                <a:r>
                  <a:rPr/>
                  <a:t>Metastatic (M1)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m:t>⇒</m:t>
                    </m:r>
                  </m:oMath>
                </a14:m>
                <a:r>
                  <a:rPr/>
                  <a:t> Systemic Therapy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m:t>±</m:t>
                    </m:r>
                  </m:oMath>
                </a14:m>
                <a:r>
                  <a:rPr/>
                  <a:t> Radiation</a:t>
                </a:r>
              </a:p>
            </p:txBody>
          </p:sp>
        </mc:Choice>
      </mc:AlternateContent>
    </p:spTree>
  </p:cSld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Systemic Therapy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Systemic therapy is administered intravenously (or by mouth) and circulates to kill cancer cells anywhere in the body.</a:t>
            </a:r>
          </a:p>
          <a:p>
            <a:pPr lvl="0"/>
            <a:r>
              <a:rPr/>
              <a:t>Chemotherapy (FOLFOX)</a:t>
            </a:r>
          </a:p>
          <a:p>
            <a:pPr lvl="0"/>
            <a:r>
              <a:rPr/>
              <a:t>Immunotherapy (nivolumab, pembrolizumab)</a:t>
            </a:r>
          </a:p>
          <a:p>
            <a:pPr lvl="0"/>
            <a:r>
              <a:rPr/>
              <a:t>Hormone therapy (herceptin)</a:t>
            </a:r>
          </a:p>
        </p:txBody>
      </p:sp>
    </p:spTree>
  </p:cSld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Goals of Therapy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Symptom control</a:t>
            </a:r>
          </a:p>
          <a:p>
            <a:pPr lvl="0"/>
            <a:r>
              <a:rPr/>
              <a:t>Prolong life</a:t>
            </a:r>
          </a:p>
          <a:p>
            <a:pPr lvl="0"/>
            <a:r>
              <a:rPr/>
              <a:t>Minimize symptoms due to treatment</a:t>
            </a:r>
          </a:p>
        </p:txBody>
      </p:sp>
    </p:spTree>
  </p:cSld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Systemic Therapy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By shrinking tumor and decreasing cancer burden</a:t>
            </a:r>
          </a:p>
          <a:p>
            <a:pPr lvl="0"/>
            <a:r>
              <a:rPr/>
              <a:t>Can improve symptoms</a:t>
            </a:r>
          </a:p>
          <a:p>
            <a:pPr lvl="0"/>
            <a:r>
              <a:rPr/>
              <a:t>Can prolong life</a:t>
            </a:r>
          </a:p>
          <a:p>
            <a:pPr lvl="0" indent="0" marL="0">
              <a:buNone/>
            </a:pPr>
            <a:r>
              <a:rPr/>
              <a:t>Goals:</a:t>
            </a:r>
          </a:p>
          <a:p>
            <a:pPr lvl="0"/>
            <a:r>
              <a:rPr/>
              <a:t>Maximize cancer shrinkage</a:t>
            </a:r>
          </a:p>
          <a:p>
            <a:pPr lvl="0"/>
            <a:r>
              <a:rPr/>
              <a:t>Minimize side-effects due to therapy</a:t>
            </a:r>
          </a:p>
        </p:txBody>
      </p:sp>
    </p:spTree>
  </p:cSld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Chemotherapy Administration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Most chemotherapy is administered by vein.</a:t>
            </a:r>
          </a:p>
          <a:p>
            <a:pPr lvl="0" indent="0" marL="0">
              <a:buNone/>
            </a:pPr>
            <a:r>
              <a:rPr/>
              <a:t>Several options exist to administer chemotherapy:</a:t>
            </a:r>
          </a:p>
          <a:p>
            <a:pPr lvl="0"/>
            <a:r>
              <a:rPr/>
              <a:t>Intravenous catheter in peripheral veins</a:t>
            </a:r>
          </a:p>
          <a:p>
            <a:pPr lvl="0"/>
            <a:r>
              <a:rPr/>
              <a:t>Peripheral Intravenous Central Catheter (PICC)</a:t>
            </a:r>
          </a:p>
          <a:p>
            <a:pPr lvl="0"/>
            <a:r>
              <a:rPr/>
              <a:t>Central Venous port</a:t>
            </a:r>
          </a:p>
        </p:txBody>
      </p:sp>
    </p:spTree>
  </p:cSld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Intravenous Catheter in Peripheral Vein (“IV”)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/>
              <a:t>IV catheter placed in vein of hand or arm</a:t>
            </a:r>
          </a:p>
          <a:p>
            <a:pPr lvl="0"/>
            <a:r>
              <a:rPr/>
              <a:t>Allows administration of chemo and fluids</a:t>
            </a:r>
          </a:p>
          <a:p>
            <a:pPr lvl="0"/>
            <a:r>
              <a:rPr/>
              <a:t>Placed for each dose</a:t>
            </a:r>
          </a:p>
          <a:p>
            <a:pPr lvl="0"/>
            <a:r>
              <a:rPr/>
              <a:t>Removed that day</a:t>
            </a:r>
          </a:p>
          <a:p>
            <a:pPr lvl="0"/>
            <a:r>
              <a:rPr/>
              <a:t>Not suitable for FLOT chemo</a:t>
            </a:r>
          </a:p>
        </p:txBody>
      </p:sp>
      <p:pic>
        <p:nvPicPr>
          <p:cNvPr descr="images/access_peripheral-venous-catheter-427167-7_960_720-pixabay.jpe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5334000" y="1193800"/>
            <a:ext cx="27940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Central Venous Port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/>
              <a:t>Implantable device makes chemo easier</a:t>
            </a:r>
          </a:p>
          <a:p>
            <a:pPr lvl="0"/>
            <a:r>
              <a:rPr/>
              <a:t>May shower in 24 hrs</a:t>
            </a:r>
          </a:p>
          <a:p>
            <a:pPr lvl="0"/>
            <a:r>
              <a:rPr/>
              <a:t>No special care at home</a:t>
            </a:r>
          </a:p>
          <a:p>
            <a:pPr lvl="0"/>
            <a:r>
              <a:rPr/>
              <a:t>OK for FLOT chemo</a:t>
            </a:r>
          </a:p>
          <a:p>
            <a:pPr lvl="0"/>
            <a:r>
              <a:rPr/>
              <a:t>Allows for blood draws</a:t>
            </a:r>
          </a:p>
        </p:txBody>
      </p:sp>
      <p:pic>
        <p:nvPicPr>
          <p:cNvPr descr="images/access_cv_port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914900" y="1193800"/>
            <a:ext cx="36322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Central Venous Port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/>
              <a:t>Implanted under skin</a:t>
            </a:r>
          </a:p>
          <a:p>
            <a:pPr lvl="0"/>
            <a:r>
              <a:rPr/>
              <a:t>Neck incision (1/4”)</a:t>
            </a:r>
          </a:p>
          <a:p>
            <a:pPr lvl="0"/>
            <a:r>
              <a:rPr/>
              <a:t>Incision below the collarbone</a:t>
            </a:r>
          </a:p>
          <a:p>
            <a:pPr lvl="0"/>
            <a:r>
              <a:rPr/>
              <a:t>Sutures dissolve</a:t>
            </a:r>
          </a:p>
          <a:p>
            <a:pPr lvl="0"/>
            <a:r>
              <a:rPr/>
              <a:t>“Superglue” on incisions</a:t>
            </a:r>
          </a:p>
        </p:txBody>
      </p:sp>
      <p:pic>
        <p:nvPicPr>
          <p:cNvPr descr="images/access_cv_port_1700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864100" y="1193800"/>
            <a:ext cx="37338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Central Venous Port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When it is time for chemotherapy, a needle is inserted through the skin into the port</a:t>
            </a:r>
          </a:p>
        </p:txBody>
      </p:sp>
      <p:pic>
        <p:nvPicPr>
          <p:cNvPr descr="images/access_cv_port_detail_1700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864100" y="1193800"/>
            <a:ext cx="37338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Radiation Therapy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Radiation uses high-energy x-rays to kill cancer cells</a:t>
            </a:r>
          </a:p>
          <a:p>
            <a:pPr lvl="0"/>
            <a:r>
              <a:rPr/>
              <a:t>Bone metastasis: Can relieve pain</a:t>
            </a:r>
          </a:p>
          <a:p>
            <a:pPr lvl="0"/>
            <a:r>
              <a:rPr/>
              <a:t>Esophagus: Can shrink tumor and improve eating</a:t>
            </a:r>
          </a:p>
        </p:txBody>
      </p:sp>
    </p:spTree>
  </p:cSld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Endoluminal Stent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An endoluminal stent can be placed inside an esophageal cancer to improve eating</a:t>
            </a:r>
          </a:p>
        </p:txBody>
      </p:sp>
      <p:pic>
        <p:nvPicPr>
          <p:cNvPr descr="images/wallflex_eso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864100" y="1193800"/>
            <a:ext cx="37338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Endoluminal Stent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An endoluminal stent can be placed inside an esophageal cancer to improve eating</a:t>
            </a:r>
          </a:p>
        </p:txBody>
      </p:sp>
      <p:pic>
        <p:nvPicPr>
          <p:cNvPr descr="images/nci_stent_433292.jp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635500" y="1231900"/>
            <a:ext cx="4191000" cy="36576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Endoluminal Stents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Advantages:</a:t>
            </a:r>
          </a:p>
          <a:p>
            <a:pPr lvl="0"/>
            <a:r>
              <a:rPr/>
              <a:t>Outpatient endoscopic procedure (no surgery)</a:t>
            </a:r>
          </a:p>
          <a:p>
            <a:pPr lvl="0"/>
            <a:r>
              <a:rPr/>
              <a:t>Can improve swallowing</a:t>
            </a:r>
          </a:p>
          <a:p>
            <a:pPr lvl="0" indent="0" marL="0">
              <a:buNone/>
            </a:pPr>
            <a:r>
              <a:rPr/>
              <a:t>Disadvantages:</a:t>
            </a:r>
          </a:p>
          <a:p>
            <a:pPr lvl="0"/>
            <a:r>
              <a:rPr/>
              <a:t>Discomfort and reflux</a:t>
            </a:r>
          </a:p>
          <a:p>
            <a:pPr lvl="0"/>
            <a:r>
              <a:rPr/>
              <a:t>Can make surgery to remove esophagus more complicated</a:t>
            </a:r>
          </a:p>
        </p:txBody>
      </p:sp>
    </p:spTree>
  </p:cSld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Radiation Therapy - Esophagus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Radiation therapy to the esophagus can improve swallowing. There are two approaches:</a:t>
            </a:r>
          </a:p>
          <a:p>
            <a:pPr lvl="0" indent="0" marL="0">
              <a:buNone/>
            </a:pPr>
            <a:r>
              <a:rPr b="1"/>
              <a:t>Short Course</a:t>
            </a:r>
          </a:p>
          <a:p>
            <a:pPr lvl="0"/>
            <a:r>
              <a:rPr/>
              <a:t>10 treatments over 2 weeks</a:t>
            </a:r>
          </a:p>
          <a:p>
            <a:pPr lvl="0" indent="0" marL="0">
              <a:buNone/>
            </a:pPr>
            <a:r>
              <a:rPr b="1"/>
              <a:t>Conventional Dosing</a:t>
            </a:r>
          </a:p>
          <a:p>
            <a:pPr lvl="0"/>
            <a:r>
              <a:rPr/>
              <a:t>25-30 treatment over 5-6 weeks</a:t>
            </a:r>
          </a:p>
          <a:p>
            <a:pPr lvl="0"/>
            <a:r>
              <a:rPr/>
              <a:t>Usually combined with low-dose chemo</a:t>
            </a:r>
          </a:p>
        </p:txBody>
      </p:sp>
    </p:spTree>
  </p:cSld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Radiation Therapy - Bone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For patients with metastasis to bone causing pain</a:t>
            </a:r>
          </a:p>
          <a:p>
            <a:pPr lvl="0"/>
            <a:r>
              <a:rPr/>
              <a:t>Radiation can provide pain relief</a:t>
            </a:r>
          </a:p>
          <a:p>
            <a:pPr lvl="0"/>
            <a:r>
              <a:rPr/>
              <a:t>Typically 10 daily treatments over two weeks</a:t>
            </a:r>
          </a:p>
        </p:txBody>
      </p:sp>
    </p:spTree>
  </p:cSld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Primary Care Practitioner (PCP)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Critical to coordinate care between specialists.</a:t>
            </a:r>
          </a:p>
          <a:p>
            <a:pPr lvl="0" indent="0" marL="0">
              <a:buNone/>
            </a:pPr>
            <a:r>
              <a:rPr/>
              <a:t>We will update your PCP after each visit</a:t>
            </a:r>
          </a:p>
          <a:p>
            <a:pPr lvl="0" indent="0" marL="0">
              <a:buNone/>
            </a:pPr>
            <a:r>
              <a:rPr/>
              <a:t>PCP Referral Line (844) 235-6998</a:t>
            </a:r>
          </a:p>
        </p:txBody>
      </p:sp>
    </p:spTree>
  </p:cSld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My Atrium Patient Portal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Critical to good communication with your care team</a:t>
            </a:r>
          </a:p>
          <a:p>
            <a:pPr lvl="0"/>
            <a:r>
              <a:rPr/>
              <a:t>Available for desktop or laptop or phone</a:t>
            </a:r>
          </a:p>
          <a:p>
            <a:pPr lvl="0"/>
            <a:r>
              <a:rPr/>
              <a:t>Sign up at my.atriumhealth.org</a:t>
            </a:r>
          </a:p>
        </p:txBody>
      </p:sp>
    </p:spTree>
  </p:cSld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Exercise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Reduces risk of complications from treatment</a:t>
            </a:r>
          </a:p>
          <a:p>
            <a:pPr lvl="0"/>
            <a:r>
              <a:rPr/>
              <a:t>Goal is 30min/day of vigorous exercise 6 days/wk</a:t>
            </a:r>
          </a:p>
          <a:p>
            <a:pPr lvl="1"/>
            <a:r>
              <a:rPr/>
              <a:t>Working hard enough that you can’t converse</a:t>
            </a:r>
          </a:p>
          <a:p>
            <a:pPr lvl="1"/>
            <a:r>
              <a:rPr/>
              <a:t>Start slowly and build up</a:t>
            </a:r>
          </a:p>
          <a:p>
            <a:pPr lvl="1"/>
            <a:r>
              <a:rPr/>
              <a:t>Every day counts! (Aim for daily activity)</a:t>
            </a:r>
          </a:p>
        </p:txBody>
      </p:sp>
    </p:spTree>
  </p:cSld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Smoking Cessation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Smoking makes cancer treatment more difficult</a:t>
            </a:r>
          </a:p>
          <a:p>
            <a:pPr lvl="1"/>
            <a:r>
              <a:rPr/>
              <a:t>Increases risk of complications after surgery</a:t>
            </a:r>
          </a:p>
          <a:p>
            <a:pPr lvl="0"/>
            <a:r>
              <a:rPr/>
              <a:t>Options for help with smoking cessation:</a:t>
            </a:r>
          </a:p>
          <a:p>
            <a:pPr lvl="1"/>
            <a:r>
              <a:rPr/>
              <a:t>NC Quit Line 1-800-QUIT-NOW (1-800-784-8669)</a:t>
            </a:r>
          </a:p>
          <a:p>
            <a:pPr lvl="1"/>
            <a:r>
              <a:rPr/>
              <a:t>American Lung Assn www.freedomfromsmoking.org</a:t>
            </a:r>
          </a:p>
          <a:p>
            <a:pPr lvl="1"/>
            <a:r>
              <a:rPr/>
              <a:t>Smoking Cessation Counseling (Metro Charlotte)</a:t>
            </a:r>
          </a:p>
        </p:txBody>
      </p:sp>
    </p:spTree>
  </p:cSld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Hospice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Hospice provides end-of-life care for patients whose priority is treatment of symptoms rather than systemic therapy of the cancer.</a:t>
            </a:r>
          </a:p>
          <a:p>
            <a:pPr lvl="0"/>
            <a:r>
              <a:rPr/>
              <a:t>Usually provided in the home</a:t>
            </a:r>
          </a:p>
          <a:p>
            <a:pPr lvl="0"/>
            <a:r>
              <a:rPr/>
              <a:t>Residential hospice is available as an alternative</a:t>
            </a:r>
          </a:p>
          <a:p>
            <a:pPr lvl="0"/>
            <a:r>
              <a:rPr/>
              <a:t>Hospice team manages symptoms including pain managemnt</a:t>
            </a:r>
          </a:p>
        </p:txBody>
      </p:sp>
    </p:spTree>
  </p:cSld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13868</TotalTime>
  <Words>42</Words>
  <Application>Microsoft Macintosh PowerPoint</Application>
  <PresentationFormat>On-screen Show (16:9)</PresentationFormat>
  <Paragraphs>13</Paragraphs>
  <Slides>4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4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9" baseType="lpstr">
      <vt:lpstr>Arial</vt:lpstr>
      <vt:lpstr>Calibri</vt:lpstr>
      <vt:lpstr>Lato Medium</vt:lpstr>
      <vt:lpstr>Lato Semibold</vt:lpstr>
      <vt:lpstr>Office Theme</vt:lpstr>
      <vt:lpstr>Presentation Title</vt:lpstr>
      <vt:lpstr>Slide Title</vt:lpstr>
      <vt:lpstr>Section header</vt:lpstr>
      <vt:lpstr>Slide Title for Two-Content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Stage IV Cancer of the Esophagus and GE Junction</dc:title>
  <dc:creator/>
  <cp:keywords/>
  <dcterms:created xsi:type="dcterms:W3CDTF">2026-05-28T11:19:27Z</dcterms:created>
  <dcterms:modified xsi:type="dcterms:W3CDTF">2026-05-28T11:19:27Z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biblio-config">
    <vt:lpwstr>True</vt:lpwstr>
  </property>
  <property fmtid="{D5CDD505-2E9C-101B-9397-08002B2CF9AE}" pid="3" name="bibliography">
    <vt:lpwstr>zotero.bib</vt:lpwstr>
  </property>
  <property fmtid="{D5CDD505-2E9C-101B-9397-08002B2CF9AE}" pid="4" name="editor">
    <vt:lpwstr>visual</vt:lpwstr>
  </property>
  <property fmtid="{D5CDD505-2E9C-101B-9397-08002B2CF9AE}" pid="5" name="engines">
    <vt:lpwstr/>
  </property>
  <property fmtid="{D5CDD505-2E9C-101B-9397-08002B2CF9AE}" pid="6" name="header-includes">
    <vt:lpwstr/>
  </property>
  <property fmtid="{D5CDD505-2E9C-101B-9397-08002B2CF9AE}" pid="7" name="include-after">
    <vt:lpwstr/>
  </property>
  <property fmtid="{D5CDD505-2E9C-101B-9397-08002B2CF9AE}" pid="8" name="include-before">
    <vt:lpwstr/>
  </property>
  <property fmtid="{D5CDD505-2E9C-101B-9397-08002B2CF9AE}" pid="9" name="labels">
    <vt:lpwstr/>
  </property>
  <property fmtid="{D5CDD505-2E9C-101B-9397-08002B2CF9AE}" pid="10" name="toc-title">
    <vt:lpwstr>Table of contents</vt:lpwstr>
  </property>
</Properties>
</file>