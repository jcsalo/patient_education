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Stage IV Cancer of the Esophagus and GE Junction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Esophageal 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 of the esophagus</a:t>
            </a:r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Metastatic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Metastatic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 to other parts of the body</a:t>
            </a:r>
          </a:p>
          <a:p>
            <a:pPr lvl="0"/>
            <a:r>
              <a:rPr b="1"/>
              <a:t>M1</a:t>
            </a:r>
            <a:r>
              <a:rPr/>
              <a:t> cancers have spread lungs, liver, or bone</a:t>
            </a:r>
          </a:p>
          <a:p>
            <a:pPr lvl="0" indent="0" marL="0">
              <a:buNone/>
            </a:pPr>
            <a:r>
              <a:rPr/>
              <a:t>M1 cancers is also known as Stage 4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Superficial (T1)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Endoscopic Therapy</a:t>
                </a:r>
              </a:p>
              <a:p>
                <a:pPr lvl="0"/>
                <a:r>
                  <a:rPr/>
                  <a:t>Localized (T1b/T2)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Locally-advanced (T3M0)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/>
                <a:r>
                  <a:rPr/>
                  <a:t>Metastatic (M1)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Systemic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 Radiation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Systemic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Systemic therapy is administered intravenously (or by mouth) and circulates to kill cancer cells anywhere in the body.</a:t>
            </a:r>
          </a:p>
          <a:p>
            <a:pPr lvl="0"/>
            <a:r>
              <a:rPr/>
              <a:t>Chemotherapy (FOLFOX)</a:t>
            </a:r>
          </a:p>
          <a:p>
            <a:pPr lvl="0"/>
            <a:r>
              <a:rPr/>
              <a:t>Immunotherapy (nivolumab, pembrolizumab)</a:t>
            </a:r>
          </a:p>
          <a:p>
            <a:pPr lvl="0"/>
            <a:r>
              <a:rPr/>
              <a:t>Hormone therapy (herceptin)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Symptom control</a:t>
            </a:r>
          </a:p>
          <a:p>
            <a:pPr lvl="0"/>
            <a:r>
              <a:rPr/>
              <a:t>Prolong life</a:t>
            </a:r>
          </a:p>
          <a:p>
            <a:pPr lvl="0"/>
            <a:r>
              <a:rPr/>
              <a:t>Minimize symptoms due to treatment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Systemic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shrinking tumor and decreasing cancer burden</a:t>
            </a:r>
          </a:p>
          <a:p>
            <a:pPr lvl="0"/>
            <a:r>
              <a:rPr/>
              <a:t>Can improve symptoms</a:t>
            </a:r>
          </a:p>
          <a:p>
            <a:pPr lvl="0"/>
            <a:r>
              <a:rPr/>
              <a:t>Can prolong life</a:t>
            </a:r>
          </a:p>
          <a:p>
            <a:pPr lvl="0" indent="0" marL="0">
              <a:buNone/>
            </a:pPr>
            <a:r>
              <a:rPr/>
              <a:t>Goals:</a:t>
            </a:r>
          </a:p>
          <a:p>
            <a:pPr lvl="0"/>
            <a:r>
              <a:rPr/>
              <a:t>Maximize cancer shrinkage</a:t>
            </a:r>
          </a:p>
          <a:p>
            <a:pPr lvl="0"/>
            <a:r>
              <a:rPr/>
              <a:t>Minimize side-effects due to therapy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Radiation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Radiation uses high-energy x-rays to kill cancer cells</a:t>
            </a:r>
          </a:p>
          <a:p>
            <a:pPr lvl="0"/>
            <a:r>
              <a:rPr/>
              <a:t>Bone metastasis: Can relieve pain</a:t>
            </a:r>
          </a:p>
          <a:p>
            <a:pPr lvl="0"/>
            <a:r>
              <a:rPr/>
              <a:t>Esophagus: Can shrink tumor and improve eating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Endoluminal 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endoluminal stent can be placed inside an esophageal cancer to improve eating</a:t>
            </a:r>
          </a:p>
        </p:txBody>
      </p:sp>
      <p:pic>
        <p:nvPicPr>
          <p:cNvPr descr="images/wallflex_es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Endoluminal 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endoluminal stent can be placed inside an esophageal cancer to improve eating</a:t>
            </a:r>
          </a:p>
        </p:txBody>
      </p:sp>
      <p:pic>
        <p:nvPicPr>
          <p:cNvPr descr="images/nci_stent_43329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231900"/>
            <a:ext cx="41910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Endoluminal Stents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Advantages:</a:t>
            </a:r>
          </a:p>
          <a:p>
            <a:pPr lvl="0"/>
            <a:r>
              <a:rPr/>
              <a:t>Outpatient endoscopic procedure (no surgery)</a:t>
            </a:r>
          </a:p>
          <a:p>
            <a:pPr lvl="0"/>
            <a:r>
              <a:rPr/>
              <a:t>Can improve swallowing</a:t>
            </a:r>
          </a:p>
          <a:p>
            <a:pPr lvl="0" indent="0" marL="0">
              <a:buNone/>
            </a:pPr>
            <a:r>
              <a:rPr/>
              <a:t>Disadvantages:</a:t>
            </a:r>
          </a:p>
          <a:p>
            <a:pPr lvl="0"/>
            <a:r>
              <a:rPr/>
              <a:t>Discomfort and reflux</a:t>
            </a:r>
          </a:p>
          <a:p>
            <a:pPr lvl="0"/>
            <a:r>
              <a:rPr/>
              <a:t>Can make surgery to remove esophagus more complicated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Radiation Therapy - Esophagus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Radiation therapy to the esophagus can improve swallowing. There are two approaches:</a:t>
            </a:r>
          </a:p>
          <a:p>
            <a:pPr lvl="0" indent="0" marL="0">
              <a:buNone/>
            </a:pPr>
            <a:r>
              <a:rPr b="1"/>
              <a:t>Short Course</a:t>
            </a:r>
          </a:p>
          <a:p>
            <a:pPr lvl="0"/>
            <a:r>
              <a:rPr/>
              <a:t>10 treatments over 2 weeks</a:t>
            </a:r>
          </a:p>
          <a:p>
            <a:pPr lvl="0" indent="0" marL="0">
              <a:buNone/>
            </a:pPr>
            <a:r>
              <a:rPr b="1"/>
              <a:t>Conventional Dosing</a:t>
            </a:r>
          </a:p>
          <a:p>
            <a:pPr lvl="0"/>
            <a:r>
              <a:rPr/>
              <a:t>25-30 treatment over 5-6 weeks</a:t>
            </a:r>
          </a:p>
          <a:p>
            <a:pPr lvl="0"/>
            <a:r>
              <a:rPr/>
              <a:t>Usually combined with low-dose chemo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Radiation Therapy - 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metastasis to bone causing pain</a:t>
            </a:r>
          </a:p>
          <a:p>
            <a:pPr lvl="0"/>
            <a:r>
              <a:rPr/>
              <a:t>Radiation can provide pain relief</a:t>
            </a:r>
          </a:p>
          <a:p>
            <a:pPr lvl="0"/>
            <a:r>
              <a:rPr/>
              <a:t>Typically 10 daily treatments over two weeks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Hospice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Hospice provides end-of-life care for patients whose priority is treatment of symptoms rather than systemic therapy of the cancer.</a:t>
            </a:r>
          </a:p>
          <a:p>
            <a:pPr lvl="0"/>
            <a:r>
              <a:rPr/>
              <a:t>Usually provided in the home</a:t>
            </a:r>
          </a:p>
          <a:p>
            <a:pPr lvl="0"/>
            <a:r>
              <a:rPr/>
              <a:t>Residential hospice is available as an alternative</a:t>
            </a:r>
          </a:p>
          <a:p>
            <a:pPr lvl="0"/>
            <a:r>
              <a:rPr/>
              <a:t>Hospice team manages symptoms including pain managemnt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IV Cancer of the Esophagus and GE Junction</dc:title>
  <dc:creator/>
  <cp:keywords/>
  <dcterms:created xsi:type="dcterms:W3CDTF">2026-09-23T11:35:33Z</dcterms:created>
  <dcterms:modified xsi:type="dcterms:W3CDTF">2026-09-23T11:35:33Z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