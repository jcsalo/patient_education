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slide" Target="slides/slide63.xml" /><Relationship Id="rId65" Type="http://schemas.openxmlformats.org/officeDocument/2006/relationships/slide" Target="slides/slide64.xml" /><Relationship Id="rId66" Type="http://schemas.openxmlformats.org/officeDocument/2006/relationships/slide" Target="slides/slide65.xml" /><Relationship Id="rId67" Type="http://schemas.openxmlformats.org/officeDocument/2006/relationships/slide" Target="slides/slide66.xml" /><Relationship Id="rId68" Type="http://schemas.openxmlformats.org/officeDocument/2006/relationships/slide" Target="slides/slide67.xml" /><Relationship Id="rId69" Type="http://schemas.openxmlformats.org/officeDocument/2006/relationships/slide" Target="slides/slide68.xml" /><Relationship Id="rId70" Type="http://schemas.openxmlformats.org/officeDocument/2006/relationships/slide" Target="slides/slide69.xml" /><Relationship Id="rId71" Type="http://schemas.openxmlformats.org/officeDocument/2006/relationships/slide" Target="slides/slide70.xml" /><Relationship Id="rId72" Type="http://schemas.openxmlformats.org/officeDocument/2006/relationships/slide" Target="slides/slide71.xml" /><Relationship Id="rId73" Type="http://schemas.openxmlformats.org/officeDocument/2006/relationships/slide" Target="slides/slide72.xml" /><Relationship Id="rId74" Type="http://schemas.openxmlformats.org/officeDocument/2006/relationships/slide" Target="slides/slide73.xml" /><Relationship Id="rId75" Type="http://schemas.openxmlformats.org/officeDocument/2006/relationships/slide" Target="slides/slide74.xml" /><Relationship Id="rId76" Type="http://schemas.openxmlformats.org/officeDocument/2006/relationships/slide" Target="slides/slide75.xml" /><Relationship Id="rId77" Type="http://schemas.openxmlformats.org/officeDocument/2006/relationships/slide" Target="slides/slide76.xml" /><Relationship Id="rId78" Type="http://schemas.openxmlformats.org/officeDocument/2006/relationships/slide" Target="slides/slide77.xml" /><Relationship Id="rId79" Type="http://schemas.openxmlformats.org/officeDocument/2006/relationships/slide" Target="slides/slide78.xml" /><Relationship Id="rId80" Type="http://schemas.openxmlformats.org/officeDocument/2006/relationships/slide" Target="slides/slide79.xml" /><Relationship Id="rId81" Type="http://schemas.openxmlformats.org/officeDocument/2006/relationships/slide" Target="slides/slide80.xml" /><Relationship Id="rId82" Type="http://schemas.openxmlformats.org/officeDocument/2006/relationships/slide" Target="slides/slide81.xml" /><Relationship Id="rId83" Type="http://schemas.openxmlformats.org/officeDocument/2006/relationships/slide" Target="slides/slide82.xml" /><Relationship Id="rId84" Type="http://schemas.openxmlformats.org/officeDocument/2006/relationships/slide" Target="slides/slide83.xml" /><Relationship Id="rId85" Type="http://schemas.openxmlformats.org/officeDocument/2006/relationships/slide" Target="slides/slide84.xml" /><Relationship Id="rId86" Type="http://schemas.openxmlformats.org/officeDocument/2006/relationships/slide" Target="slides/slide85.xml" /><Relationship Id="rId87" Type="http://schemas.openxmlformats.org/officeDocument/2006/relationships/slide" Target="slides/slide86.xml" /><Relationship Id="rId88" Type="http://schemas.openxmlformats.org/officeDocument/2006/relationships/slide" Target="slides/slide87.xml" /><Relationship Id="rId89" Type="http://schemas.openxmlformats.org/officeDocument/2006/relationships/slide" Target="slides/slide88.xml" /><Relationship Id="rId90" Type="http://schemas.openxmlformats.org/officeDocument/2006/relationships/slide" Target="slides/slide89.xml" /><Relationship Id="rId91" Type="http://schemas.openxmlformats.org/officeDocument/2006/relationships/slide" Target="slides/slide90.xml" /><Relationship Id="rId92" Type="http://schemas.openxmlformats.org/officeDocument/2006/relationships/slide" Target="slides/slide91.xml" /><Relationship Id="rId93" Type="http://schemas.openxmlformats.org/officeDocument/2006/relationships/slide" Target="slides/slide92.xml" /><Relationship Id="rId94" Type="http://schemas.openxmlformats.org/officeDocument/2006/relationships/slide" Target="slides/slide93.xml" /><Relationship Id="rId95" Type="http://schemas.openxmlformats.org/officeDocument/2006/relationships/slide" Target="slides/slide94.xml" /><Relationship Id="rId96" Type="http://schemas.openxmlformats.org/officeDocument/2006/relationships/slide" Target="slides/slide95.xml" /><Relationship Id="rId97" Type="http://schemas.openxmlformats.org/officeDocument/2006/relationships/slide" Target="slides/slide96.xml" /><Relationship Id="rId98" Type="http://schemas.openxmlformats.org/officeDocument/2006/relationships/slide" Target="slides/slide97.xml" /><Relationship Id="rId99" Type="http://schemas.openxmlformats.org/officeDocument/2006/relationships/slide" Target="slides/slide98.xml" /><Relationship Id="rId100" Type="http://schemas.openxmlformats.org/officeDocument/2006/relationships/slide" Target="slides/slide99.xml" /><Relationship Id="rId101" Type="http://schemas.openxmlformats.org/officeDocument/2006/relationships/slide" Target="slides/slide100.xml" /><Relationship Id="rId102" Type="http://schemas.openxmlformats.org/officeDocument/2006/relationships/slide" Target="slides/slide101.xml" /><Relationship Id="rId103" Type="http://schemas.openxmlformats.org/officeDocument/2006/relationships/slide" Target="slides/slide102.xml" /><Relationship Id="rId104" Type="http://schemas.openxmlformats.org/officeDocument/2006/relationships/slide" Target="slides/slide103.xml" /><Relationship Id="rId105" Type="http://schemas.openxmlformats.org/officeDocument/2006/relationships/slide" Target="slides/slide104.xml" /><Relationship Id="rId106" Type="http://schemas.openxmlformats.org/officeDocument/2006/relationships/slide" Target="slides/slide105.xml" /><Relationship Id="rId107" Type="http://schemas.openxmlformats.org/officeDocument/2006/relationships/slide" Target="slides/slide106.xml" /><Relationship Id="rId109" Type="http://schemas.openxmlformats.org/officeDocument/2006/relationships/viewProps" Target="viewProps.xml" /><Relationship Id="rId10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11" Type="http://schemas.openxmlformats.org/officeDocument/2006/relationships/tableStyles" Target="tableStyles.xml" /><Relationship Id="rId11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jp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3.jpg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5.png" /><Relationship Id="rId2" Type="http://schemas.openxmlformats.org/officeDocument/2006/relationships/image" Target="../media/image24.png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6.png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7.png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8.png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9.png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0.png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1.png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2.png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4.png" /><Relationship Id="rId2" Type="http://schemas.openxmlformats.org/officeDocument/2006/relationships/image" Target="../media/image33.png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9.png" /></Relationships>
</file>

<file path=ppt/slides/_rels/slide6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5.png" /></Relationships>
</file>

<file path=ppt/slides/_rels/slide6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5.png" /></Relationships>
</file>

<file path=ppt/slides/_rels/slide6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5.png" /></Relationships>
</file>

<file path=ppt/slides/_rels/slide6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6.png" /></Relationships>
</file>

<file path=ppt/slides/_rels/slide6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8.png" /><Relationship Id="rId2" Type="http://schemas.openxmlformats.org/officeDocument/2006/relationships/image" Target="../media/image37.png" /></Relationships>
</file>

<file path=ppt/slides/_rels/slide7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4.png" /></Relationships>
</file>

<file path=ppt/slides/_rels/slide7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9.png" /></Relationships>
</file>

<file path=ppt/slides/_rels/slide8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0.jpg" /></Relationships>
</file>

<file path=ppt/slides/_rels/slide9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Squamous Cell Carcinoma of the Esophagus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How large is the tumor?</a:t>
            </a:r>
          </a:p>
          <a:p>
            <a:pPr lvl="0"/>
            <a:r>
              <a:rPr/>
              <a:t>Has there been spread to lymph nodes?</a:t>
            </a:r>
          </a:p>
          <a:p>
            <a:pPr lvl="0"/>
            <a:r>
              <a:rPr/>
              <a:t>Has it spread to other parts of the body?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</a:t>
            </a:r>
            <a:r>
              <a:rPr/>
              <a:t> = Tumor - Depth of growth into the wall</a:t>
            </a:r>
            <a:br/>
            <a:br/>
          </a:p>
          <a:p>
            <a:pPr lvl="0"/>
            <a:r>
              <a:rPr b="1"/>
              <a:t>N</a:t>
            </a:r>
            <a:r>
              <a:rPr/>
              <a:t> = Nodes - Spread to the lymph nodes</a:t>
            </a:r>
            <a:br/>
            <a:br/>
          </a:p>
          <a:p>
            <a:pPr lvl="0"/>
            <a:r>
              <a:rPr b="1"/>
              <a:t>M</a:t>
            </a:r>
            <a:r>
              <a:rPr/>
              <a:t> = Metastasis - Spread to liver, lungs, or bone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Early Stage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start on the very inside layer called the mucosa</a:t>
            </a:r>
          </a:p>
        </p:txBody>
      </p:sp>
      <p:pic>
        <p:nvPicPr>
          <p:cNvPr descr="images/gastric_tumor_t1a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Over time, cancers can grow into the muscular wall</a:t>
            </a:r>
          </a:p>
        </p:txBody>
      </p:sp>
      <p:pic>
        <p:nvPicPr>
          <p:cNvPr descr="images/gastric_tumor_t2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Lymph Nodes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In some cases, cancer cells can break off from the main tumor and spread to lymph nodes</a:t>
            </a:r>
          </a:p>
        </p:txBody>
      </p:sp>
      <p:pic>
        <p:nvPicPr>
          <p:cNvPr descr="images/gastric_tumor_t3_node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are categorized based upon the thickness of the tumor, known as the T stage</a:t>
            </a:r>
          </a:p>
        </p:txBody>
      </p:sp>
      <p:pic>
        <p:nvPicPr>
          <p:cNvPr descr="images/tumor_t_ful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Cancers are categorized by whether there is spread to the nodes.</a:t>
            </a:r>
          </a:p>
          <a:p>
            <a:pPr lvl="0"/>
            <a:r>
              <a:rPr b="1"/>
              <a:t>N0</a:t>
            </a:r>
            <a:r>
              <a:rPr/>
              <a:t> cancers have not spread to the nodes</a:t>
            </a:r>
          </a:p>
          <a:p>
            <a:pPr lvl="0"/>
            <a:r>
              <a:rPr b="1"/>
              <a:t>N1</a:t>
            </a:r>
            <a:r>
              <a:rPr/>
              <a:t> cancers have spread to the nodes.</a:t>
            </a:r>
          </a:p>
        </p:txBody>
      </p:sp>
      <p:pic>
        <p:nvPicPr>
          <p:cNvPr descr="images/tumor_t3_nodes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cancers spread to other parts of the body</a:t>
            </a:r>
          </a:p>
          <a:p>
            <a:pPr lvl="0"/>
            <a:r>
              <a:rPr b="1"/>
              <a:t>M0</a:t>
            </a:r>
            <a:r>
              <a:rPr/>
              <a:t> cancers have not spread</a:t>
            </a:r>
          </a:p>
          <a:p>
            <a:pPr lvl="0"/>
            <a:r>
              <a:rPr b="1"/>
              <a:t>M1</a:t>
            </a:r>
            <a:r>
              <a:rPr/>
              <a:t> cancers have spread to lungs, liver, bone, or within the abdomen</a:t>
            </a:r>
          </a:p>
        </p:txBody>
      </p:sp>
      <p:pic>
        <p:nvPicPr>
          <p:cNvPr descr="images/Eso_M_St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Carcinomatosis (M1)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Spread within the abdomen is </a:t>
            </a:r>
            <a:r>
              <a:rPr b="1"/>
              <a:t>carcinomatosis</a:t>
            </a:r>
          </a:p>
          <a:p>
            <a:pPr lvl="0" indent="0" marL="0">
              <a:buNone/>
            </a:pPr>
            <a:r>
              <a:rPr/>
              <a:t>Tumors can be very small (grain of rice)</a:t>
            </a:r>
          </a:p>
          <a:p>
            <a:pPr lvl="0" indent="0" marL="0">
              <a:buNone/>
            </a:pPr>
            <a:r>
              <a:rPr/>
              <a:t>Fluid can also build up: </a:t>
            </a:r>
            <a:r>
              <a:rPr b="1"/>
              <a:t>ascites</a:t>
            </a:r>
          </a:p>
        </p:txBody>
      </p:sp>
      <p:pic>
        <p:nvPicPr>
          <p:cNvPr descr="images/Eso_M1_Carcinomat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Similar to CT scan</a:t>
            </a:r>
          </a:p>
          <a:p>
            <a:pPr lvl="0" indent="0" marL="0">
              <a:buNone/>
            </a:pPr>
            <a:r>
              <a:rPr/>
              <a:t>Tracer shows ‘hot spots’</a:t>
            </a:r>
          </a:p>
          <a:p>
            <a:pPr lvl="0"/>
            <a:r>
              <a:rPr/>
              <a:t>Cancer</a:t>
            </a:r>
          </a:p>
          <a:p>
            <a:pPr lvl="0"/>
            <a:r>
              <a:rPr/>
              <a:t>Inflammation or infection</a:t>
            </a:r>
          </a:p>
          <a:p>
            <a:pPr lvl="0"/>
            <a:r>
              <a:rPr/>
              <a:t>Normal organs (heart, kidneys)</a:t>
            </a:r>
          </a:p>
        </p:txBody>
      </p:sp>
      <p:pic>
        <p:nvPicPr>
          <p:cNvPr descr="images/PetIm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Nothing to eat or drink for 4 hours prior to exam</a:t>
            </a:r>
          </a:p>
          <a:p>
            <a:pPr lvl="0"/>
            <a:r>
              <a:rPr/>
              <a:t>High-protein low-carbohydrate diet the day prior</a:t>
            </a:r>
          </a:p>
          <a:p>
            <a:pPr lvl="0"/>
            <a:r>
              <a:rPr/>
              <a:t>No strenous activity day prior to study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PET scan uses a modified sugar as a tracer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you will need to be careful about blood sugar and insulin before the study</a:t>
                </a:r>
              </a:p>
              <a:p>
                <a:pPr lvl="0"/>
                <a:r>
                  <a:rPr/>
                  <a:t>No insulin within 4 hours of the exam</a:t>
                </a:r>
              </a:p>
              <a:p>
                <a:pPr lvl="0"/>
                <a:r>
                  <a:rPr/>
                  <a:t>OK to take diabetes pills the day of the exam</a:t>
                </a:r>
              </a:p>
              <a:p>
                <a:pPr lvl="0"/>
                <a:r>
                  <a:rPr/>
                  <a:t>PET scans are generally best in the morning</a:t>
                </a:r>
              </a:p>
              <a:p>
                <a:pPr lvl="0"/>
                <a:r>
                  <a:rPr/>
                  <a:t>Plan to eat a meal after the PET scan, with half the usual morning dose of insulin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If PET is scheduled after 10AM:</a:t>
            </a:r>
          </a:p>
          <a:p>
            <a:pPr lvl="1"/>
            <a:r>
              <a:rPr/>
              <a:t>low-carbohydrate breakfast at least 4 hours before</a:t>
            </a:r>
          </a:p>
          <a:p>
            <a:pPr lvl="1"/>
            <a:r>
              <a:rPr/>
              <a:t>half the usual regular (short-acting) insulin</a:t>
            </a:r>
          </a:p>
          <a:p>
            <a:pPr lvl="0"/>
            <a:r>
              <a:rPr/>
              <a:t>No long-acting insulin after midnight.</a:t>
            </a:r>
          </a:p>
          <a:p>
            <a:pPr lvl="0"/>
            <a:r>
              <a:rPr/>
              <a:t>Insulin pump: turn it off 4 hours before the study (or turn it down to basal/night-time rate)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Ultrasound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Similar to upper endoscopy (EGD)</a:t>
            </a:r>
          </a:p>
          <a:p>
            <a:pPr lvl="0"/>
            <a:r>
              <a:rPr/>
              <a:t>Ultrasound in scope</a:t>
            </a:r>
          </a:p>
          <a:p>
            <a:pPr lvl="0"/>
            <a:r>
              <a:rPr/>
              <a:t>Evaluates T stage</a:t>
            </a:r>
          </a:p>
        </p:txBody>
      </p:sp>
      <p:pic>
        <p:nvPicPr>
          <p:cNvPr descr="images/EU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Plan Depends upon Stage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Superficial (T1): Endoscopic Therapy</a:t>
                </a:r>
              </a:p>
              <a:p>
                <a:pPr lvl="0" indent="0" marL="0">
                  <a:buNone/>
                </a:pPr>
                <a:r>
                  <a:rPr/>
                  <a:t>Localized (T1b): Surgery (esophagectomy)</a:t>
                </a:r>
              </a:p>
              <a:p>
                <a:pPr lvl="0" indent="0" marL="0">
                  <a:buNone/>
                </a:pPr>
                <a:r>
                  <a:rPr/>
                  <a:t>Locally-advanced (T2/3): Chemo+Radiation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</a:p>
              <a:p>
                <a:pPr lvl="0" indent="0" marL="0">
                  <a:buNone/>
                </a:pPr>
                <a:r>
                  <a:rPr/>
                  <a:t>Metastatic (M1): Chemotherapy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Patients with locally-advanced esophageal cancer often have localized spread of cancer cells in the surrounding area</a:t>
            </a:r>
          </a:p>
        </p:txBody>
      </p:sp>
      <p:pic>
        <p:nvPicPr>
          <p:cNvPr descr="images/Eso_tumor_10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locally-advanced cancers are treated with surgery alone…</a:t>
            </a:r>
          </a:p>
        </p:txBody>
      </p:sp>
      <p:pic>
        <p:nvPicPr>
          <p:cNvPr descr="images/Eso_tumor100_resection_intr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locally-advanced cancers are treated with surgery alone…</a:t>
            </a:r>
          </a:p>
          <a:p>
            <a:pPr lvl="0" indent="0" marL="0">
              <a:buNone/>
            </a:pPr>
            <a:r>
              <a:rPr/>
              <a:t>There is a risk that cancer cells can be left behind</a:t>
            </a:r>
          </a:p>
        </p:txBody>
      </p:sp>
      <p:pic>
        <p:nvPicPr>
          <p:cNvPr descr="images/Eso_tumor100_resection_pos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helpful to start with therapy </a:t>
            </a:r>
            <a:r>
              <a:rPr i="1"/>
              <a:t>before</a:t>
            </a:r>
            <a:r>
              <a:rPr/>
              <a:t> surgery that will shrink the cancer.</a:t>
            </a:r>
          </a:p>
        </p:txBody>
      </p:sp>
      <p:pic>
        <p:nvPicPr>
          <p:cNvPr descr="images/Eso_tumor_10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helpful to start with therapy </a:t>
            </a:r>
            <a:r>
              <a:rPr i="1"/>
              <a:t>before</a:t>
            </a:r>
            <a:r>
              <a:rPr/>
              <a:t> surgery that will shrink the cancer.</a:t>
            </a:r>
          </a:p>
        </p:txBody>
      </p:sp>
      <p:pic>
        <p:nvPicPr>
          <p:cNvPr descr="images/Eso_tumor4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helpful to start with therapy </a:t>
            </a:r>
            <a:r>
              <a:rPr i="1"/>
              <a:t>before</a:t>
            </a:r>
            <a:r>
              <a:rPr/>
              <a:t> surgery that will shrink the cancer.</a:t>
            </a:r>
          </a:p>
        </p:txBody>
      </p:sp>
      <p:pic>
        <p:nvPicPr>
          <p:cNvPr descr="images/Eso_Tumor_0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after 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surgery is then performed…</a:t>
            </a:r>
          </a:p>
        </p:txBody>
      </p:sp>
      <p:pic>
        <p:nvPicPr>
          <p:cNvPr descr="images/Eso_tumor00_resection1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surgery is then performed…</a:t>
            </a:r>
          </a:p>
          <a:p>
            <a:pPr lvl="0" indent="0" marL="0">
              <a:buNone/>
            </a:pPr>
            <a:r>
              <a:rPr/>
              <a:t>The risk of cancer recurrence is minimized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surgery is then performed…</a:t>
            </a:r>
          </a:p>
          <a:p>
            <a:pPr lvl="0" indent="0" marL="0">
              <a:buNone/>
            </a:pPr>
            <a:r>
              <a:rPr/>
              <a:t>The risk of cancer recurrence is minimized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+ Radiation CROSS Trial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363 patients with esophageal cancer studied</a:t>
                </a:r>
              </a:p>
              <a:p>
                <a:pPr lvl="0" indent="0" marL="0">
                  <a:buNone/>
                </a:pPr>
                <a:r>
                  <a:rPr/>
                  <a:t>Patients were treated in two groups:</a:t>
                </a:r>
              </a:p>
              <a:p>
                <a:pPr lvl="0" indent="0" marL="0">
                  <a:buNone/>
                </a:pPr>
                <a:r>
                  <a:rPr b="1"/>
                  <a:t>Surgery Alone</a:t>
                </a:r>
              </a:p>
              <a:p>
                <a:pPr lvl="0" indent="0" marL="0">
                  <a:buNone/>
                </a:pPr>
                <a:r>
                  <a:rPr/>
                  <a:t>vs</a:t>
                </a:r>
              </a:p>
              <a:p>
                <a:pPr lvl="0" indent="0" marL="0">
                  <a:buNone/>
                </a:pPr>
                <a:r>
                  <a:rPr b="1"/>
                  <a:t>Chemo + Radiation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</p:txBody>
          </p:sp>
        </mc:Choice>
      </mc:AlternateContent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+ Radiation CROSS Trial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363 patients with esophageal cancer studied</a:t>
                </a:r>
              </a:p>
              <a:p>
                <a:pPr lvl="0" indent="0" marL="0">
                  <a:buNone/>
                </a:pPr>
                <a:r>
                  <a:rPr/>
                  <a:t>Chemotherapy + radiation together over 6 wks</a:t>
                </a:r>
              </a:p>
              <a:p>
                <a:pPr lvl="0" indent="0" marL="0">
                  <a:buNone/>
                </a:pPr>
                <a:r>
                  <a:rPr b="1"/>
                  <a:t>Surgery Alone</a:t>
                </a:r>
              </a:p>
              <a:p>
                <a:pPr lvl="0" indent="0" marL="0">
                  <a:buNone/>
                </a:pPr>
                <a:r>
                  <a:rPr/>
                  <a:t>vs</a:t>
                </a:r>
              </a:p>
              <a:p>
                <a:pPr lvl="0" indent="0" marL="0">
                  <a:buNone/>
                </a:pPr>
                <a:r>
                  <a:rPr b="1"/>
                  <a:t>Chemo + Radiation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Longer Survival</a:t>
                </a:r>
              </a:p>
            </p:txBody>
          </p:sp>
        </mc:Choice>
      </mc:AlternateContent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 + Radiation CROSS Trial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Typical schedule for chemotherapy + radiation:</a:t>
            </a:r>
          </a:p>
          <a:p>
            <a:pPr lvl="0"/>
            <a:r>
              <a:rPr/>
              <a:t>Chemotherapy once per week for six weeks</a:t>
            </a:r>
          </a:p>
          <a:p>
            <a:pPr lvl="0"/>
            <a:r>
              <a:rPr/>
              <a:t>Radiation five days per week for six weeks (28)</a:t>
            </a:r>
          </a:p>
          <a:p>
            <a:pPr lvl="0"/>
            <a:r>
              <a:rPr/>
              <a:t>PET scan (or CT) 4 weeks after the end of radiation</a:t>
            </a:r>
          </a:p>
          <a:p>
            <a:pPr lvl="0"/>
            <a:r>
              <a:rPr/>
              <a:t>Surgery 8 weeks after the end of radiation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 + Radiation - Side Effects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Kills cancer cells in the esophagus and lymph nodes</a:t>
            </a:r>
          </a:p>
          <a:p>
            <a:pPr lvl="0" indent="0" marL="0">
              <a:buNone/>
            </a:pPr>
            <a:r>
              <a:rPr/>
              <a:t>Can also irritate the lining of the esophagus.</a:t>
            </a:r>
          </a:p>
          <a:p>
            <a:pPr lvl="0" indent="0" marL="0">
              <a:buNone/>
            </a:pPr>
            <a:r>
              <a:rPr/>
              <a:t>Swallowing can be difficult the last 2 weeks.</a:t>
            </a:r>
          </a:p>
          <a:p>
            <a:pPr lvl="0" indent="0" marL="0">
              <a:buNone/>
            </a:pPr>
            <a:r>
              <a:rPr/>
              <a:t>Feeding tube may be needed for hydration/nutrition.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CT or PET scan performed after initial therapy</a:t>
            </a:r>
          </a:p>
          <a:p>
            <a:pPr lvl="0" indent="0" marL="0">
              <a:buNone/>
            </a:pPr>
            <a:br/>
          </a:p>
          <a:p>
            <a:pPr lvl="0"/>
            <a:r>
              <a:rPr/>
              <a:t>Surgery performed after restaging</a:t>
            </a:r>
          </a:p>
          <a:p>
            <a:pPr lvl="0"/>
            <a:r>
              <a:rPr/>
              <a:t>Timing depends upon recovery from therapy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Endoscopy after Initial Therapy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Performed to look for signs of persistent cancer</a:t>
                </a:r>
              </a:p>
              <a:p>
                <a:pPr lvl="0" indent="0" marL="0">
                  <a:buNone/>
                </a:pPr>
                <a:r>
                  <a:rPr/>
                  <a:t>Biopsies show no cancer in 75% of cases</a:t>
                </a:r>
              </a:p>
              <a:p>
                <a:pPr lvl="0" indent="0" marL="0">
                  <a:buNone/>
                </a:pPr>
                <a:r>
                  <a:rPr/>
                  <a:t>Disappearance of cancer in 40% of cases - Persistent cancer in 60%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cancer cells can hide in the wall of the esophagus</a:t>
                </a:r>
              </a:p>
              <a:p>
                <a:pPr lvl="0" indent="0" marL="0">
                  <a:buNone/>
                </a:pPr>
                <a:r>
                  <a:rPr/>
                  <a:t>Regular endoscopy is important to look for regrowth of cancer</a:t>
                </a:r>
              </a:p>
            </p:txBody>
          </p:sp>
        </mc:Choice>
      </mc:AlternateContent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for Squamous Cell Carcinoma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Surgery is recommended for all patients who have:</a:t>
            </a:r>
          </a:p>
          <a:p>
            <a:pPr lvl="0"/>
            <a:r>
              <a:rPr/>
              <a:t>Biopsies showing cancer after chemo + radiation</a:t>
            </a:r>
          </a:p>
          <a:p>
            <a:pPr lvl="0"/>
            <a:r>
              <a:rPr/>
              <a:t>No signs of spread of disease on PET/CT scan</a:t>
            </a:r>
          </a:p>
          <a:p>
            <a:pPr lvl="0"/>
            <a:r>
              <a:rPr/>
              <a:t>Healthy enough to undergo surgery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for Squamous Cell Carcinoma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Surgery is also recommended for patients who:</a:t>
            </a:r>
          </a:p>
          <a:p>
            <a:pPr lvl="0"/>
            <a:r>
              <a:rPr/>
              <a:t>No signs of spread on disease on PET/CT scan</a:t>
            </a:r>
          </a:p>
          <a:p>
            <a:pPr lvl="0"/>
            <a:r>
              <a:rPr/>
              <a:t>Cancer in the lower part of the esophagus</a:t>
            </a:r>
          </a:p>
          <a:p>
            <a:pPr lvl="0"/>
            <a:r>
              <a:rPr/>
              <a:t>Healthy enough to undergo surgery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Surveillance if Surgery Not Performed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Upper endoscopy (EGD) every 3-6 months</a:t>
                </a:r>
              </a:p>
              <a:p>
                <a:pPr lvl="0"/>
                <a:r>
                  <a:rPr/>
                  <a:t>PET every 6 months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Surgery if a recurrence in the esophagus is found</a:t>
                </a:r>
              </a:p>
            </p:txBody>
          </p:sp>
        </mc:Choice>
      </mc:AlternateContent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Protein Needs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Men: Average 75 grams/day</a:t>
            </a:r>
          </a:p>
          <a:p>
            <a:pPr lvl="0"/>
            <a:r>
              <a:rPr/>
              <a:t>Women: Average 60 grams/day</a:t>
            </a:r>
          </a:p>
          <a:p>
            <a:pPr lvl="0" indent="0" marL="0">
              <a:buNone/>
            </a:pPr>
            <a:r>
              <a:rPr/>
              <a:t>Protein Shakes provide protein with minimal sugar</a:t>
            </a:r>
          </a:p>
        </p:txBody>
      </p:sp>
      <p:pic>
        <p:nvPicPr>
          <p:cNvPr descr="images/nutrition_protein_shakes90090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Feeding Tubes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nutrition_gtub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Feeding Gastrostomy</a:t>
            </a:r>
          </a:p>
          <a:p>
            <a:pPr lvl="0"/>
            <a:r>
              <a:rPr/>
              <a:t>Feeding with a syringe several times per day.</a:t>
            </a:r>
          </a:p>
          <a:p>
            <a:pPr lvl="0"/>
            <a:r>
              <a:rPr/>
              <a:t>Tube can be hidden underneath clothing</a:t>
            </a:r>
          </a:p>
          <a:p>
            <a:pPr lvl="0"/>
            <a:r>
              <a:rPr/>
              <a:t>Tube does not interfere with eating by mouth</a:t>
            </a:r>
          </a:p>
          <a:p>
            <a:pPr lvl="0"/>
            <a:r>
              <a:rPr/>
              <a:t>Removed easily in the office when no longer needed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PEG: Tube placed by endoscopy</a:t>
            </a:r>
          </a:p>
          <a:p>
            <a:pPr lvl="0" indent="0" marL="0">
              <a:buNone/>
            </a:pPr>
            <a:r>
              <a:rPr/>
              <a:t>Laparoscopic: Tube placed surgically by laparoscopy</a:t>
            </a:r>
          </a:p>
          <a:p>
            <a:pPr lvl="0" indent="0" marL="0">
              <a:buNone/>
            </a:pPr>
            <a:r>
              <a:rPr/>
              <a:t>Preferred method depends upon whether esophagectomy is planned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Outpatient Placement (go home the same day)</a:t>
            </a:r>
          </a:p>
          <a:p>
            <a:pPr lvl="0"/>
            <a:r>
              <a:rPr/>
              <a:t>Central venous port can be placed at the same time (if needed)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Preparation for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Medical evaluation may be needed before surgery:</a:t>
            </a:r>
          </a:p>
          <a:p>
            <a:pPr lvl="0"/>
            <a:r>
              <a:rPr/>
              <a:t>Pulmonary Function Tests to test lung function</a:t>
            </a:r>
          </a:p>
          <a:p>
            <a:pPr lvl="0"/>
            <a:r>
              <a:rPr/>
              <a:t>Cardiology evaluation to test heart function</a:t>
            </a:r>
          </a:p>
          <a:p>
            <a:pPr lvl="1"/>
            <a:r>
              <a:rPr/>
              <a:t>Echocardiogram</a:t>
            </a:r>
          </a:p>
          <a:p>
            <a:pPr lvl="1"/>
            <a:r>
              <a:rPr/>
              <a:t>Stress Test</a:t>
            </a:r>
          </a:p>
          <a:p>
            <a:pPr lvl="1"/>
            <a:r>
              <a:rPr/>
              <a:t>Holter monitor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Esophagectomy for Cancers of the Esophagus or GE Junction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Primary Surgery</a:t>
                </a:r>
              </a:p>
              <a:p>
                <a:pPr lvl="0"/>
                <a:r>
                  <a:rPr/>
                  <a:t>Superficial Tumors (T1) not completely removed by endoscopy</a:t>
                </a:r>
              </a:p>
              <a:p>
                <a:pPr lvl="0"/>
                <a:r>
                  <a:rPr/>
                  <a:t>Localized Tumors (T2 N0 M0)</a:t>
                </a:r>
              </a:p>
              <a:p>
                <a:pPr lvl="0"/>
                <a:r>
                  <a:rPr/>
                  <a:t>Surgery scheduled after medical evaluation</a:t>
                </a:r>
              </a:p>
              <a:p>
                <a:pPr lvl="0"/>
                <a:r>
                  <a:rPr/>
                  <a:t>Aim for surgery within 6 weeks of consultation</a:t>
                </a:r>
              </a:p>
              <a:p>
                <a:pPr lvl="0" indent="0" marL="0">
                  <a:buNone/>
                </a:pPr>
                <a:r>
                  <a:rPr/>
                  <a:t>Preoperative Therapy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  <a:p>
                <a:pPr lvl="0"/>
                <a:r>
                  <a:rPr/>
                  <a:t>Locally Advanced (T3 Nx M0)</a:t>
                </a:r>
              </a:p>
              <a:p>
                <a:pPr lvl="0"/>
                <a:r>
                  <a:rPr/>
                  <a:t>Surgery scheduled after</a:t>
                </a:r>
              </a:p>
              <a:p>
                <a:pPr lvl="1"/>
                <a:r>
                  <a:rPr/>
                  <a:t>Recovery from preoperative therapy</a:t>
                </a:r>
              </a:p>
              <a:p>
                <a:pPr lvl="1"/>
                <a:r>
                  <a:rPr/>
                  <a:t>Restaging scans (CT or PET)</a:t>
                </a:r>
              </a:p>
              <a:p>
                <a:pPr lvl="1"/>
                <a:r>
                  <a:rPr/>
                  <a:t>Medical evaluation</a:t>
                </a:r>
              </a:p>
              <a:p>
                <a:pPr lvl="0"/>
                <a:r>
                  <a:rPr/>
                  <a:t>Timing between end of preoperative therapy and surgery</a:t>
                </a:r>
              </a:p>
              <a:p>
                <a:pPr lvl="1"/>
                <a:r>
                  <a:rPr/>
                  <a:t>Chemotherapy + radiation: 6-8 weeks</a:t>
                </a:r>
              </a:p>
              <a:p>
                <a:pPr lvl="1"/>
                <a:r>
                  <a:rPr/>
                  <a:t>Chemotherapy: 4-8 weeks</a:t>
                </a:r>
              </a:p>
            </p:txBody>
          </p:sp>
        </mc:Choice>
      </mc:AlternateContent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Visits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Medical Oncology - Monitor chemotherapy and side effects</a:t>
            </a:r>
          </a:p>
          <a:p>
            <a:pPr lvl="0" indent="0" marL="0">
              <a:buNone/>
            </a:pPr>
            <a:r>
              <a:rPr/>
              <a:t>Radiation Oncology - Monitor radiation and side effects</a:t>
            </a:r>
          </a:p>
          <a:p>
            <a:pPr lvl="0" indent="0" marL="0">
              <a:buNone/>
            </a:pPr>
            <a:r>
              <a:rPr/>
              <a:t>Surgical Oncology</a:t>
            </a:r>
          </a:p>
          <a:p>
            <a:pPr lvl="0"/>
            <a:r>
              <a:rPr/>
              <a:t>Consult visit with Dr Salo</a:t>
            </a:r>
          </a:p>
          <a:p>
            <a:pPr lvl="0"/>
            <a:r>
              <a:rPr/>
              <a:t>Mid-treatment visits with Dr Salo / Kate Duncan</a:t>
            </a:r>
          </a:p>
          <a:p>
            <a:pPr lvl="0"/>
            <a:r>
              <a:rPr/>
              <a:t>Preop visit with Dr Salo (may be virtual)</a:t>
            </a:r>
          </a:p>
          <a:p>
            <a:pPr lvl="0"/>
            <a:r>
              <a:rPr/>
              <a:t>In-person preop visit with Kate Duncan and Liz Koch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for Esophageal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Surgery for esophageal cancer is performed for:</a:t>
            </a:r>
          </a:p>
          <a:p>
            <a:pPr lvl="0"/>
            <a:r>
              <a:rPr/>
              <a:t>Superficial Tumors (T1) not removed by endoscopy</a:t>
            </a:r>
          </a:p>
          <a:p>
            <a:pPr lvl="0"/>
            <a:r>
              <a:rPr/>
              <a:t>Localized Tumors (T2 N0 M0)</a:t>
            </a:r>
          </a:p>
          <a:p>
            <a:pPr lvl="0"/>
            <a:r>
              <a:rPr/>
              <a:t>Locally Advanced (T3 M0) after preop therapy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 tumor from esophagus</a:t>
            </a:r>
          </a:p>
          <a:p>
            <a:pPr lvl="0"/>
            <a:r>
              <a:rPr/>
              <a:t>Remove surrounding lymph nodes</a:t>
            </a:r>
          </a:p>
          <a:p>
            <a:pPr lvl="0"/>
            <a:r>
              <a:rPr/>
              <a:t>Create a new esophagus</a:t>
            </a:r>
          </a:p>
        </p:txBody>
      </p:sp>
      <p:pic>
        <p:nvPicPr>
          <p:cNvPr descr="images/Eso_Resection1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(Transthoracic)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tumor and lower 1/2 esophagus</a:t>
            </a:r>
          </a:p>
          <a:p>
            <a:pPr lvl="0"/>
            <a:r>
              <a:rPr/>
              <a:t>Removes surrounding lymph nodes</a:t>
            </a:r>
          </a:p>
          <a:p>
            <a:pPr lvl="0"/>
            <a:r>
              <a:rPr/>
              <a:t>GI tract reconstructed</a:t>
            </a:r>
          </a:p>
        </p:txBody>
      </p:sp>
      <p:pic>
        <p:nvPicPr>
          <p:cNvPr descr="images/Eso_Resection2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Reconstruction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New esophagus is created from the stomach in the abdomen by fashioning it into a tube.</a:t>
            </a:r>
          </a:p>
        </p:txBody>
      </p:sp>
      <p:pic>
        <p:nvPicPr>
          <p:cNvPr descr="images/Eso_Resection3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new esophagus is now brought up into the chest. A connection is made between the esophagus and the stomach, called an </a:t>
            </a:r>
            <a:r>
              <a:rPr i="1"/>
              <a:t>anastomosis</a:t>
            </a:r>
            <a:r>
              <a:rPr/>
              <a:t>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Ivor Lewis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Small incisions abdomen and chest</a:t>
                </a:r>
              </a:p>
              <a:p>
                <a:pPr lvl="0"/>
                <a:r>
                  <a:rPr/>
                  <a:t>Surgical telescope and instruments</a:t>
                </a:r>
              </a:p>
              <a:p>
                <a:pPr lvl="0"/>
                <a:r>
                  <a:rPr/>
                  <a:t>Smaller incisions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faster recovery and less discomfort</a:t>
                </a:r>
              </a:p>
            </p:txBody>
          </p:sp>
        </mc:Choice>
      </mc:AlternateContent>
      <p:pic>
        <p:nvPicPr>
          <p:cNvPr descr="images/MIE_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Ivor Lewis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Mininally-invasive approach feasible in 98% of cases</a:t>
            </a:r>
          </a:p>
          <a:p>
            <a:pPr lvl="0" indent="0" marL="0">
              <a:buNone/>
            </a:pPr>
            <a:r>
              <a:rPr/>
              <a:t>In some cases, an open approach is still necessary (2%)</a:t>
            </a:r>
          </a:p>
        </p:txBody>
      </p:sp>
      <p:pic>
        <p:nvPicPr>
          <p:cNvPr descr="images/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tumors in the upper esophagus, we need to remove more of the esophagus</a:t>
            </a:r>
          </a:p>
          <a:p>
            <a:pPr lvl="0" indent="0" marL="0">
              <a:buNone/>
            </a:pPr>
            <a:r>
              <a:rPr/>
              <a:t>We need to remove the whole esophagus, including the portion in the neck</a:t>
            </a:r>
          </a:p>
        </p:txBody>
      </p:sp>
      <p:pic>
        <p:nvPicPr>
          <p:cNvPr descr="images/Eso_ProxTumor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McKeown Esophagectomy</a:t>
            </a:r>
          </a:p>
        </p:txBody>
      </p:sp>
      <p:pic>
        <p:nvPicPr>
          <p:cNvPr descr="images/Eso_ResectionTotal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Eso_MIE_McKeownArtboard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Esophagectomy is a complex operation, with a real risk of complications.</a:t>
            </a:r>
          </a:p>
          <a:p>
            <a:pPr lvl="0" indent="0" marL="0">
              <a:buNone/>
            </a:pPr>
            <a:r>
              <a:rPr/>
              <a:t>Two significant complications:</a:t>
            </a:r>
          </a:p>
          <a:p>
            <a:pPr lvl="0"/>
            <a:r>
              <a:rPr/>
              <a:t>Anastomotic leak</a:t>
            </a:r>
          </a:p>
          <a:p>
            <a:pPr lvl="0"/>
            <a:r>
              <a:rPr/>
              <a:t>Pneumonia</a:t>
            </a:r>
          </a:p>
        </p:txBody>
      </p:sp>
    </p:spTree>
  </p:cSld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anastomosis is surgical connection between the esophagus and the stomach.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healing doesn’t occur:</a:t>
            </a:r>
          </a:p>
          <a:p>
            <a:pPr lvl="0"/>
            <a:r>
              <a:rPr/>
              <a:t>Leakage of fluid from the esophagus</a:t>
            </a:r>
          </a:p>
          <a:p>
            <a:pPr lvl="0"/>
            <a:r>
              <a:rPr/>
              <a:t>Infection in the space between the lungs</a:t>
            </a:r>
          </a:p>
          <a:p>
            <a:pPr lvl="0"/>
            <a:r>
              <a:rPr/>
              <a:t>Requires additional time in the hospital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leak occurs:</a:t>
            </a:r>
          </a:p>
          <a:p>
            <a:pPr lvl="0"/>
            <a:r>
              <a:rPr/>
              <a:t>Some leaks will seal</a:t>
            </a:r>
          </a:p>
          <a:p>
            <a:pPr lvl="0"/>
            <a:r>
              <a:rPr/>
              <a:t>Stent may be required to help healing</a:t>
            </a:r>
          </a:p>
          <a:p>
            <a:pPr lvl="0"/>
            <a:r>
              <a:rPr/>
              <a:t>Occasionally additional surgey is required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of leak depends on:</a:t>
            </a:r>
          </a:p>
          <a:p>
            <a:pPr lvl="0"/>
            <a:r>
              <a:rPr/>
              <a:t>Type of operation performed</a:t>
            </a:r>
          </a:p>
          <a:p>
            <a:pPr lvl="0"/>
            <a:r>
              <a:rPr/>
              <a:t>Nutritional status of patient</a:t>
            </a:r>
          </a:p>
          <a:p>
            <a:pPr lvl="0"/>
            <a:r>
              <a:rPr/>
              <a:t>Experience of the surgeon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Occurs in 10-15% of patients after esophagectomy.</a:t>
            </a:r>
          </a:p>
          <a:p>
            <a:pPr lvl="0"/>
            <a:r>
              <a:rPr/>
              <a:t>Requires treatment with antibiotics</a:t>
            </a:r>
          </a:p>
          <a:p>
            <a:pPr lvl="0"/>
            <a:r>
              <a:rPr/>
              <a:t>Requires a longer hospitalization.</a:t>
            </a:r>
          </a:p>
        </p:txBody>
      </p:sp>
      <p:pic>
        <p:nvPicPr>
          <p:cNvPr descr="images/Eso_Lung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Preventing 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Several ways to help prevent pneumonia:</a:t>
            </a:r>
          </a:p>
          <a:p>
            <a:pPr lvl="0"/>
            <a:r>
              <a:rPr/>
              <a:t>Deep breathing</a:t>
            </a:r>
          </a:p>
          <a:p>
            <a:pPr lvl="0"/>
            <a:r>
              <a:rPr/>
              <a:t>Coughing</a:t>
            </a:r>
          </a:p>
          <a:p>
            <a:pPr lvl="0"/>
            <a:r>
              <a:rPr/>
              <a:t>Walking</a:t>
            </a:r>
          </a:p>
          <a:p>
            <a:pPr lvl="0" indent="0" marL="0">
              <a:buNone/>
            </a:pPr>
            <a:r>
              <a:rPr/>
              <a:t>After surgery, this means:</a:t>
            </a:r>
          </a:p>
          <a:p>
            <a:pPr lvl="0"/>
            <a:r>
              <a:rPr/>
              <a:t>Sitting in a chair most of the day</a:t>
            </a:r>
          </a:p>
          <a:p>
            <a:pPr lvl="0"/>
            <a:r>
              <a:rPr/>
              <a:t>Walking in the halls as soon as possible</a:t>
            </a:r>
          </a:p>
        </p:txBody>
      </p:sp>
    </p:spTree>
  </p:cSld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Esophagectomy</a:t>
            </a:r>
          </a:p>
        </p:txBody>
      </p:sp>
      <p:pic>
        <p:nvPicPr>
          <p:cNvPr descr="images/mie_ab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4800" y="1498600"/>
            <a:ext cx="4178300" cy="3136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mie_ches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35500" y="1485900"/>
            <a:ext cx="4191000" cy="314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anesthesia</a:t>
            </a:r>
          </a:p>
          <a:p>
            <a:pPr lvl="0"/>
            <a:r>
              <a:rPr/>
              <a:t>Heart attack (5%)</a:t>
            </a:r>
          </a:p>
          <a:p>
            <a:pPr lvl="0"/>
            <a:r>
              <a:rPr/>
              <a:t>Irregular heart rhythm (15%)</a:t>
            </a:r>
          </a:p>
          <a:p>
            <a:pPr lvl="0"/>
            <a:r>
              <a:rPr/>
              <a:t>Pneumonia (10%)</a:t>
            </a:r>
          </a:p>
          <a:p>
            <a:pPr lvl="0"/>
            <a:r>
              <a:rPr/>
              <a:t>Blood clots in legs (&lt;5%)</a:t>
            </a:r>
          </a:p>
          <a:p>
            <a:pPr lvl="0"/>
            <a:r>
              <a:rPr/>
              <a:t>Pulmonary embolism (2%)</a:t>
            </a:r>
          </a:p>
        </p:txBody>
      </p:sp>
    </p:spTree>
  </p:cSld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Surgery</a:t>
            </a:r>
          </a:p>
          <a:p>
            <a:pPr lvl="0"/>
            <a:r>
              <a:rPr/>
              <a:t>Anastomotic leak (5%)</a:t>
            </a:r>
          </a:p>
          <a:p>
            <a:pPr lvl="0"/>
            <a:r>
              <a:rPr/>
              <a:t>Stricture at anastomosis (15%)</a:t>
            </a:r>
          </a:p>
          <a:p>
            <a:pPr lvl="0"/>
            <a:r>
              <a:rPr/>
              <a:t>Death within 90 days of surgery</a:t>
            </a:r>
          </a:p>
          <a:p>
            <a:pPr lvl="1"/>
            <a:r>
              <a:rPr/>
              <a:t>Low risk patients = 2%</a:t>
            </a:r>
          </a:p>
          <a:p>
            <a:pPr lvl="1"/>
            <a:r>
              <a:rPr/>
              <a:t>Intermediate risk = 10%</a:t>
            </a:r>
          </a:p>
          <a:p>
            <a:pPr lvl="1"/>
            <a:r>
              <a:rPr/>
              <a:t>High risk = 30%</a:t>
            </a:r>
          </a:p>
        </p:txBody>
      </p:sp>
    </p:spTree>
  </p:cSld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279400" y="952500"/>
          <a:ext cx="8547100" cy="34671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844800"/>
                <a:gridCol w="2844800"/>
                <a:gridCol w="2844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&lt;75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&gt;75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 Muscle (75%)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 Muscle (25%)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30%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279400" y="4419600"/>
            <a:ext cx="85471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Risks of Death within 90 Days of Surgery</a:t>
            </a:r>
          </a:p>
        </p:txBody>
      </p:sp>
    </p:spTree>
  </p:cSld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Epidural Catheter for Pain Control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Remains in place for 2-5 days</a:t>
            </a:r>
          </a:p>
          <a:p>
            <a:pPr lvl="0"/>
            <a:r>
              <a:rPr/>
              <a:t>Dosage can be adjusted as needed</a:t>
            </a:r>
          </a:p>
          <a:p>
            <a:pPr lvl="0"/>
            <a:r>
              <a:rPr/>
              <a:t>Can make it more difficult to urinate</a:t>
            </a:r>
          </a:p>
          <a:p>
            <a:pPr lvl="0"/>
            <a:r>
              <a:rPr/>
              <a:t>May require foley catheter in bladder</a:t>
            </a:r>
          </a:p>
          <a:p>
            <a:pPr lvl="0"/>
            <a:r>
              <a:rPr/>
              <a:t>Foley catheter removed after epidural removed</a:t>
            </a:r>
          </a:p>
        </p:txBody>
      </p:sp>
    </p:spTree>
  </p:cSld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 (2-4 days)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Surgical ICU on 11th floor</a:t>
            </a:r>
          </a:p>
          <a:p>
            <a:pPr lvl="0"/>
            <a:r>
              <a:rPr/>
              <a:t>NG tube in nose to drain stomach and esophagus</a:t>
            </a:r>
          </a:p>
          <a:p>
            <a:pPr lvl="0"/>
            <a:r>
              <a:rPr/>
              <a:t>Catheter in bladder</a:t>
            </a:r>
          </a:p>
          <a:p>
            <a:pPr lvl="0"/>
            <a:r>
              <a:rPr/>
              <a:t>Chest tube right chest</a:t>
            </a:r>
          </a:p>
          <a:p>
            <a:pPr lvl="0"/>
            <a:r>
              <a:rPr/>
              <a:t>Abdominal drains (usually 2)</a:t>
            </a:r>
          </a:p>
          <a:p>
            <a:pPr lvl="0"/>
            <a:r>
              <a:rPr/>
              <a:t>Feeding jejunostomy (usually stays in 8 wks)</a:t>
            </a:r>
          </a:p>
        </p:txBody>
      </p:sp>
    </p:spTree>
  </p:cSld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Bladder catheter removed → check that bladder empties properly</a:t>
            </a:r>
          </a:p>
          <a:p>
            <a:pPr lvl="0"/>
            <a:r>
              <a:rPr/>
              <a:t>Chest tube removed (day 2-4) → follow-up x-ray</a:t>
            </a:r>
          </a:p>
          <a:p>
            <a:pPr lvl="0"/>
            <a:r>
              <a:rPr/>
              <a:t>Fluid emptied from drains every few hours</a:t>
            </a:r>
          </a:p>
          <a:p>
            <a:pPr lvl="0"/>
            <a:r>
              <a:rPr/>
              <a:t>Start tube feedings by feeding</a:t>
            </a:r>
          </a:p>
          <a:p>
            <a:pPr lvl="0"/>
            <a:r>
              <a:rPr/>
              <a:t>Feeding jejunostomy (stays in 8 weeks)</a:t>
            </a:r>
          </a:p>
        </p:txBody>
      </p:sp>
    </p:spTree>
  </p:cSld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Ward - 6Tower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feeds started</a:t>
            </a:r>
          </a:p>
          <a:p>
            <a:pPr lvl="0"/>
            <a:r>
              <a:rPr/>
              <a:t>Up in a chair most of the day</a:t>
            </a:r>
          </a:p>
          <a:p>
            <a:pPr lvl="0"/>
            <a:r>
              <a:rPr/>
              <a:t>Walking in the halls</a:t>
            </a:r>
          </a:p>
          <a:p>
            <a:pPr lvl="1"/>
            <a:r>
              <a:rPr/>
              <a:t>Start with assistance</a:t>
            </a:r>
          </a:p>
          <a:p>
            <a:pPr lvl="1"/>
            <a:r>
              <a:rPr/>
              <a:t>Improves lung function</a:t>
            </a:r>
          </a:p>
          <a:p>
            <a:pPr lvl="1"/>
            <a:r>
              <a:rPr/>
              <a:t>Prevents loss of muscle strength</a:t>
            </a:r>
          </a:p>
        </p:txBody>
      </p:sp>
    </p:spTree>
  </p:cSld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feeds</a:t>
            </a:r>
          </a:p>
          <a:p>
            <a:pPr lvl="0"/>
            <a:r>
              <a:rPr/>
              <a:t>Start continuous (24 hours)</a:t>
            </a:r>
          </a:p>
          <a:p>
            <a:pPr lvl="0"/>
            <a:r>
              <a:rPr/>
              <a:t>Convert to night-time only (16 hours)</a:t>
            </a:r>
          </a:p>
          <a:p>
            <a:pPr lvl="0" indent="0" marL="0">
              <a:buNone/>
            </a:pPr>
            <a:r>
              <a:rPr/>
              <a:t>Water administered through feeding tube</a:t>
            </a:r>
          </a:p>
          <a:p>
            <a:pPr lvl="0"/>
            <a:r>
              <a:rPr/>
              <a:t>Usually 8oz 4 times/day</a:t>
            </a:r>
          </a:p>
          <a:p>
            <a:pPr lvl="0"/>
            <a:r>
              <a:rPr/>
              <a:t>Important to prevent dehydration</a:t>
            </a:r>
          </a:p>
        </p:txBody>
      </p:sp>
    </p:spTree>
  </p:cSld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Up in chair most of the day</a:t>
            </a:r>
          </a:p>
          <a:p>
            <a:pPr lvl="0"/>
            <a:r>
              <a:rPr/>
              <a:t>Walking with help from nurse/Physical Therapist</a:t>
            </a:r>
          </a:p>
          <a:p>
            <a:pPr lvl="0"/>
            <a:r>
              <a:rPr/>
              <a:t>Goals:</a:t>
            </a:r>
          </a:p>
          <a:p>
            <a:pPr lvl="1"/>
            <a:r>
              <a:rPr/>
              <a:t>Improve lung function</a:t>
            </a:r>
          </a:p>
          <a:p>
            <a:pPr lvl="1"/>
            <a:r>
              <a:rPr/>
              <a:t>Prevent muscle loss</a:t>
            </a:r>
          </a:p>
        </p:txBody>
      </p:sp>
    </p:spTree>
  </p:cSld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Nasogastric (NG) Tube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Tube passed through nose into stomach</a:t>
                </a:r>
              </a:p>
              <a:p>
                <a:pPr lvl="0"/>
                <a:r>
                  <a:rPr/>
                  <a:t>Drains fluid from stomach</a:t>
                </a:r>
              </a:p>
              <a:p>
                <a:pPr lvl="0"/>
                <a:r>
                  <a:rPr/>
                  <a:t>Prevents vomiting</a:t>
                </a:r>
              </a:p>
              <a:p>
                <a:pPr lvl="0" indent="0" marL="0">
                  <a:buNone/>
                </a:pPr>
                <a:r>
                  <a:rPr/>
                  <a:t>Upper GI X-ray on 2nd or 3rd day after surgery</a:t>
                </a:r>
              </a:p>
              <a:p>
                <a:pPr lvl="0"/>
                <a:r>
                  <a:rPr/>
                  <a:t>If stomach empties well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NG tube removed</a:t>
                </a:r>
              </a:p>
              <a:p>
                <a:pPr lvl="0"/>
                <a:r>
                  <a:rPr/>
                  <a:t>Otherwise, X-ray repeated 2-3 days later</a:t>
                </a:r>
              </a:p>
            </p:txBody>
          </p:sp>
        </mc:Choice>
      </mc:AlternateContent>
    </p:spTree>
  </p:cSld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Swallowing Evaluation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Once NG tube has been removed:</a:t>
                </a:r>
              </a:p>
              <a:p>
                <a:pPr lvl="0" indent="0" marL="0">
                  <a:buNone/>
                </a:pPr>
                <a:r>
                  <a:rPr/>
                  <a:t>Modified barium swallow in radiology</a:t>
                </a:r>
              </a:p>
              <a:p>
                <a:pPr lvl="0"/>
                <a:r>
                  <a:rPr/>
                  <a:t>Drink a white chalky liquid (barium)</a:t>
                </a:r>
              </a:p>
              <a:p>
                <a:pPr lvl="0"/>
                <a:r>
                  <a:rPr/>
                  <a:t>Look for proper swallowing function</a:t>
                </a:r>
              </a:p>
              <a:p>
                <a:pPr lvl="0"/>
                <a:r>
                  <a:rPr/>
                  <a:t>80% of patients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liquids started by mouth</a:t>
                </a:r>
              </a:p>
            </p:txBody>
          </p:sp>
        </mc:Choice>
      </mc:AlternateContent>
    </p:spTree>
  </p:cSld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bypasses the stomach and injects tube feeding formula directly in to the small intestine (jejunum)</a:t>
            </a:r>
          </a:p>
          <a:p>
            <a:pPr lvl="0" indent="0" marL="0">
              <a:buNone/>
            </a:pPr>
            <a:r>
              <a:rPr/>
              <a:t>Pump administers the feedings slowly over hours</a:t>
            </a:r>
          </a:p>
        </p:txBody>
      </p:sp>
    </p:spTree>
  </p:cSld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Start with continuous feeds (24 hours/day)</a:t>
            </a:r>
          </a:p>
          <a:p>
            <a:pPr lvl="0"/>
            <a:r>
              <a:rPr/>
              <a:t>Convert to nocturnal (night-time): 6pm to 10pm</a:t>
            </a:r>
          </a:p>
          <a:p>
            <a:pPr lvl="0" indent="0" marL="0">
              <a:buNone/>
            </a:pPr>
            <a:r>
              <a:rPr/>
              <a:t>The feeding bag holds only 4 cartons of feeds - May need to “top off’ bag after a few hours</a:t>
            </a:r>
          </a:p>
          <a:p>
            <a:pPr lvl="0" indent="0" marL="0">
              <a:buNone/>
            </a:pPr>
            <a:r>
              <a:rPr/>
              <a:t>Water through the tube - Important to prevent dehydration - 250mL (8 oz) 4 times per day</a:t>
            </a:r>
          </a:p>
        </p:txBody>
      </p:sp>
    </p:spTree>
  </p:cSld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Oral Intake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are taking protein shakes when they go home</a:t>
            </a:r>
          </a:p>
          <a:p>
            <a:pPr lvl="0" indent="0" marL="0">
              <a:buNone/>
            </a:pPr>
            <a:r>
              <a:rPr/>
              <a:t>Protein shakes are started after tolerating water</a:t>
            </a:r>
            <a:br/>
          </a:p>
          <a:p>
            <a:pPr lvl="0"/>
            <a:r>
              <a:rPr/>
              <a:t>2 oz per hour to start</a:t>
            </a:r>
          </a:p>
          <a:p>
            <a:pPr lvl="0"/>
            <a:r>
              <a:rPr/>
              <a:t>4 oz per hour if 2oz are tolerated well</a:t>
            </a:r>
          </a:p>
        </p:txBody>
      </p:sp>
    </p:spTree>
  </p:cSld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Drains and Tubes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Chest Tube (right side): Removed 4-6 days after surgery (depending upon output) Abdomiaal drains: Removed 4-7 days after surgery Discharge with 1 abdominal drain in 10% of cases Epidural catheter: Removed 4-5 days after surgery Bladder catheter: Removed after epicura catheter removed</a:t>
            </a:r>
          </a:p>
        </p:txBody>
      </p:sp>
    </p:spTree>
  </p:cSld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Discharge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Goal: ready to leave day #7 after surgery</a:t>
            </a:r>
          </a:p>
          <a:p>
            <a:pPr lvl="0"/>
            <a:r>
              <a:rPr/>
              <a:t>Night-time tube feedings (6pm to 10am)</a:t>
            </a:r>
          </a:p>
          <a:p>
            <a:pPr lvl="0"/>
            <a:r>
              <a:rPr/>
              <a:t>Nutrition by mouth (90% of patients)</a:t>
            </a:r>
          </a:p>
          <a:p>
            <a:pPr lvl="1"/>
            <a:r>
              <a:rPr/>
              <a:t>Protein shakes or water 4oz every 2 hours</a:t>
            </a:r>
          </a:p>
          <a:p>
            <a:pPr lvl="0"/>
            <a:r>
              <a:rPr/>
              <a:t>Water through tube 8oz four times per day</a:t>
            </a:r>
          </a:p>
          <a:p>
            <a:pPr lvl="0"/>
            <a:r>
              <a:rPr/>
              <a:t>Home care nursing (feeding tube teaching)</a:t>
            </a:r>
          </a:p>
          <a:p>
            <a:pPr lvl="0"/>
            <a:r>
              <a:rPr/>
              <a:t>Home infusion (tube feeding supplies)</a:t>
            </a:r>
          </a:p>
        </p:txBody>
      </p:sp>
    </p:spTree>
  </p:cSld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discharge home:</a:t>
            </a:r>
          </a:p>
          <a:p>
            <a:pPr lvl="0"/>
            <a:r>
              <a:rPr/>
              <a:t>Protein shakes 4oz every 2 hrs</a:t>
            </a:r>
          </a:p>
          <a:p>
            <a:pPr lvl="0"/>
            <a:r>
              <a:rPr/>
              <a:t>Tube feeds 4-5 cans at night (6pm-10am)</a:t>
            </a:r>
          </a:p>
          <a:p>
            <a:pPr lvl="0" indent="0" marL="0">
              <a:buNone/>
            </a:pPr>
            <a:r>
              <a:rPr/>
              <a:t>10-12 Days: Increase protein shakes</a:t>
            </a:r>
          </a:p>
          <a:p>
            <a:pPr lvl="0"/>
            <a:r>
              <a:rPr/>
              <a:t>Tube feeds 3-4 cans at night</a:t>
            </a:r>
          </a:p>
          <a:p>
            <a:pPr lvl="0" indent="0" marL="0">
              <a:buNone/>
            </a:pPr>
            <a:r>
              <a:rPr/>
              <a:t>Three weeks: Post-esophagectomy Diet</a:t>
            </a:r>
          </a:p>
          <a:p>
            <a:pPr lvl="0" indent="0" marL="0">
              <a:buNone/>
            </a:pPr>
            <a:r>
              <a:rPr/>
              <a:t>8-12 weeks: Remove feeding tube (in office)</a:t>
            </a:r>
          </a:p>
        </p:txBody>
      </p:sp>
    </p:spTree>
  </p:cSld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284309" y="205979"/>
                <a:ext cx="8552330" cy="662317"/>
              </a:xfrm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Transition from Tube Feeds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Eating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Dietitian will calculate daily protein goal</a:t>
                </a:r>
              </a:p>
              <a:p>
                <a:pPr lvl="0"/>
                <a:r>
                  <a:rPr/>
                  <a:t>Typically 60-75 grams protein/day</a:t>
                </a:r>
              </a:p>
              <a:p>
                <a:pPr lvl="0"/>
                <a:r>
                  <a:rPr/>
                  <a:t>Each carton of tube feeding has 15 grams</a:t>
                </a:r>
              </a:p>
              <a:p>
                <a:pPr lvl="1"/>
                <a:r>
                  <a:rPr/>
                  <a:t>75 grams protein = 5 cartons/night</a:t>
                </a:r>
              </a:p>
              <a:p>
                <a:pPr lvl="0"/>
                <a:r>
                  <a:rPr/>
                  <a:t>More intake by mouth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tube feeds reduced</a:t>
                </a:r>
              </a:p>
              <a:p>
                <a:pPr lvl="0" indent="0" marL="0">
                  <a:buNone/>
                </a:pPr>
                <a:r>
                  <a:rPr/>
                  <a:t>Spread out protein during the day (20gm/meal)</a:t>
                </a:r>
              </a:p>
              <a:p>
                <a:pPr lvl="0"/>
                <a:r>
                  <a:rPr/>
                  <a:t>Three meals + 2-3 high-protein snacks</a:t>
                </a:r>
              </a:p>
            </p:txBody>
          </p:sp>
        </mc:Choice>
      </mc:AlternateContent>
    </p:spTree>
  </p:cSld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Post-esophagectomy Diet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Soft Consistency</a:t>
            </a:r>
          </a:p>
          <a:p>
            <a:pPr lvl="0"/>
            <a:r>
              <a:rPr/>
              <a:t>High Protein</a:t>
            </a:r>
          </a:p>
          <a:p>
            <a:pPr lvl="0"/>
            <a:r>
              <a:rPr/>
              <a:t>Avoid sugary liquids (can cause ‘dumping’)</a:t>
            </a:r>
          </a:p>
          <a:p>
            <a:pPr lvl="0"/>
            <a:r>
              <a:rPr/>
              <a:t>Avoid raw vegetables (and salads)</a:t>
            </a:r>
          </a:p>
          <a:p>
            <a:pPr lvl="0"/>
            <a:r>
              <a:rPr/>
              <a:t>Eating</a:t>
            </a:r>
          </a:p>
          <a:p>
            <a:pPr lvl="1"/>
            <a:r>
              <a:rPr/>
              <a:t>Small, frequent meals</a:t>
            </a:r>
          </a:p>
          <a:p>
            <a:pPr lvl="1"/>
            <a:r>
              <a:rPr/>
              <a:t>Sit up for 30-45 minutes after eating</a:t>
            </a:r>
          </a:p>
          <a:p>
            <a:pPr lvl="1"/>
            <a:r>
              <a:rPr/>
              <a:t>Avoid eating within 2 hours of bedtime</a:t>
            </a:r>
          </a:p>
        </p:txBody>
      </p:sp>
    </p:spTree>
  </p:cSld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 - Pain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Acetaminophen (Tylenol) 1000mg 4x/day</a:t>
            </a:r>
          </a:p>
          <a:p>
            <a:pPr lvl="0" indent="0" marL="0">
              <a:buNone/>
            </a:pPr>
            <a:r>
              <a:rPr/>
              <a:t>Gabapentin 300mg 3 times/day</a:t>
            </a:r>
          </a:p>
          <a:p>
            <a:pPr lvl="0" indent="0" marL="0">
              <a:buNone/>
            </a:pPr>
            <a:r>
              <a:rPr/>
              <a:t>Oxycodone</a:t>
            </a:r>
          </a:p>
          <a:p>
            <a:pPr lvl="0"/>
            <a:r>
              <a:rPr/>
              <a:t>As needed in addition to Tylenol/gabapentin</a:t>
            </a:r>
          </a:p>
          <a:p>
            <a:pPr lvl="0"/>
            <a:r>
              <a:rPr/>
              <a:t>Will begin reducing dose at first postop visit</a:t>
            </a:r>
          </a:p>
          <a:p>
            <a:pPr lvl="0"/>
            <a:r>
              <a:rPr/>
              <a:t>Can usually discontinue by 4 weeks</a:t>
            </a:r>
          </a:p>
          <a:p>
            <a:pPr lvl="0"/>
            <a:r>
              <a:rPr/>
              <a:t>NO DRIVING WHILE ON OXYCODONE</a:t>
            </a:r>
          </a:p>
        </p:txBody>
      </p:sp>
    </p:spTree>
  </p:cSld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Non-steroidals Anti Inflammatory (NSAID)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Non-steroidal anti-inflammatories (Celebrex)</a:t>
            </a:r>
          </a:p>
          <a:p>
            <a:pPr lvl="0"/>
            <a:r>
              <a:rPr/>
              <a:t>200 mg every 12 hours starting at 2 weeks</a:t>
            </a:r>
          </a:p>
          <a:p>
            <a:pPr lvl="0" indent="0" marL="0">
              <a:buNone/>
            </a:pPr>
            <a:r>
              <a:rPr/>
              <a:t>NO GOODY POWDERS OR BCs</a:t>
            </a:r>
          </a:p>
          <a:p>
            <a:pPr lvl="0"/>
            <a:r>
              <a:rPr/>
              <a:t>(Can cause permanent scarring at the surgery site)</a:t>
            </a:r>
          </a:p>
        </p:txBody>
      </p:sp>
    </p:spTree>
  </p:cSld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Acid Blockers = Proton Pump Inhibitors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Examples include ompeprazole and pantoprazole</a:t>
            </a:r>
          </a:p>
          <a:p>
            <a:pPr lvl="0"/>
            <a:r>
              <a:rPr/>
              <a:t>Will stay on for at 1-2 years to prevent acid reflux</a:t>
            </a:r>
          </a:p>
          <a:p>
            <a:pPr lvl="0"/>
            <a:r>
              <a:rPr/>
              <a:t>Important in preventing scarring at anastomosis (new connection between esophagus and stomach)</a:t>
            </a:r>
          </a:p>
          <a:p>
            <a:pPr lvl="0"/>
            <a:r>
              <a:rPr/>
              <a:t>To administer through feeding tube, open capsule and resuspend beads in 60mL (2oz) of water</a:t>
            </a:r>
          </a:p>
        </p:txBody>
      </p:sp>
    </p:spTree>
  </p:cSld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Reglan – Helps stomach empty</a:t>
            </a:r>
          </a:p>
          <a:p>
            <a:pPr lvl="0"/>
            <a:r>
              <a:rPr/>
              <a:t>Will plan to stop after six weeks</a:t>
            </a:r>
          </a:p>
          <a:p>
            <a:pPr lvl="0"/>
            <a:r>
              <a:rPr/>
              <a:t>0.1% risk of tardive dyskinesia (nervous tic)</a:t>
            </a:r>
          </a:p>
          <a:p>
            <a:pPr lvl="0" indent="0" marL="0">
              <a:buNone/>
            </a:pPr>
            <a:r>
              <a:rPr/>
              <a:t>Remeron – Helps improve appetite</a:t>
            </a:r>
          </a:p>
          <a:p>
            <a:pPr lvl="0"/>
            <a:r>
              <a:rPr/>
              <a:t>Can cause vivid dreams</a:t>
            </a:r>
          </a:p>
          <a:p>
            <a:pPr lvl="0"/>
            <a:r>
              <a:rPr/>
              <a:t>Used for several weeks after surgery</a:t>
            </a:r>
          </a:p>
          <a:p>
            <a:pPr lvl="0"/>
            <a:r>
              <a:rPr/>
              <a:t>Will stop within first three months of surgery</a:t>
            </a:r>
          </a:p>
        </p:txBody>
      </p:sp>
    </p:spTree>
  </p:cSld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Metoprolol = Beta Blockers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Slows heart rate and lowers blood pressure</a:t>
                </a:r>
                <a:br/>
              </a:p>
              <a:p>
                <a:pPr lvl="0"/>
                <a:r>
                  <a:rPr/>
                  <a:t>Used to prevent rapid heart rate</a:t>
                </a:r>
              </a:p>
              <a:p>
                <a:pPr lvl="0"/>
                <a:r>
                  <a:rPr/>
                  <a:t>Patients not taking a beta blocker 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wean after after surgery</a:t>
                </a:r>
              </a:p>
              <a:p>
                <a:pPr lvl="0"/>
                <a:r>
                  <a:rPr/>
                  <a:t>Patients taking a beta blockerprior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return to prior dose and drug after surgery</a:t>
                </a:r>
              </a:p>
            </p:txBody>
          </p:sp>
        </mc:Choice>
      </mc:AlternateContent>
    </p:spTree>
  </p:cSld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Sleeping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Reflux can occur the first few weeks/months after surgery</a:t>
            </a:r>
          </a:p>
          <a:p>
            <a:pPr lvl="0" indent="0" marL="0">
              <a:buNone/>
            </a:pPr>
            <a:r>
              <a:rPr/>
              <a:t>This improves over the first few months</a:t>
            </a:r>
          </a:p>
          <a:p>
            <a:pPr lvl="0" indent="0" marL="0">
              <a:buNone/>
            </a:pPr>
            <a:r>
              <a:rPr/>
              <a:t>A wedge pillow can be helpful for sleep</a:t>
            </a:r>
          </a:p>
        </p:txBody>
      </p:sp>
      <p:pic>
        <p:nvPicPr>
          <p:cNvPr descr="images/wedge_pillow_comm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Follow Up Clinic Visit 7-10 days after Discharge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In-person clinic visit with Dr Salo or Kate Duncan</a:t>
            </a:r>
          </a:p>
          <a:p>
            <a:pPr lvl="0"/>
            <a:r>
              <a:rPr/>
              <a:t>Check surgical site</a:t>
            </a:r>
          </a:p>
          <a:p>
            <a:pPr lvl="0"/>
            <a:r>
              <a:rPr/>
              <a:t>Remove staples (if needed)</a:t>
            </a:r>
          </a:p>
          <a:p>
            <a:pPr lvl="0"/>
            <a:r>
              <a:rPr/>
              <a:t>Remove abdominal drains (if needed)</a:t>
            </a:r>
          </a:p>
          <a:p>
            <a:pPr lvl="0" indent="0" marL="0">
              <a:buNone/>
            </a:pPr>
            <a:r>
              <a:rPr/>
              <a:t>Meet with dietitian:</a:t>
            </a:r>
          </a:p>
          <a:p>
            <a:pPr lvl="0"/>
            <a:r>
              <a:rPr/>
              <a:t>Reduce tube feeds</a:t>
            </a:r>
          </a:p>
          <a:p>
            <a:pPr lvl="0"/>
            <a:r>
              <a:rPr/>
              <a:t>Advance diet by mouth</a:t>
            </a:r>
          </a:p>
        </p:txBody>
      </p:sp>
    </p:spTree>
  </p:cSld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Adjust Medicines after Surgery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Reglan: Discontinue 6 weeks after surgery Remeron: Discontinue 12 weeks after surgery Pain Medicines:</a:t>
                </a:r>
              </a:p>
              <a:p>
                <a:pPr lvl="0"/>
                <a:r>
                  <a:rPr/>
                  <a:t>Wean oxycodone within 6 weeks of surgery</a:t>
                </a:r>
              </a:p>
              <a:p>
                <a:pPr lvl="0"/>
                <a:r>
                  <a:rPr/>
                  <a:t>Discontinue gabapentin and acetaminophen (Tylenol) within 8 weeks</a:t>
                </a:r>
              </a:p>
              <a:p>
                <a:pPr lvl="0" indent="0" marL="0">
                  <a:buNone/>
                </a:pPr>
                <a:r>
                  <a:rPr/>
                  <a:t>Continue acid blockers (PPI) for at least 1 year</a:t>
                </a:r>
              </a:p>
              <a:p>
                <a:pPr lvl="0" indent="0" marL="0">
                  <a:buNone/>
                </a:pPr>
                <a:r>
                  <a:rPr/>
                  <a:t>Reduce metoprolol to once/day for 7 dayus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discontinue</a:t>
                </a:r>
              </a:p>
            </p:txBody>
          </p:sp>
        </mc:Choice>
      </mc:AlternateContent>
    </p:spTree>
  </p:cSld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Removal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is removed in the office once you can take in enough nutrients by mouth</a:t>
            </a:r>
          </a:p>
          <a:p>
            <a:pPr lvl="0" indent="0" marL="0">
              <a:buNone/>
            </a:pPr>
            <a:r>
              <a:rPr/>
              <a:t>Removal usually around 8 weeks after surgery</a:t>
            </a:r>
          </a:p>
          <a:p>
            <a:pPr lvl="0" indent="0" marL="0">
              <a:buNone/>
            </a:pPr>
            <a:r>
              <a:rPr/>
              <a:t>May take 5 minutes and some local anesthetic to loosen up the tube for removal.</a:t>
            </a:r>
          </a:p>
        </p:txBody>
      </p:sp>
    </p:spTree>
  </p:cSld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may have difficulty absorbing some nutrients:</a:t>
            </a:r>
          </a:p>
          <a:p>
            <a:pPr lvl="0"/>
            <a:r>
              <a:rPr/>
              <a:t>Iron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3 months after the jejunostomy tube is removed, we will check blood levels:</a:t>
            </a:r>
          </a:p>
          <a:p>
            <a:pPr lvl="0"/>
            <a:r>
              <a:rPr/>
              <a:t>Iron (ferritin)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Replacements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Vitamin or iron replacements can be ordered by:</a:t>
            </a:r>
          </a:p>
          <a:p>
            <a:pPr lvl="0"/>
            <a:r>
              <a:rPr/>
              <a:t>Primary Care Provider (PCP)</a:t>
            </a:r>
          </a:p>
          <a:p>
            <a:pPr lvl="0"/>
            <a:r>
              <a:rPr/>
              <a:t>Medical Oncologist</a:t>
            </a:r>
          </a:p>
          <a:p>
            <a:pPr lvl="0"/>
            <a:r>
              <a:rPr/>
              <a:t>Surgeon</a:t>
            </a:r>
          </a:p>
          <a:p>
            <a:pPr lvl="0" indent="0" marL="0">
              <a:buNone/>
            </a:pPr>
            <a:r>
              <a:rPr/>
              <a:t>If levels are low</a:t>
            </a:r>
          </a:p>
          <a:p>
            <a:pPr lvl="0"/>
            <a:r>
              <a:rPr/>
              <a:t>Replacement</a:t>
            </a:r>
          </a:p>
          <a:p>
            <a:pPr lvl="0"/>
            <a:r>
              <a:rPr/>
              <a:t>Repeat testing in 3-6 months</a:t>
            </a:r>
          </a:p>
        </p:txBody>
      </p:sp>
    </p:spTree>
  </p:cSld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Kelli Salter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Navigators: Laura Swift RN &amp; Lorna Espinal RN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Squamous Cell Carcinoma of the Esophagus</dc:title>
  <dc:creator/>
  <cp:keywords/>
  <dcterms:created xsi:type="dcterms:W3CDTF">2026-09-22T00:37:43Z</dcterms:created>
  <dcterms:modified xsi:type="dcterms:W3CDTF">2026-09-22T00:37:43Z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