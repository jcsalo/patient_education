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4" Type="http://schemas.openxmlformats.org/officeDocument/2006/relationships/viewProps" Target="viewProps.xml" /><Relationship Id="rId1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6" Type="http://schemas.openxmlformats.org/officeDocument/2006/relationships/tableStyles" Target="tableStyles.xml" /><Relationship Id="rId1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jp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5.png" /><Relationship Id="rId2" Type="http://schemas.openxmlformats.org/officeDocument/2006/relationships/image" Target="../media/image34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6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6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6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9.png" /><Relationship Id="rId2" Type="http://schemas.openxmlformats.org/officeDocument/2006/relationships/image" Target="../media/image38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0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1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2.png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3.png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4.jpg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Squamous Cell Carcinoma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 Depends upon Stage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(T1b): 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(T2/3): Chemo+Radiation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initial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Endoscopy after Initial Therapy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Performed to look for signs of persistent cancer</a:t>
                </a:r>
              </a:p>
              <a:p>
                <a:pPr lvl="0" indent="0" marL="0">
                  <a:buNone/>
                </a:pPr>
                <a:r>
                  <a:rPr/>
                  <a:t>Biopsies show no cancer in 75% of cases</a:t>
                </a:r>
              </a:p>
              <a:p>
                <a:pPr lvl="0" indent="0" marL="0">
                  <a:buNone/>
                </a:pPr>
                <a:r>
                  <a:rPr/>
                  <a:t>Disappearance of cancer in 40% of cases - Persistent cancer in 60%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cancer cells can hide in the wall of the esophagus</a:t>
                </a:r>
              </a:p>
              <a:p>
                <a:pPr lvl="0" indent="0" marL="0">
                  <a:buNone/>
                </a:pPr>
                <a:r>
                  <a:rPr/>
                  <a:t>Regular endoscopy is important to look for regrowth of cancer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recommended for all patients who have:</a:t>
            </a:r>
          </a:p>
          <a:p>
            <a:pPr lvl="0"/>
            <a:r>
              <a:rPr/>
              <a:t>Biopsies showing cancer after chemo + radiation</a:t>
            </a:r>
          </a:p>
          <a:p>
            <a:pPr lvl="0"/>
            <a:r>
              <a:rPr/>
              <a:t>No signs of spread of disease on PET/CT scan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also recommended for patients who:</a:t>
            </a:r>
          </a:p>
          <a:p>
            <a:pPr lvl="0"/>
            <a:r>
              <a:rPr/>
              <a:t>No signs of spread on disease on PET/CT scan</a:t>
            </a:r>
          </a:p>
          <a:p>
            <a:pPr lvl="0"/>
            <a:r>
              <a:rPr/>
              <a:t>Cancer in the lower part of the esophagus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Surveillance if Surgery Not Performed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Upper endoscopy (EGD) every 3-6 months</a:t>
                </a:r>
              </a:p>
              <a:p>
                <a:pPr lvl="0"/>
                <a:r>
                  <a:rPr/>
                  <a:t>PET every 6 months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 if a recurrence in the esophagus is found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/>
                <a:r>
                  <a:rPr/>
                  <a:t>Aim for surgery within 6 weeks of consultation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 Esophagectomy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 Esophagectomy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RaMIE_incis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ensure adequate nutrition after surgery, a temporary feeding tube is placed to supplement nutrition by mouth.</a:t>
            </a:r>
          </a:p>
          <a:p>
            <a:pPr lvl="0" indent="0" marL="0">
              <a:buNone/>
            </a:pPr>
            <a:r>
              <a:rPr/>
              <a:t>Jejunostomy tube bypasses the stomach and injects tube feeding formula directly in to the small intestine (jejunum)</a:t>
            </a:r>
          </a:p>
        </p:txBody>
      </p:sp>
      <p:pic>
        <p:nvPicPr>
          <p:cNvPr descr="images/jejunostomy/esophagectomy_jejunos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Feedings are administered through the jejunostomy at night by a pump</a:t>
            </a:r>
          </a:p>
        </p:txBody>
      </p:sp>
      <p:pic>
        <p:nvPicPr>
          <p:cNvPr descr="images/jejunostomy/esophagectomy_jtube_pum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 - Important to prevent dehydration - 250mL (8 oz) 4 times per day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Abdomiaal drains: Removed 4-7 days after surgery Discharge with 1 abdominal drain in 10% of cases Epidural catheter: Removed 4-5 days after surgery Bladder catheter: Removed after epicura catheter removed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Clinic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Second Follow Up Visit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4-5 weeks after first post-operative visit</a:t>
            </a:r>
          </a:p>
          <a:p>
            <a:pPr lvl="0"/>
            <a:r>
              <a:rPr/>
              <a:t>Discuss diet</a:t>
            </a:r>
          </a:p>
          <a:p>
            <a:pPr lvl="0"/>
            <a:r>
              <a:rPr/>
              <a:t>Discuss medicines</a:t>
            </a:r>
          </a:p>
          <a:p>
            <a:pPr lvl="0"/>
            <a:r>
              <a:rPr/>
              <a:t>Plan for jejunostomy removal</a:t>
            </a:r>
          </a:p>
          <a:p>
            <a:pPr lvl="0"/>
            <a:r>
              <a:rPr/>
              <a:t>Evaluate readiness for chemotherapy after surgery (usually 6 weeks)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Eating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Postoperative Visit: Start soft foods (Phase I diet)</a:t>
            </a:r>
          </a:p>
          <a:p>
            <a:pPr lvl="0" indent="0" marL="0">
              <a:buNone/>
            </a:pPr>
            <a:r>
              <a:rPr/>
              <a:t>Weekly virtual visits with dietitian</a:t>
            </a:r>
          </a:p>
          <a:p>
            <a:pPr lvl="0" indent="0" marL="0">
              <a:buNone/>
            </a:pPr>
            <a:r>
              <a:rPr/>
              <a:t>Jejunostomy removal generally at 8 weeks after surgery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 (may be longer if chemotherapy planned after surgery)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Squamous Cell Carcinoma of the Esophagus</dc:title>
  <dc:creator/>
  <cp:keywords/>
  <dcterms:created xsi:type="dcterms:W3CDTF">2026-09-23T11:34:32Z</dcterms:created>
  <dcterms:modified xsi:type="dcterms:W3CDTF">2026-09-23T11:34:32Z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