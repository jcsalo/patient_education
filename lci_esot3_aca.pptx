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3" Type="http://schemas.openxmlformats.org/officeDocument/2006/relationships/viewProps" Target="viewProps.xml" /><Relationship Id="rId6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5" Type="http://schemas.openxmlformats.org/officeDocument/2006/relationships/tableStyles" Target="tableStyles.xml" /><Relationship Id="rId6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jp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jp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6.png" /><Relationship Id="rId2" Type="http://schemas.openxmlformats.org/officeDocument/2006/relationships/image" Target="../media/image25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</a:t>
                </a:r>
              </a:p>
              <a:p>
                <a:pPr lvl="0"/>
                <a:r>
                  <a:rPr/>
                  <a:t>Endoscopic Therapy</a:t>
                </a:r>
              </a:p>
              <a:p>
                <a:pPr lvl="0" indent="0" marL="0">
                  <a:buNone/>
                </a:pPr>
                <a:r>
                  <a:rPr/>
                  <a:t>Localized (T1b/T2)</a:t>
                </a:r>
              </a:p>
              <a:p>
                <a:pPr lvl="0"/>
                <a:r>
                  <a:rPr/>
                  <a:t>Surgery (esophagectomy)</a:t>
                </a:r>
              </a:p>
              <a:p>
                <a:pPr lvl="0" indent="0" marL="0">
                  <a:buNone/>
                </a:pPr>
                <a:r>
                  <a:rPr/>
                  <a:t>Locally-advanced (T3M0)</a:t>
                </a:r>
              </a:p>
              <a:p>
                <a:pPr lvl="0"/>
                <a:r>
                  <a:rPr/>
                  <a:t>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r>
                  <a:rPr/>
                  <a:t>Metastatic (M1)</a:t>
                </a:r>
              </a:p>
              <a:p>
                <a:pPr lvl="0"/>
                <a:r>
                  <a:rPr/>
                  <a:t>Chemotherapy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Patients with locally-advanced esophageal cancer often have localized spread of cancer cells in the surrounding area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</p:txBody>
      </p:sp>
      <p:pic>
        <p:nvPicPr>
          <p:cNvPr descr="images/Eso_tumor100_resection_intr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  <a:p>
            <a:pPr lvl="0" indent="0" marL="0">
              <a:buNone/>
            </a:pPr>
            <a:r>
              <a:rPr/>
              <a:t>There is a risk that cancer cells can be left behind</a:t>
            </a:r>
          </a:p>
        </p:txBody>
      </p:sp>
      <p:pic>
        <p:nvPicPr>
          <p:cNvPr descr="images/Eso_tumor100_resection_po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4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after 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</p:txBody>
      </p:sp>
      <p:pic>
        <p:nvPicPr>
          <p:cNvPr descr="images/Eso_tumor00_resection1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Patients were treated in two groups: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Chemotherapy + radiation together over 6 wks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Longer Survival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CROSS Trial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schedule for chemotherapy + radiation:</a:t>
            </a:r>
          </a:p>
          <a:p>
            <a:pPr lvl="0"/>
            <a:r>
              <a:rPr/>
              <a:t>Chemotherapy once per week for six weeks</a:t>
            </a:r>
          </a:p>
          <a:p>
            <a:pPr lvl="0"/>
            <a:r>
              <a:rPr/>
              <a:t>Radiation five days per week for six weeks (28)</a:t>
            </a:r>
          </a:p>
          <a:p>
            <a:pPr lvl="0"/>
            <a:r>
              <a:rPr/>
              <a:t>PET scan (or CT) 4 weeks after the end of radiation</a:t>
            </a:r>
          </a:p>
          <a:p>
            <a:pPr lvl="0"/>
            <a:r>
              <a:rPr/>
              <a:t>Surgery 8 weeks after the end of radiation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- Side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Kills cancer cells in the esophagus and lymph nodes</a:t>
            </a:r>
          </a:p>
          <a:p>
            <a:pPr lvl="0" indent="0" marL="0">
              <a:buNone/>
            </a:pPr>
            <a:r>
              <a:rPr/>
              <a:t>Can also irritate the lining of the esophagus.</a:t>
            </a:r>
          </a:p>
          <a:p>
            <a:pPr lvl="0" indent="0" marL="0">
              <a:buNone/>
            </a:pPr>
            <a:r>
              <a:rPr/>
              <a:t>Swallowing can be difficult the last 2 weeks.</a:t>
            </a:r>
          </a:p>
          <a:p>
            <a:pPr lvl="0" indent="0" marL="0">
              <a:buNone/>
            </a:pPr>
            <a:r>
              <a:rPr/>
              <a:t>Feeding tube may be needed for hydration/nutrition.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Adenocarcinoma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“Sandwich” chemotherapy before + after surgery:</a:t>
                </a:r>
              </a:p>
              <a:p>
                <a:pPr lvl="0" indent="0" marL="0">
                  <a:buNone/>
                </a:pPr>
                <a:r>
                  <a:rPr/>
                  <a:t>Chemo (8 wks)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(8 wks)</a:t>
                </a:r>
              </a:p>
              <a:p>
                <a:pPr lvl="0" indent="0" marL="0">
                  <a:buNone/>
                </a:pPr>
                <a:r>
                  <a:rPr/>
                  <a:t>Two different drug combinations:</a:t>
                </a:r>
              </a:p>
              <a:p>
                <a:pPr lvl="0"/>
                <a:r>
                  <a:rPr/>
                  <a:t>FLOT (more effective)</a:t>
                </a:r>
              </a:p>
              <a:p>
                <a:pPr lvl="0"/>
                <a:r>
                  <a:rPr/>
                  <a:t>FOLFOX (better tolerated)</a:t>
                </a:r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“Sandwich” Chemotherapy Drugs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Leucovorion</a:t>
            </a:r>
          </a:p>
          <a:p>
            <a:pPr lvl="0"/>
            <a:r>
              <a:rPr/>
              <a:t>Oxaliplatin</a:t>
            </a:r>
          </a:p>
          <a:p>
            <a:pPr lvl="0"/>
            <a:r>
              <a:rPr/>
              <a:t>Taxotere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FOLFOX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Leucovorin</a:t>
            </a:r>
          </a:p>
          <a:p>
            <a:pPr lvl="0"/>
            <a:r>
              <a:rPr/>
              <a:t>Oxaliplatin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Treatment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FLOT Chemo every 2 weeks x 4 (=8 weeks total)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Chemo every 2 weeks x 4 (=8 weeks total)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Durvalumab Immunotherapy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 cells can turn off immune cells using a protein PD-L1</a:t>
            </a:r>
          </a:p>
          <a:p>
            <a:pPr lvl="0" indent="0" marL="0">
              <a:buNone/>
            </a:pPr>
            <a:r>
              <a:rPr/>
              <a:t>Darvalumab turns on immune cells by counteracting PD-L1</a:t>
            </a:r>
          </a:p>
          <a:p>
            <a:pPr lvl="0" indent="0" marL="0">
              <a:buNone/>
            </a:pPr>
            <a:r>
              <a:rPr/>
              <a:t>Durvalumab strengthens the immmune system to fight cancer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Matterhorn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Matterhorn clinical trial compared two types of treatment:</a:t>
                </a:r>
              </a:p>
              <a:p>
                <a:pPr lvl="0" indent="0" marL="0">
                  <a:buNone/>
                </a:pPr>
                <a:r>
                  <a:rPr/>
                  <a:t>FLOT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</a:t>
                </a:r>
              </a:p>
              <a:p>
                <a:pPr lvl="0" indent="0" marL="0">
                  <a:buNone/>
                </a:pPr>
                <a:r>
                  <a:rPr/>
                  <a:t>FLOT + Durvalumab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+ Durvalumab</a:t>
                </a:r>
              </a:p>
              <a:p>
                <a:pPr lvl="0" indent="0" marL="0">
                  <a:buNone/>
                </a:pPr>
                <a:r>
                  <a:rPr/>
                  <a:t>Better survival with addition of durvalumab to FLOT</a:t>
                </a:r>
              </a:p>
              <a:p>
                <a:pPr lvl="0" indent="0" marL="0">
                  <a:buNone/>
                </a:pPr>
                <a:r>
                  <a:rPr b="1"/>
                  <a:t>Treatment with durvalumab depends upon approval from insurance company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Chemo ± Durvalumab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FLOT (8 weeks)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(8 weeks)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+ Durvalumab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Durvalumab monthly x10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Pathology Tests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Show whether other drugs may be helpful: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can be helpful</a:t>
                </a:r>
              </a:p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 + Radiation</a:t>
            </a:r>
          </a:p>
          <a:p>
            <a:pPr lvl="0"/>
            <a:r>
              <a:rPr/>
              <a:t>Chemo + Radiation (6wk)</a:t>
            </a:r>
          </a:p>
          <a:p>
            <a:pPr lvl="0"/>
            <a:r>
              <a:rPr/>
              <a:t>Surgery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Chemo (8wk)</a:t>
            </a:r>
          </a:p>
          <a:p>
            <a:pPr lvl="0"/>
            <a:r>
              <a:rPr/>
              <a:t>Surgery</a:t>
            </a:r>
          </a:p>
          <a:p>
            <a:pPr lvl="0"/>
            <a:r>
              <a:rPr/>
              <a:t>Chemo (8wk)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Chemo + Radiation</a:t>
                </a:r>
              </a:p>
              <a:p>
                <a:pPr lvl="0"/>
                <a:r>
                  <a:rPr/>
                  <a:t>Longer track record</a:t>
                </a:r>
              </a:p>
              <a:p>
                <a:pPr lvl="0"/>
                <a:r>
                  <a:rPr/>
                  <a:t>Better tolerated</a:t>
                </a:r>
              </a:p>
              <a:p>
                <a:pPr lvl="0"/>
                <a:r>
                  <a:rPr/>
                  <a:t>Port usually placed</a:t>
                </a:r>
              </a:p>
              <a:p>
                <a:pPr lvl="0"/>
                <a:r>
                  <a:rPr/>
                  <a:t>Eating worse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better</a:t>
                </a:r>
              </a:p>
              <a:p>
                <a:pPr lvl="0"/>
                <a:r>
                  <a:rPr/>
                  <a:t>May need feeding tube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More effective</a:t>
            </a:r>
          </a:p>
          <a:p>
            <a:pPr lvl="0"/>
            <a:r>
              <a:rPr/>
              <a:t>More side effects</a:t>
            </a:r>
          </a:p>
          <a:p>
            <a:pPr lvl="0"/>
            <a:r>
              <a:rPr/>
              <a:t>Port always required</a:t>
            </a:r>
          </a:p>
          <a:p>
            <a:pPr lvl="0"/>
            <a:r>
              <a:rPr/>
              <a:t>Eating slowly improves</a:t>
            </a:r>
          </a:p>
          <a:p>
            <a:pPr lvl="0"/>
            <a:r>
              <a:rPr/>
              <a:t>Less likely to need feeding tube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or PET scan will be performed after preoperative therapy</a:t>
            </a:r>
          </a:p>
          <a:p>
            <a:pPr lvl="0" indent="0" marL="0">
              <a:buNone/>
            </a:pPr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Adenocarcinoma of the Esophagus and GE Junction</dc:title>
  <dc:creator/>
  <cp:keywords/>
  <dcterms:created xsi:type="dcterms:W3CDTF">2026-07-31T09:07:56Z</dcterms:created>
  <dcterms:modified xsi:type="dcterms:W3CDTF">2026-07-31T09:07:56Z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