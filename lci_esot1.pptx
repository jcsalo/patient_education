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jpg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  <a:p>
            <a:pPr lvl="0" indent="0" marL="0">
              <a:buNone/>
            </a:pPr>
            <a:r>
              <a:rPr/>
              <a:t>In many ways, these to different types of esophageal cancer behave the same.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 and prevents it from entering the esophagus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</a:t>
            </a:r>
          </a:p>
          <a:p>
            <a:pPr lvl="0" indent="0" marL="0">
              <a:buNone/>
            </a:pPr>
            <a:r>
              <a:rPr/>
              <a:t>If the valve does not work properly, acid enters the esophagus and cause heartburn and damage to the lining of the esophagus.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Barrett’s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time, the lining of the esophagus undergoes change in response to the acid.</a:t>
            </a:r>
          </a:p>
        </p:txBody>
      </p:sp>
      <p:pic>
        <p:nvPicPr>
          <p:cNvPr descr="images/barretts_co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a period of years, pre-cancerous changes can develop within Barrett’s esopahgus.</a:t>
            </a:r>
          </a:p>
          <a:p>
            <a:pPr lvl="0" indent="0" marL="0">
              <a:buNone/>
            </a:pPr>
            <a:r>
              <a:rPr/>
              <a:t>These changes can be seen by the pathologist from biopsies taken from the esophagus</a:t>
            </a:r>
          </a:p>
          <a:p>
            <a:pPr lvl="0" indent="0" marL="0">
              <a:buNone/>
            </a:pPr>
            <a:r>
              <a:rPr/>
              <a:t>Over time, low-grade dysplasia can progress to high-grade dysplasia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Dysplasia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Cancer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Low grade dysplasia: Risk of cancer 0.5% per year</a:t>
                </a:r>
              </a:p>
              <a:p>
                <a:pPr lvl="0" indent="0" marL="0">
                  <a:buNone/>
                </a:pPr>
                <a:r>
                  <a:rPr/>
                  <a:t>High-grade dysplasia: Risk of cancer 5% per year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Surveillance with upper endoscopy is critical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Dysplasia can be treated with destroying the mucosa, the inner layer of esophgus</a:t>
            </a:r>
          </a:p>
          <a:p>
            <a:pPr lvl="0" indent="0" marL="0">
              <a:buNone/>
            </a:pPr>
            <a:r>
              <a:rPr/>
              <a:t>Ablation of the mucosa with microwave energy</a:t>
            </a:r>
          </a:p>
          <a:p>
            <a:pPr lvl="0" indent="0" marL="0">
              <a:buNone/>
            </a:pPr>
            <a:r>
              <a:rPr/>
              <a:t>Circular balloon with an antenna used to ablate the mucosa</a:t>
            </a:r>
          </a:p>
        </p:txBody>
      </p:sp>
      <p:pic>
        <p:nvPicPr>
          <p:cNvPr descr="images/esot1_barx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943100"/>
            <a:ext cx="41910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Ablation</a:t>
            </a:r>
          </a:p>
        </p:txBody>
      </p:sp>
      <p:pic>
        <p:nvPicPr>
          <p:cNvPr descr="images/25FF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25600"/>
            <a:ext cx="2603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Ablation</a:t>
            </a:r>
          </a:p>
        </p:txBody>
      </p:sp>
      <p:pic>
        <p:nvPicPr>
          <p:cNvPr descr="images/25FF5after%20RF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625600"/>
            <a:ext cx="2641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Cancers = T1a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is often with by endoscopic resection without the need for surgery.</a:t>
            </a:r>
          </a:p>
        </p:txBody>
      </p:sp>
      <p:pic>
        <p:nvPicPr>
          <p:cNvPr descr="images/tumor2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</a:t>
            </a:r>
          </a:p>
        </p:txBody>
      </p:sp>
      <p:pic>
        <p:nvPicPr>
          <p:cNvPr descr="images/EMR_Tumor/t1a_cen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Removal - Resection</a:t>
            </a:r>
          </a:p>
        </p:txBody>
      </p:sp>
      <p:pic>
        <p:nvPicPr>
          <p:cNvPr descr="images/EMR_Tumor/tumor_EMR_sn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sub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May be the only treatment required</a:t>
            </a:r>
          </a:p>
          <a:p>
            <a:pPr lvl="0"/>
            <a:r>
              <a:rPr/>
              <a:t>Requires endoscopic surveillance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pic>
        <p:nvPicPr>
          <p:cNvPr descr="images/EMR_Tumor/emr_un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/>
              <a:t>Tumor at deep margin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un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(surgery) is standard recommendation</a:t>
            </a:r>
          </a:p>
        </p:txBody>
      </p:sp>
      <p:pic>
        <p:nvPicPr>
          <p:cNvPr descr="images/EMR_Tumor/emr_recurr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Positive_D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Unable to Lift Tumor</a:t>
            </a:r>
          </a:p>
        </p:txBody>
      </p:sp>
      <p:pic>
        <p:nvPicPr>
          <p:cNvPr descr="images/EMR_Tumor/t1b_noli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Superficial Cancer of the Esophagus and GE Junction</dc:title>
  <dc:creator/>
  <cp:keywords/>
  <dcterms:created xsi:type="dcterms:W3CDTF">2026-07-31T09:06:20Z</dcterms:created>
  <dcterms:modified xsi:type="dcterms:W3CDTF">2026-07-31T09:06:20Z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