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5" Type="http://schemas.openxmlformats.org/officeDocument/2006/relationships/viewProps" Target="viewProps.xml" /><Relationship Id="rId4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7" Type="http://schemas.openxmlformats.org/officeDocument/2006/relationships/tableStyles" Target="tableStyles.xml" /><Relationship Id="rId4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9" y="960504"/>
            <a:ext cx="8552330" cy="3977017"/>
          </a:xfrm>
        </p:spPr>
        <p:txBody>
          <a:bodyPr/>
          <a:lstStyle>
            <a:lvl1pPr marL="228600" indent="-228600">
              <a:tabLst/>
              <a:defRPr sz="28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45" y="1200151"/>
            <a:ext cx="4180755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00151"/>
            <a:ext cx="4196123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F148-B214-9ED5-96D2-C8C952B333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1345573"/>
              </p:ext>
            </p:extLst>
          </p:nvPr>
        </p:nvGraphicFramePr>
        <p:xfrm>
          <a:off x="1524000" y="539750"/>
          <a:ext cx="609600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0112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703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284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2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889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61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98924"/>
            <a:ext cx="8229600" cy="393859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eaLnBrk="1" hangingPunct="1" latinLnBrk="0" rtl="0">
        <a:spcBef>
          <a:spcPct val="0"/>
        </a:spcBef>
        <a:buNone/>
        <a:defRPr baseline="0" kern="1200" sz="3300">
          <a:solidFill>
            <a:schemeClr val="tx1"/>
          </a:solidFill>
          <a:latin charset="0" panose="020F0502020204030203" pitchFamily="34" typeface="Lato Semibold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charset="0" panose="020B0604020202020204" pitchFamily="34"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15.jpg" /><Relationship Id="rId2" Type="http://schemas.openxmlformats.org/officeDocument/2006/relationships/image" Target="../media/image14.jp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0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1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2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3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3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5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6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7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8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8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9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Superficial Cancer of the Esophagus and GE Junction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Anatomy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Food moves from the throat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esophagus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stomach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small bowel (jejunum)</a:t>
                </a:r>
              </a:p>
            </p:txBody>
          </p:sp>
        </mc:Choice>
      </mc:AlternateContent>
      <p:pic>
        <p:nvPicPr>
          <p:cNvPr descr="images/Eso_Anatomy_Lab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Types of Esophageal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There are two common types of esophageal cancer</a:t>
            </a:r>
          </a:p>
          <a:p>
            <a:pPr lvl="0"/>
            <a:r>
              <a:rPr/>
              <a:t>Adenocarcinoma</a:t>
            </a:r>
          </a:p>
          <a:p>
            <a:pPr lvl="0"/>
            <a:r>
              <a:rPr/>
              <a:t>Squamous Cell Carcinoma</a:t>
            </a:r>
          </a:p>
          <a:p>
            <a:pPr lvl="0" indent="0" marL="0">
              <a:buNone/>
            </a:pPr>
            <a:r>
              <a:rPr/>
              <a:t>In many ways, these to different types of esophageal cancer behave the same.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Cancer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Staging refers to the tests to determine</a:t>
            </a:r>
          </a:p>
          <a:p>
            <a:pPr lvl="0"/>
            <a:r>
              <a:rPr/>
              <a:t>How large is the tumor?</a:t>
            </a:r>
          </a:p>
          <a:p>
            <a:pPr lvl="0"/>
            <a:r>
              <a:rPr/>
              <a:t>Has there been spread to lymph nodes?</a:t>
            </a:r>
          </a:p>
          <a:p>
            <a:pPr lvl="0"/>
            <a:r>
              <a:rPr/>
              <a:t>Has it spread to other parts of the body?</a:t>
            </a:r>
          </a:p>
          <a:p>
            <a:pPr lvl="0" indent="0" marL="0">
              <a:buNone/>
            </a:pPr>
            <a:r>
              <a:rPr b="1"/>
              <a:t>Treatment options depend upon the cancer stage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Cancer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</a:t>
            </a:r>
            <a:r>
              <a:rPr/>
              <a:t> = Tumor - Depth of growth into the wall</a:t>
            </a:r>
            <a:br/>
            <a:br/>
          </a:p>
          <a:p>
            <a:pPr lvl="0"/>
            <a:r>
              <a:rPr b="1"/>
              <a:t>N</a:t>
            </a:r>
            <a:r>
              <a:rPr/>
              <a:t> = Nodes - Spread to the lymph nodes</a:t>
            </a:r>
            <a:br/>
            <a:br/>
          </a:p>
          <a:p>
            <a:pPr lvl="0"/>
            <a:r>
              <a:rPr b="1"/>
              <a:t>M</a:t>
            </a:r>
            <a:r>
              <a:rPr/>
              <a:t> = Metastasis - Spread to liver, lungs, or bone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Early Stage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Cancers start on the very inside layer called the mucosa</a:t>
            </a:r>
          </a:p>
        </p:txBody>
      </p:sp>
      <p:pic>
        <p:nvPicPr>
          <p:cNvPr descr="images/gastric_tumor_t1a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Over time, cancers can grow into the muscular wall</a:t>
            </a:r>
          </a:p>
        </p:txBody>
      </p:sp>
      <p:pic>
        <p:nvPicPr>
          <p:cNvPr descr="images/gastric_tumor_t2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Lymph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In some cases, cancer cells can break off from the main tumor and spread to lymph nodes</a:t>
            </a:r>
          </a:p>
        </p:txBody>
      </p:sp>
      <p:pic>
        <p:nvPicPr>
          <p:cNvPr descr="images/gastric_tumor_t3_node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Cancers are categorized based upon the thickness of the tumor, known as the T stage</a:t>
            </a:r>
          </a:p>
        </p:txBody>
      </p:sp>
      <p:pic>
        <p:nvPicPr>
          <p:cNvPr descr="images/tumor_t_fu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Cancers are categorized by whether there is spread to the nodes.</a:t>
            </a:r>
          </a:p>
          <a:p>
            <a:pPr lvl="0"/>
            <a:r>
              <a:rPr b="1"/>
              <a:t>N0</a:t>
            </a:r>
            <a:r>
              <a:rPr/>
              <a:t> cancers have not spread to the nodes</a:t>
            </a:r>
          </a:p>
          <a:p>
            <a:pPr lvl="0"/>
            <a:r>
              <a:rPr b="1"/>
              <a:t>N1</a:t>
            </a:r>
            <a:r>
              <a:rPr/>
              <a:t> cancers have spread to the nodes.</a:t>
            </a:r>
          </a:p>
        </p:txBody>
      </p:sp>
      <p:pic>
        <p:nvPicPr>
          <p:cNvPr descr="images/tumor_t3_nodes_lab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cancers spread to other parts of the body</a:t>
            </a:r>
          </a:p>
          <a:p>
            <a:pPr lvl="0"/>
            <a:r>
              <a:rPr b="1"/>
              <a:t>M0</a:t>
            </a:r>
            <a:r>
              <a:rPr/>
              <a:t> cancers have not spread</a:t>
            </a:r>
          </a:p>
          <a:p>
            <a:pPr lvl="0"/>
            <a:r>
              <a:rPr b="1"/>
              <a:t>M1</a:t>
            </a:r>
            <a:r>
              <a:rPr/>
              <a:t> cancers have spread to lungs, liver, bone, or within the abdomen</a:t>
            </a:r>
          </a:p>
        </p:txBody>
      </p:sp>
      <p:pic>
        <p:nvPicPr>
          <p:cNvPr descr="images/Eso_M_St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Carcinomatosis (M1)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Spread within the abdomen is </a:t>
            </a:r>
            <a:r>
              <a:rPr b="1"/>
              <a:t>carcinomatosis</a:t>
            </a:r>
          </a:p>
          <a:p>
            <a:pPr lvl="0" indent="0" marL="0">
              <a:buNone/>
            </a:pPr>
            <a:r>
              <a:rPr/>
              <a:t>Tumors can be very small (grain of rice)</a:t>
            </a:r>
          </a:p>
          <a:p>
            <a:pPr lvl="0" indent="0" marL="0">
              <a:buNone/>
            </a:pPr>
            <a:r>
              <a:rPr/>
              <a:t>Fluid can also build up: </a:t>
            </a:r>
            <a:r>
              <a:rPr b="1"/>
              <a:t>ascites</a:t>
            </a:r>
          </a:p>
        </p:txBody>
      </p:sp>
      <p:pic>
        <p:nvPicPr>
          <p:cNvPr descr="images/Eso_M1_Carcinomato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Similar to CT scan</a:t>
            </a:r>
          </a:p>
          <a:p>
            <a:pPr lvl="0" indent="0" marL="0">
              <a:buNone/>
            </a:pPr>
            <a:r>
              <a:rPr/>
              <a:t>Tracer shows ‘hot spots’</a:t>
            </a:r>
          </a:p>
          <a:p>
            <a:pPr lvl="0"/>
            <a:r>
              <a:rPr/>
              <a:t>Cancer</a:t>
            </a:r>
          </a:p>
          <a:p>
            <a:pPr lvl="0"/>
            <a:r>
              <a:rPr/>
              <a:t>Inflammation or infection</a:t>
            </a:r>
          </a:p>
          <a:p>
            <a:pPr lvl="0"/>
            <a:r>
              <a:rPr/>
              <a:t>Normal organs (heart, kidneys)</a:t>
            </a:r>
          </a:p>
        </p:txBody>
      </p:sp>
      <p:pic>
        <p:nvPicPr>
          <p:cNvPr descr="images/Pet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Nothing to eat or drink for 4 hours prior to exam</a:t>
            </a:r>
          </a:p>
          <a:p>
            <a:pPr lvl="0"/>
            <a:r>
              <a:rPr/>
              <a:t>High-protein low-carbohydrate diet the day prior</a:t>
            </a:r>
          </a:p>
          <a:p>
            <a:pPr lvl="0"/>
            <a:r>
              <a:rPr/>
              <a:t>No strenous activity day prior to study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Prepration - Diabetic Patients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PET scan uses a modified sugar as a tracer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you will need to be careful about blood sugar and insulin before the study</a:t>
                </a:r>
              </a:p>
              <a:p>
                <a:pPr lvl="0"/>
                <a:r>
                  <a:rPr/>
                  <a:t>No insulin within 4 hours of the exam</a:t>
                </a:r>
              </a:p>
              <a:p>
                <a:pPr lvl="0"/>
                <a:r>
                  <a:rPr/>
                  <a:t>OK to take diabetes pills the day of the exam</a:t>
                </a:r>
              </a:p>
              <a:p>
                <a:pPr lvl="0"/>
                <a:r>
                  <a:rPr/>
                  <a:t>PET scans are generally best in the morning</a:t>
                </a:r>
              </a:p>
              <a:p>
                <a:pPr lvl="0"/>
                <a:r>
                  <a:rPr/>
                  <a:t>Plan to eat a meal after the PET scan, with half the usual morning dose of insulin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Prepration - Diabetic Patients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If PET is scheduled after 10AM:</a:t>
            </a:r>
          </a:p>
          <a:p>
            <a:pPr lvl="1"/>
            <a:r>
              <a:rPr/>
              <a:t>low-carbohydrate breakfast at least 4 hours before</a:t>
            </a:r>
          </a:p>
          <a:p>
            <a:pPr lvl="1"/>
            <a:r>
              <a:rPr/>
              <a:t>half the usual regular (short-acting) insulin</a:t>
            </a:r>
          </a:p>
          <a:p>
            <a:pPr lvl="0"/>
            <a:r>
              <a:rPr/>
              <a:t>No long-acting insulin after midnight.</a:t>
            </a:r>
          </a:p>
          <a:p>
            <a:pPr lvl="0"/>
            <a:r>
              <a:rPr/>
              <a:t>Insulin pump: turn it off 4 hours before the study (or turn it down to basal/night-time rate)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Endoscopic Ultrasound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Similar to upper endoscopy (EGD)</a:t>
            </a:r>
          </a:p>
          <a:p>
            <a:pPr lvl="0"/>
            <a:r>
              <a:rPr/>
              <a:t>Ultrasound in scope</a:t>
            </a:r>
          </a:p>
          <a:p>
            <a:pPr lvl="0"/>
            <a:r>
              <a:rPr/>
              <a:t>Evaluates T stage</a:t>
            </a:r>
          </a:p>
        </p:txBody>
      </p:sp>
      <p:pic>
        <p:nvPicPr>
          <p:cNvPr descr="images/EU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Gastroesophageal Reflux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one-way valve normally keeps acid within the stomach and prevents it from entering the esophagus</a:t>
            </a:r>
          </a:p>
        </p:txBody>
      </p:sp>
      <p:pic>
        <p:nvPicPr>
          <p:cNvPr descr="images/reflux_commp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Gastroesophageal Reflux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one-way valve normally keeps acid within the stomach</a:t>
            </a:r>
          </a:p>
          <a:p>
            <a:pPr lvl="0" indent="0" marL="0">
              <a:buNone/>
            </a:pPr>
            <a:r>
              <a:rPr/>
              <a:t>If the valve does not work properly, acid enters the esophagus and cause heartburn and damage to the lining of the esophagus.</a:t>
            </a:r>
          </a:p>
        </p:txBody>
      </p:sp>
      <p:pic>
        <p:nvPicPr>
          <p:cNvPr descr="images/reflux_commp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Barrett’s Esophagus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 time, the lining of the esophagus undergoes change in response to the acid.</a:t>
            </a:r>
          </a:p>
        </p:txBody>
      </p:sp>
      <p:pic>
        <p:nvPicPr>
          <p:cNvPr descr="images/barretts_com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Dysplasia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 a period of years, pre-cancerous changes can develop within Barrett’s esopahgus.</a:t>
            </a:r>
          </a:p>
          <a:p>
            <a:pPr lvl="0" indent="0" marL="0">
              <a:buNone/>
            </a:pPr>
            <a:r>
              <a:rPr/>
              <a:t>These changes can be seen by the pathologist from biopsies taken from the esophagus</a:t>
            </a:r>
          </a:p>
          <a:p>
            <a:pPr lvl="0" indent="0" marL="0">
              <a:buNone/>
            </a:pPr>
            <a:r>
              <a:rPr/>
              <a:t>Over time, low-grade dysplasia can progress to high-grade dysplasia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84309" y="205979"/>
                <a:ext cx="8552330" cy="662317"/>
              </a:xfrm>
            </p:spPr>
            <p:txBody>
              <a:bodyPr/>
              <a:lstStyle/>
              <a:p>
                <a:pPr lvl="0" indent="0" marL="0">
                  <a:buNone/>
                </a:pPr>
                <a:r>
                  <a:rPr/>
                  <a:t>Dysplasia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Cancer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Low grade dysplasia: Risk of cancer 0.5% per year</a:t>
                </a:r>
              </a:p>
              <a:p>
                <a:pPr lvl="0" indent="0" marL="0">
                  <a:buNone/>
                </a:pPr>
                <a:r>
                  <a:rPr/>
                  <a:t>High-grade dysplasia: Risk of cancer 5% per year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Surveillance with upper endoscopy is critical</a:t>
                </a:r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Radiofrequency ablation for Dysplasia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Dysplasia can be treated with destroying the mucosa, the inner layer of esophgus</a:t>
            </a:r>
          </a:p>
          <a:p>
            <a:pPr lvl="0" indent="0" marL="0">
              <a:buNone/>
            </a:pPr>
            <a:r>
              <a:rPr/>
              <a:t>Ablation of the mucosa with microwave energy</a:t>
            </a:r>
          </a:p>
          <a:p>
            <a:pPr lvl="0" indent="0" marL="0">
              <a:buNone/>
            </a:pPr>
            <a:r>
              <a:rPr/>
              <a:t>Circular balloon with an antenna used to ablate the mucosa</a:t>
            </a:r>
          </a:p>
        </p:txBody>
      </p:sp>
      <p:pic>
        <p:nvPicPr>
          <p:cNvPr descr="images/esot1_barx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943100"/>
            <a:ext cx="4191000" cy="2247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Radiofrequency ablation for Dysplasia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Ablation</a:t>
            </a:r>
          </a:p>
        </p:txBody>
      </p:sp>
      <p:pic>
        <p:nvPicPr>
          <p:cNvPr descr="images/25FF4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625600"/>
            <a:ext cx="26035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After Ablation</a:t>
            </a:r>
          </a:p>
        </p:txBody>
      </p:sp>
      <p:pic>
        <p:nvPicPr>
          <p:cNvPr descr="images/25FF5after%20RFA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334000" y="1625600"/>
            <a:ext cx="26416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Treatment Plan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Superficial (T1)</a:t>
                </a:r>
              </a:p>
              <a:p>
                <a:pPr lvl="0"/>
                <a:r>
                  <a:rPr/>
                  <a:t>Endoscopic Therapy</a:t>
                </a:r>
              </a:p>
              <a:p>
                <a:pPr lvl="0" indent="0" marL="0">
                  <a:buNone/>
                </a:pPr>
                <a:r>
                  <a:rPr/>
                  <a:t>Localized (T1b/T2)</a:t>
                </a:r>
              </a:p>
              <a:p>
                <a:pPr lvl="0"/>
                <a:r>
                  <a:rPr/>
                  <a:t>Surgery (esophagectomy)</a:t>
                </a:r>
              </a:p>
              <a:p>
                <a:pPr lvl="0" indent="0" marL="0">
                  <a:buNone/>
                </a:pPr>
                <a:r>
                  <a:rPr/>
                  <a:t>Locally-advanced (T3M0)</a:t>
                </a:r>
              </a:p>
              <a:p>
                <a:pPr lvl="0"/>
                <a:r>
                  <a:rPr/>
                  <a:t>Chemo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±</m:t>
                    </m:r>
                  </m:oMath>
                </a14:m>
                <a:r>
                  <a:rPr/>
                  <a:t>Radiation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Surgery</a:t>
                </a:r>
              </a:p>
              <a:p>
                <a:pPr lvl="0" indent="0" marL="0">
                  <a:buNone/>
                </a:pPr>
                <a:r>
                  <a:rPr/>
                  <a:t>Metastatic (M1)</a:t>
                </a:r>
              </a:p>
              <a:p>
                <a:pPr lvl="0"/>
                <a:r>
                  <a:rPr/>
                  <a:t>Chemotherapy</a:t>
                </a:r>
              </a:p>
            </p:txBody>
          </p:sp>
        </mc:Choice>
      </mc:AlternateContent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Superficial Cancers = T1a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Treatment is often with by endoscopic resection without the need for surgery.</a:t>
            </a:r>
          </a:p>
        </p:txBody>
      </p:sp>
      <p:pic>
        <p:nvPicPr>
          <p:cNvPr descr="images/tumor21_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52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Endoscopic Resection</a:t>
            </a:r>
          </a:p>
        </p:txBody>
      </p:sp>
      <p:pic>
        <p:nvPicPr>
          <p:cNvPr descr="images/EMR_Tumor/t1a_centr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952500"/>
            <a:ext cx="7061200" cy="397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Tumor Lift</a:t>
            </a:r>
          </a:p>
        </p:txBody>
      </p:sp>
      <p:pic>
        <p:nvPicPr>
          <p:cNvPr descr="images/EMR_Tumor/t1a_lift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952500"/>
            <a:ext cx="7061200" cy="397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Tumor Lift</a:t>
            </a:r>
          </a:p>
        </p:txBody>
      </p:sp>
      <p:pic>
        <p:nvPicPr>
          <p:cNvPr descr="images/EMR_Tumor/t1a_lift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952500"/>
            <a:ext cx="7061200" cy="397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Tumor Removal - Resection</a:t>
            </a:r>
          </a:p>
        </p:txBody>
      </p:sp>
      <p:pic>
        <p:nvPicPr>
          <p:cNvPr descr="images/EMR_Tumor/tumor_EMR_sn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952500"/>
            <a:ext cx="7061200" cy="397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## Tumor Removal - Dissection</a:t>
            </a:r>
          </a:p>
        </p:txBody>
      </p:sp>
      <p:pic>
        <p:nvPicPr>
          <p:cNvPr descr="images/EMR_Tumor/ESD_mucos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52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## Tumor Removal - Dissection</a:t>
            </a:r>
          </a:p>
        </p:txBody>
      </p:sp>
      <p:pic>
        <p:nvPicPr>
          <p:cNvPr descr="images/EMR_Tumor/ESD_submucos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52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Endoscopic Resection - Favorable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Clear edge margin </a:t>
            </a:r>
            <a:r>
              <a:rPr i="1"/>
              <a:t>AND</a:t>
            </a:r>
          </a:p>
          <a:p>
            <a:pPr lvl="0"/>
            <a:r>
              <a:rPr/>
              <a:t>Clear deep margin </a:t>
            </a:r>
            <a:r>
              <a:rPr i="1"/>
              <a:t>AND</a:t>
            </a:r>
          </a:p>
          <a:p>
            <a:pPr lvl="0"/>
            <a:r>
              <a:rPr/>
              <a:t>Tumor slow-growing under microscope</a:t>
            </a:r>
          </a:p>
        </p:txBody>
      </p:sp>
      <p:pic>
        <p:nvPicPr>
          <p:cNvPr descr="images/EMR_Tumor/emr_favorab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Endoscopic Resection - Favorable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Clear edge margin </a:t>
            </a:r>
            <a:r>
              <a:rPr i="1"/>
              <a:t>AND</a:t>
            </a:r>
          </a:p>
          <a:p>
            <a:pPr lvl="0"/>
            <a:r>
              <a:rPr/>
              <a:t>Clear deep margin </a:t>
            </a:r>
            <a:r>
              <a:rPr i="1"/>
              <a:t>AND</a:t>
            </a:r>
          </a:p>
          <a:p>
            <a:pPr lvl="0"/>
            <a:r>
              <a:rPr/>
              <a:t>Tumor slow-growing under microscope</a:t>
            </a:r>
          </a:p>
        </p:txBody>
      </p:sp>
      <p:pic>
        <p:nvPicPr>
          <p:cNvPr descr="images/EMR_Tumor/emr_favorable_zoo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2095500"/>
            <a:ext cx="4191000" cy="191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Endoscopic Resection - Favorable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May be the only treatment required</a:t>
            </a:r>
          </a:p>
          <a:p>
            <a:pPr lvl="0"/>
            <a:r>
              <a:rPr/>
              <a:t>Requires endoscopic surveillance</a:t>
            </a:r>
          </a:p>
        </p:txBody>
      </p:sp>
      <p:pic>
        <p:nvPicPr>
          <p:cNvPr descr="images/EMR_Tumor/emr_favorable_zoo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2095500"/>
            <a:ext cx="4191000" cy="191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Endoscopic Resection - Unfavorable</a:t>
            </a:r>
          </a:p>
        </p:txBody>
      </p:sp>
      <p:pic>
        <p:nvPicPr>
          <p:cNvPr descr="images/EMR_Tumor/emr_unfavorab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952500"/>
            <a:ext cx="7061200" cy="397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Endoscopic Resection - Unfavorable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Tumor at edge margin </a:t>
            </a:r>
            <a:r>
              <a:rPr i="1"/>
              <a:t>OR</a:t>
            </a:r>
          </a:p>
          <a:p>
            <a:pPr lvl="0"/>
            <a:r>
              <a:rPr/>
              <a:t>Tumor at deep margin </a:t>
            </a:r>
            <a:r>
              <a:rPr i="1"/>
              <a:t>OR</a:t>
            </a:r>
          </a:p>
          <a:p>
            <a:pPr lvl="0"/>
            <a:r>
              <a:rPr/>
              <a:t>Tumor rapidly-growing under microscope</a:t>
            </a:r>
          </a:p>
        </p:txBody>
      </p:sp>
      <p:pic>
        <p:nvPicPr>
          <p:cNvPr descr="images/EMR_Tumor/EMR_unfavorable_zoo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2095500"/>
            <a:ext cx="4191000" cy="191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Endoscopic Resection - Unfavorable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Esophagectomy (surgery) is standard recommendation</a:t>
            </a:r>
          </a:p>
        </p:txBody>
      </p:sp>
      <p:pic>
        <p:nvPicPr>
          <p:cNvPr descr="images/EMR_Tumor/emr_recurre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Endoscopic Resection - Positive Deep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Tumor at edge margin </a:t>
            </a:r>
            <a:r>
              <a:rPr i="1"/>
              <a:t>OR</a:t>
            </a:r>
          </a:p>
          <a:p>
            <a:pPr lvl="0"/>
            <a:r>
              <a:rPr b="1"/>
              <a:t>Tumor at deep margin</a:t>
            </a:r>
            <a:r>
              <a:rPr/>
              <a:t> </a:t>
            </a:r>
            <a:r>
              <a:rPr i="1"/>
              <a:t>OR</a:t>
            </a:r>
          </a:p>
          <a:p>
            <a:pPr lvl="0"/>
            <a:r>
              <a:rPr/>
              <a:t>Tumor rapidly-growing under microscope</a:t>
            </a:r>
          </a:p>
        </p:txBody>
      </p:sp>
      <p:pic>
        <p:nvPicPr>
          <p:cNvPr descr="images/EMR_Tumor/EMR_Positive_Dee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2095500"/>
            <a:ext cx="4191000" cy="191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Endoscopic Resection - Positive Deep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Tumor at edge margin </a:t>
            </a:r>
            <a:r>
              <a:rPr i="1"/>
              <a:t>OR</a:t>
            </a:r>
          </a:p>
          <a:p>
            <a:pPr lvl="0"/>
            <a:r>
              <a:rPr b="1"/>
              <a:t>Tumor at deep margin</a:t>
            </a:r>
            <a:r>
              <a:rPr/>
              <a:t> </a:t>
            </a:r>
            <a:r>
              <a:rPr i="1"/>
              <a:t>OR</a:t>
            </a:r>
          </a:p>
          <a:p>
            <a:pPr lvl="0"/>
            <a:r>
              <a:rPr/>
              <a:t>Tumor rapidly-growing under microscope</a:t>
            </a:r>
          </a:p>
        </p:txBody>
      </p:sp>
      <p:pic>
        <p:nvPicPr>
          <p:cNvPr descr="images/EMR_Tumor/pos_node_sp_EM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Endoscopic Resection - Positive Deep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Tumor at edge margin </a:t>
            </a:r>
            <a:r>
              <a:rPr i="1"/>
              <a:t>OR</a:t>
            </a:r>
          </a:p>
          <a:p>
            <a:pPr lvl="0"/>
            <a:r>
              <a:rPr b="1"/>
              <a:t>Tumor at deep margin</a:t>
            </a:r>
            <a:r>
              <a:rPr/>
              <a:t> </a:t>
            </a:r>
            <a:r>
              <a:rPr i="1"/>
              <a:t>OR</a:t>
            </a:r>
          </a:p>
          <a:p>
            <a:pPr lvl="0"/>
            <a:r>
              <a:rPr/>
              <a:t>Tumor rapidly-growing under microscope</a:t>
            </a:r>
          </a:p>
        </p:txBody>
      </p:sp>
      <p:pic>
        <p:nvPicPr>
          <p:cNvPr descr="images/EMR_Tumor/pos_node_sp_EM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Unable to Lift Tumor</a:t>
            </a:r>
          </a:p>
        </p:txBody>
      </p:sp>
      <p:pic>
        <p:nvPicPr>
          <p:cNvPr descr="images/EMR_Tumor/t1b_nolif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952500"/>
            <a:ext cx="7061200" cy="397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42</Words>
  <Application>Microsoft Macintosh PowerPoint</Application>
  <PresentationFormat>On-screen Show (16:9)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 Medium</vt:lpstr>
      <vt:lpstr>Lato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Superficial Cancer of the Esophagus and GE Junction</dc:title>
  <dc:creator/>
  <cp:keywords/>
  <dcterms:created xsi:type="dcterms:W3CDTF">2026-09-23T11:40:18Z</dcterms:created>
  <dcterms:modified xsi:type="dcterms:W3CDTF">2026-09-23T11:40:18Z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