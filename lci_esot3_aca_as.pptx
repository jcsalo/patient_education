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2" Type="http://schemas.openxmlformats.org/officeDocument/2006/relationships/viewProps" Target="viewProps.xml" /><Relationship Id="rId7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4" Type="http://schemas.openxmlformats.org/officeDocument/2006/relationships/tableStyles" Target="tableStyles.xml" /><Relationship Id="rId7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jp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2.png" /><Relationship Id="rId2" Type="http://schemas.openxmlformats.org/officeDocument/2006/relationships/image" Target="../media/image3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Restaging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Fitness Evaluation prior to Surgery</a:t>
            </a:r>
          </a:p>
        </p:txBody>
      </p:sp>
      <p:pic>
        <p:nvPicPr>
          <p:cNvPr descr="images/EsoR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vs No Surgery</a:t>
            </a:r>
          </a:p>
        </p:txBody>
      </p:sp>
      <p:pic>
        <p:nvPicPr>
          <p:cNvPr descr="images/EsoRx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Advantages + Disadvantages</a:t>
            </a:r>
          </a:p>
        </p:txBody>
      </p:sp>
      <p:pic>
        <p:nvPicPr>
          <p:cNvPr descr="images/EsoRx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Outcomes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EsoRx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Active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Active Surveillance is appropriate when:</a:t>
            </a:r>
          </a:p>
          <a:p>
            <a:pPr lvl="0"/>
            <a:r>
              <a:rPr/>
              <a:t>CT/PET shows no signs of spread</a:t>
            </a:r>
          </a:p>
          <a:p>
            <a:pPr lvl="0"/>
            <a:r>
              <a:rPr/>
              <a:t>EGD biopsies are negative</a:t>
            </a:r>
          </a:p>
          <a:p>
            <a:pPr lvl="0" indent="0" marL="0">
              <a:buNone/>
            </a:pPr>
            <a:r>
              <a:rPr/>
              <a:t>Active Surveillance reduces the need for surgery by 50% </a:t>
            </a:r>
            <a:r>
              <a:rPr i="1"/>
              <a:t>but</a:t>
            </a:r>
            <a:r>
              <a:rPr/>
              <a:t> survival and disease control is probably better with immediate surgery.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2026-08-08T20:41:12Z</dcterms:created>
  <dcterms:modified xsi:type="dcterms:W3CDTF">2026-08-08T20:41:12Z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