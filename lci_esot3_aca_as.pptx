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74"/>
    <p:restoredTop autoAdjust="0" sz="94694"/>
  </p:normalViewPr>
  <p:slideViewPr>
    <p:cSldViewPr snapToGrid="0" snapToObjects="1">
      <p:cViewPr varScale="1">
        <p:scale>
          <a:sx d="100" n="166"/>
          <a:sy d="100" n="166"/>
        </p:scale>
        <p:origin x="520" y="192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2" Type="http://schemas.openxmlformats.org/officeDocument/2006/relationships/viewProps" Target="viewProps.xml" /><Relationship Id="rId7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4" Type="http://schemas.openxmlformats.org/officeDocument/2006/relationships/tableStyles" Target="tableStyles.xml" /><Relationship Id="rId7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baseline="0">
                <a:latin typeface="Lato Semibold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309" y="960504"/>
            <a:ext cx="8552330" cy="3977017"/>
          </a:xfrm>
        </p:spPr>
        <p:txBody>
          <a:bodyPr/>
          <a:lstStyle>
            <a:lvl1pPr marL="228600" indent="-228600">
              <a:tabLst/>
              <a:defRPr sz="28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5045" y="1200151"/>
            <a:ext cx="4180755" cy="3737370"/>
          </a:xfrm>
        </p:spPr>
        <p:txBody>
          <a:bodyPr/>
          <a:lstStyle>
            <a:lvl1pPr marL="174625" indent="-174625">
              <a:tabLst/>
              <a:defRPr sz="2800" baseline="0">
                <a:latin typeface="Lato Medium" panose="020F0502020204030203" pitchFamily="34" charset="0"/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199" y="1200151"/>
            <a:ext cx="4196123" cy="3737370"/>
          </a:xfrm>
        </p:spPr>
        <p:txBody>
          <a:bodyPr/>
          <a:lstStyle>
            <a:lvl1pPr marL="174625" indent="-174625">
              <a:tabLst/>
              <a:defRPr sz="2800" baseline="0">
                <a:latin typeface="Lato Medium" panose="020F0502020204030203" pitchFamily="34" charset="0"/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Lato Semibold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0E5F148-B214-9ED5-96D2-C8C952B333E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21345573"/>
              </p:ext>
            </p:extLst>
          </p:nvPr>
        </p:nvGraphicFramePr>
        <p:xfrm>
          <a:off x="1524000" y="539750"/>
          <a:ext cx="6096000" cy="9144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7101126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807030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382840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229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96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978896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16105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998924"/>
            <a:ext cx="8229600" cy="3938597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42900" eaLnBrk="1" hangingPunct="1" latinLnBrk="0" rtl="0">
        <a:spcBef>
          <a:spcPct val="0"/>
        </a:spcBef>
        <a:buNone/>
        <a:defRPr baseline="0" kern="1200" sz="3300">
          <a:solidFill>
            <a:schemeClr val="tx1"/>
          </a:solidFill>
          <a:latin charset="0" panose="020F0502020204030203" pitchFamily="34" typeface="Lato Semibold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baseline="0" kern="1200" sz="2400">
          <a:solidFill>
            <a:schemeClr val="tx1"/>
          </a:solidFill>
          <a:latin charset="0" panose="020F0502020204030203" pitchFamily="34" typeface="Lato Medium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charset="0" panose="020B0604020202020204" pitchFamily="34" typeface="Arial"/>
        <a:buChar char="•"/>
        <a:defRPr baseline="0" kern="1200" sz="2400">
          <a:solidFill>
            <a:schemeClr val="tx1"/>
          </a:solidFill>
          <a:latin charset="0" panose="020F0502020204030203" pitchFamily="34" typeface="Lato Medium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24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4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5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6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7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8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9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0.jpg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1.png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2.png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3.png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4.png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5.png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6.png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7.png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8.png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9.png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0.jpg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32.png" /><Relationship Id="rId2" Type="http://schemas.openxmlformats.org/officeDocument/2006/relationships/image" Target="../media/image31.png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1.png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3.png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Adenocarcinoma of the Esophagus and GE Junction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Anatomy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Food moves from the throat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esophagus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stomach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small bowel (jejunum)</a:t>
                </a:r>
              </a:p>
            </p:txBody>
          </p:sp>
        </mc:Choice>
      </mc:AlternateContent>
      <p:pic>
        <p:nvPicPr>
          <p:cNvPr descr="images/Eso_Anatomy_Label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Cancer Staging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Staging refers to the tests to determine</a:t>
            </a:r>
          </a:p>
          <a:p>
            <a:pPr lvl="0"/>
            <a:r>
              <a:rPr/>
              <a:t>How large is the tumor?</a:t>
            </a:r>
          </a:p>
          <a:p>
            <a:pPr lvl="0"/>
            <a:r>
              <a:rPr/>
              <a:t>Has there been spread to lymph nodes?</a:t>
            </a:r>
          </a:p>
          <a:p>
            <a:pPr lvl="0"/>
            <a:r>
              <a:rPr/>
              <a:t>Has it spread to other parts of the body?</a:t>
            </a:r>
          </a:p>
          <a:p>
            <a:pPr lvl="0" indent="0" marL="0">
              <a:buNone/>
            </a:pPr>
            <a:r>
              <a:rPr b="1"/>
              <a:t>Treatment options depend upon the cancer stage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Cancer Staging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</a:t>
            </a:r>
            <a:r>
              <a:rPr/>
              <a:t> = Tumor - Depth of growth into the wall</a:t>
            </a:r>
            <a:br/>
            <a:br/>
          </a:p>
          <a:p>
            <a:pPr lvl="0"/>
            <a:r>
              <a:rPr b="1"/>
              <a:t>N</a:t>
            </a:r>
            <a:r>
              <a:rPr/>
              <a:t> = Nodes - Spread to the lymph nodes</a:t>
            </a:r>
            <a:br/>
            <a:br/>
          </a:p>
          <a:p>
            <a:pPr lvl="0"/>
            <a:r>
              <a:rPr b="1"/>
              <a:t>M</a:t>
            </a:r>
            <a:r>
              <a:rPr/>
              <a:t> = Metastasis - Spread to liver, lungs, or bone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Early Stage Cancers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br/>
            <a:r>
              <a:rPr/>
              <a:t>Cancers start on the very inside layer called the mucosa</a:t>
            </a:r>
          </a:p>
        </p:txBody>
      </p:sp>
      <p:pic>
        <p:nvPicPr>
          <p:cNvPr descr="images/gastric_tumor_t1a_nolab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Locally-advanced Cancers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br/>
            <a:r>
              <a:rPr/>
              <a:t>Over time, cancers can grow into the muscular wall</a:t>
            </a:r>
          </a:p>
        </p:txBody>
      </p:sp>
      <p:pic>
        <p:nvPicPr>
          <p:cNvPr descr="images/gastric_tumor_t2_nolab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Lymph 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br/>
            <a:r>
              <a:rPr/>
              <a:t>In some cases, cancer cells can break off from the main tumor and spread to lymph nodes</a:t>
            </a:r>
          </a:p>
        </p:txBody>
      </p:sp>
      <p:pic>
        <p:nvPicPr>
          <p:cNvPr descr="images/gastric_tumor_t3_node_nolab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br/>
            <a:r>
              <a:rPr/>
              <a:t>Cancers are categorized based upon the thickness of the tumor, known as the T stage</a:t>
            </a:r>
          </a:p>
        </p:txBody>
      </p:sp>
      <p:pic>
        <p:nvPicPr>
          <p:cNvPr descr="images/tumor_t_ful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Cancers are categorized by whether there is spread to the nodes.</a:t>
            </a:r>
          </a:p>
          <a:p>
            <a:pPr lvl="0"/>
            <a:r>
              <a:rPr b="1"/>
              <a:t>N0</a:t>
            </a:r>
            <a:r>
              <a:rPr/>
              <a:t> cancers have not spread to the nodes</a:t>
            </a:r>
          </a:p>
          <a:p>
            <a:pPr lvl="0"/>
            <a:r>
              <a:rPr b="1"/>
              <a:t>N1</a:t>
            </a:r>
            <a:r>
              <a:rPr/>
              <a:t> cancers have spread to the nodes.</a:t>
            </a:r>
          </a:p>
        </p:txBody>
      </p:sp>
      <p:pic>
        <p:nvPicPr>
          <p:cNvPr descr="images/tumor_t3_nodes_label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Some cancers spread to other parts of the body</a:t>
            </a:r>
          </a:p>
          <a:p>
            <a:pPr lvl="0"/>
            <a:r>
              <a:rPr b="1"/>
              <a:t>M0</a:t>
            </a:r>
            <a:r>
              <a:rPr/>
              <a:t> cancers have not spread</a:t>
            </a:r>
          </a:p>
          <a:p>
            <a:pPr lvl="0"/>
            <a:r>
              <a:rPr b="1"/>
              <a:t>M1</a:t>
            </a:r>
            <a:r>
              <a:rPr/>
              <a:t> cancers have spread to lungs, liver, bone, or within the abdomen</a:t>
            </a:r>
          </a:p>
        </p:txBody>
      </p:sp>
      <p:pic>
        <p:nvPicPr>
          <p:cNvPr descr="images/Eso_M_St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Carcinomatosis (M1)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Spread within the abdomen is </a:t>
            </a:r>
            <a:r>
              <a:rPr b="1"/>
              <a:t>carcinomatosis</a:t>
            </a:r>
          </a:p>
          <a:p>
            <a:pPr lvl="0" indent="0" marL="0">
              <a:buNone/>
            </a:pPr>
            <a:r>
              <a:rPr/>
              <a:t>Tumors can be very small (grain of rice)</a:t>
            </a:r>
          </a:p>
          <a:p>
            <a:pPr lvl="0" indent="0" marL="0">
              <a:buNone/>
            </a:pPr>
            <a:r>
              <a:rPr/>
              <a:t>Fluid can also build up: </a:t>
            </a:r>
            <a:r>
              <a:rPr b="1"/>
              <a:t>ascites</a:t>
            </a:r>
          </a:p>
        </p:txBody>
      </p:sp>
      <p:pic>
        <p:nvPicPr>
          <p:cNvPr descr="images/Eso_M1_Carcinomatosi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PET scan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Similar to CT scan</a:t>
            </a:r>
          </a:p>
          <a:p>
            <a:pPr lvl="0" indent="0" marL="0">
              <a:buNone/>
            </a:pPr>
            <a:r>
              <a:rPr/>
              <a:t>Tracer shows ‘hot spots’</a:t>
            </a:r>
          </a:p>
          <a:p>
            <a:pPr lvl="0"/>
            <a:r>
              <a:rPr/>
              <a:t>Cancer</a:t>
            </a:r>
          </a:p>
          <a:p>
            <a:pPr lvl="0"/>
            <a:r>
              <a:rPr/>
              <a:t>Inflammation or infection</a:t>
            </a:r>
          </a:p>
          <a:p>
            <a:pPr lvl="0"/>
            <a:r>
              <a:rPr/>
              <a:t>Normal organs (heart, kidneys)</a:t>
            </a:r>
          </a:p>
        </p:txBody>
      </p:sp>
      <p:pic>
        <p:nvPicPr>
          <p:cNvPr descr="images/Pet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PET scan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Nothing to eat or drink for 4 hours prior to exam</a:t>
            </a:r>
          </a:p>
          <a:p>
            <a:pPr lvl="0"/>
            <a:r>
              <a:rPr/>
              <a:t>High-protein low-carbohydrate diet the day prior</a:t>
            </a:r>
          </a:p>
          <a:p>
            <a:pPr lvl="0"/>
            <a:r>
              <a:rPr/>
              <a:t>No strenous activity day prior to study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PET scan Prepration - Diabetic Patients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PET scan uses a modified sugar as a tracer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⇒</m:t>
                    </m:r>
                  </m:oMath>
                </a14:m>
                <a:r>
                  <a:rPr/>
                  <a:t> you will need to be careful about blood sugar and insulin before the study</a:t>
                </a:r>
              </a:p>
              <a:p>
                <a:pPr lvl="0"/>
                <a:r>
                  <a:rPr/>
                  <a:t>No insulin within 4 hours of the exam</a:t>
                </a:r>
              </a:p>
              <a:p>
                <a:pPr lvl="0"/>
                <a:r>
                  <a:rPr/>
                  <a:t>OK to take diabetes pills the day of the exam</a:t>
                </a:r>
              </a:p>
              <a:p>
                <a:pPr lvl="0"/>
                <a:r>
                  <a:rPr/>
                  <a:t>PET scans are generally best in the morning</a:t>
                </a:r>
              </a:p>
              <a:p>
                <a:pPr lvl="0"/>
                <a:r>
                  <a:rPr/>
                  <a:t>Plan to eat a meal after the PET scan, with half the usual morning dose of insulin</a:t>
                </a:r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PET scan Prepration - Diabetic Patients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If PET is scheduled after 10AM:</a:t>
            </a:r>
          </a:p>
          <a:p>
            <a:pPr lvl="1"/>
            <a:r>
              <a:rPr/>
              <a:t>low-carbohydrate breakfast at least 4 hours before</a:t>
            </a:r>
          </a:p>
          <a:p>
            <a:pPr lvl="1"/>
            <a:r>
              <a:rPr/>
              <a:t>half the usual regular (short-acting) insulin</a:t>
            </a:r>
          </a:p>
          <a:p>
            <a:pPr lvl="0"/>
            <a:r>
              <a:rPr/>
              <a:t>No long-acting insulin after midnight.</a:t>
            </a:r>
          </a:p>
          <a:p>
            <a:pPr lvl="0"/>
            <a:r>
              <a:rPr/>
              <a:t>Insulin pump: turn it off 4 hours before the study (or turn it down to basal/night-time rate)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Endoscopic Ultrasound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Similar to upper endoscopy (EGD)</a:t>
            </a:r>
          </a:p>
          <a:p>
            <a:pPr lvl="0"/>
            <a:r>
              <a:rPr/>
              <a:t>Ultrasound in scope</a:t>
            </a:r>
          </a:p>
          <a:p>
            <a:pPr lvl="0"/>
            <a:r>
              <a:rPr/>
              <a:t>Evaluates T stage</a:t>
            </a:r>
          </a:p>
        </p:txBody>
      </p:sp>
      <p:pic>
        <p:nvPicPr>
          <p:cNvPr descr="images/EUSArtboa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02200" y="1193800"/>
            <a:ext cx="3644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Laparoscopy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Some stomach cancers can spread inside the abdomen</a:t>
            </a:r>
          </a:p>
          <a:p>
            <a:pPr lvl="0"/>
            <a:r>
              <a:rPr/>
              <a:t>Areas of spread can be very small (grain of rice)</a:t>
            </a:r>
          </a:p>
          <a:p>
            <a:pPr lvl="0"/>
            <a:r>
              <a:rPr/>
              <a:t>Laparoscopy can detect spread inside the abdomen</a:t>
            </a:r>
          </a:p>
        </p:txBody>
      </p:sp>
      <p:pic>
        <p:nvPicPr>
          <p:cNvPr descr="images/Eso_Laparoscop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Laparoscopy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General anesthetic</a:t>
            </a:r>
          </a:p>
          <a:p>
            <a:pPr lvl="0"/>
            <a:r>
              <a:rPr/>
              <a:t>1/4” incisions</a:t>
            </a:r>
          </a:p>
          <a:p>
            <a:pPr lvl="0"/>
            <a:r>
              <a:rPr/>
              <a:t>Telescope examines the abdomen</a:t>
            </a:r>
          </a:p>
          <a:p>
            <a:pPr lvl="0"/>
            <a:r>
              <a:rPr/>
              <a:t>Biopsies performed</a:t>
            </a:r>
          </a:p>
          <a:p>
            <a:pPr lvl="0"/>
            <a:r>
              <a:rPr/>
              <a:t>Fluid sampled</a:t>
            </a:r>
          </a:p>
        </p:txBody>
      </p:sp>
      <p:pic>
        <p:nvPicPr>
          <p:cNvPr descr="images/Eso_Laparoscop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Treatment Plan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Superficial (T1)</a:t>
                </a:r>
              </a:p>
              <a:p>
                <a:pPr lvl="0"/>
                <a:r>
                  <a:rPr/>
                  <a:t>Endoscopic Therapy</a:t>
                </a:r>
              </a:p>
              <a:p>
                <a:pPr lvl="0" indent="0" marL="0">
                  <a:buNone/>
                </a:pPr>
                <a:r>
                  <a:rPr/>
                  <a:t>Localized (T1b/T2)</a:t>
                </a:r>
              </a:p>
              <a:p>
                <a:pPr lvl="0"/>
                <a:r>
                  <a:rPr/>
                  <a:t>Surgery (esophagectomy)</a:t>
                </a:r>
              </a:p>
              <a:p>
                <a:pPr lvl="0" indent="0" marL="0">
                  <a:buNone/>
                </a:pPr>
                <a:r>
                  <a:rPr/>
                  <a:t>Locally-advanced (T3M0)</a:t>
                </a:r>
              </a:p>
              <a:p>
                <a:pPr lvl="0"/>
                <a:r>
                  <a:rPr/>
                  <a:t>Chemo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±</m:t>
                    </m:r>
                  </m:oMath>
                </a14:m>
                <a:r>
                  <a:rPr/>
                  <a:t>Radiation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Surgery</a:t>
                </a:r>
              </a:p>
              <a:p>
                <a:pPr lvl="0" indent="0" marL="0">
                  <a:buNone/>
                </a:pPr>
                <a:r>
                  <a:rPr/>
                  <a:t>Metastatic (M1)</a:t>
                </a:r>
              </a:p>
              <a:p>
                <a:pPr lvl="0"/>
                <a:r>
                  <a:rPr/>
                  <a:t>Chemotherapy</a:t>
                </a:r>
              </a:p>
            </p:txBody>
          </p:sp>
        </mc:Choice>
      </mc:AlternateContent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Locally-advanced cancers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Patients with locally-advanced esophageal cancer often have localized spread of cancer cells in the surrounding area</a:t>
            </a:r>
          </a:p>
        </p:txBody>
      </p:sp>
      <p:pic>
        <p:nvPicPr>
          <p:cNvPr descr="images/Eso_tumor_100_16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Locally-advanced cancers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locally-advanced cancers are treated with surgery alone…</a:t>
            </a:r>
          </a:p>
        </p:txBody>
      </p:sp>
      <p:pic>
        <p:nvPicPr>
          <p:cNvPr descr="images/Eso_tumor100_resection_intr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Locally-advanced cancers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locally-advanced cancers are treated with surgery alone…</a:t>
            </a:r>
          </a:p>
          <a:p>
            <a:pPr lvl="0" indent="0" marL="0">
              <a:buNone/>
            </a:pPr>
            <a:r>
              <a:rPr/>
              <a:t>There is a risk that cancer cells can be left behind</a:t>
            </a:r>
          </a:p>
        </p:txBody>
      </p:sp>
      <p:pic>
        <p:nvPicPr>
          <p:cNvPr descr="images/Eso_tumor100_resection_pos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Preoperative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 is helpful to start with therapy </a:t>
            </a:r>
            <a:r>
              <a:rPr i="1"/>
              <a:t>before</a:t>
            </a:r>
            <a:r>
              <a:rPr/>
              <a:t> surgery that will shrink the cancer.</a:t>
            </a:r>
          </a:p>
        </p:txBody>
      </p:sp>
      <p:pic>
        <p:nvPicPr>
          <p:cNvPr descr="images/Eso_tumor_100_16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Preoperative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 is helpful to start with therapy </a:t>
            </a:r>
            <a:r>
              <a:rPr i="1"/>
              <a:t>before</a:t>
            </a:r>
            <a:r>
              <a:rPr/>
              <a:t> surgery that will shrink the cancer.</a:t>
            </a:r>
          </a:p>
        </p:txBody>
      </p:sp>
      <p:pic>
        <p:nvPicPr>
          <p:cNvPr descr="images/Eso_tumor40_16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Preoperative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 is helpful to start with therapy </a:t>
            </a:r>
            <a:r>
              <a:rPr i="1"/>
              <a:t>before</a:t>
            </a:r>
            <a:r>
              <a:rPr/>
              <a:t> surgery that will shrink the cancer.</a:t>
            </a:r>
          </a:p>
        </p:txBody>
      </p:sp>
      <p:pic>
        <p:nvPicPr>
          <p:cNvPr descr="images/Eso_Tumor_00_16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Surgery after Preoperative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surgery is then performed…</a:t>
            </a:r>
          </a:p>
        </p:txBody>
      </p:sp>
      <p:pic>
        <p:nvPicPr>
          <p:cNvPr descr="images/Eso_tumor00_resection1_16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Preoperative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surgery is then performed…</a:t>
            </a:r>
          </a:p>
          <a:p>
            <a:pPr lvl="0" indent="0" marL="0">
              <a:buNone/>
            </a:pPr>
            <a:r>
              <a:rPr/>
              <a:t>The risk of cancer recurrence is minimized</a:t>
            </a:r>
          </a:p>
        </p:txBody>
      </p:sp>
      <p:pic>
        <p:nvPicPr>
          <p:cNvPr descr="images/Eso_tumor00_resection2_16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Preoperative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surgery is then performed…</a:t>
            </a:r>
          </a:p>
          <a:p>
            <a:pPr lvl="0" indent="0" marL="0">
              <a:buNone/>
            </a:pPr>
            <a:r>
              <a:rPr/>
              <a:t>The risk of cancer recurrence is minimized</a:t>
            </a:r>
          </a:p>
        </p:txBody>
      </p:sp>
      <p:pic>
        <p:nvPicPr>
          <p:cNvPr descr="images/ivor_lewis_simple2_9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Chemotherapy + Radiation CROSS Trial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363 patients with esophageal cancer studied</a:t>
                </a:r>
              </a:p>
              <a:p>
                <a:pPr lvl="0" indent="0" marL="0">
                  <a:buNone/>
                </a:pPr>
                <a:r>
                  <a:rPr/>
                  <a:t>Patients were treated in two groups:</a:t>
                </a:r>
              </a:p>
              <a:p>
                <a:pPr lvl="0" indent="0" marL="0">
                  <a:buNone/>
                </a:pPr>
                <a:r>
                  <a:rPr b="1"/>
                  <a:t>Surgery Alone</a:t>
                </a:r>
              </a:p>
              <a:p>
                <a:pPr lvl="0" indent="0" marL="0">
                  <a:buNone/>
                </a:pPr>
                <a:r>
                  <a:rPr/>
                  <a:t>vs</a:t>
                </a:r>
              </a:p>
              <a:p>
                <a:pPr lvl="0" indent="0" marL="0">
                  <a:buNone/>
                </a:pPr>
                <a:r>
                  <a:rPr b="1"/>
                  <a:t>Chemo + Radiation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Surgery</a:t>
                </a:r>
              </a:p>
            </p:txBody>
          </p:sp>
        </mc:Choice>
      </mc:AlternateContent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Chemotherapy + Radiation CROSS Trial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363 patients with esophageal cancer studied</a:t>
                </a:r>
              </a:p>
              <a:p>
                <a:pPr lvl="0" indent="0" marL="0">
                  <a:buNone/>
                </a:pPr>
                <a:r>
                  <a:rPr/>
                  <a:t>Chemotherapy + radiation together over 6 wks</a:t>
                </a:r>
              </a:p>
              <a:p>
                <a:pPr lvl="0" indent="0" marL="0">
                  <a:buNone/>
                </a:pPr>
                <a:r>
                  <a:rPr b="1"/>
                  <a:t>Surgery Alone</a:t>
                </a:r>
              </a:p>
              <a:p>
                <a:pPr lvl="0" indent="0" marL="0">
                  <a:buNone/>
                </a:pPr>
                <a:r>
                  <a:rPr/>
                  <a:t>vs</a:t>
                </a:r>
              </a:p>
              <a:p>
                <a:pPr lvl="0" indent="0" marL="0">
                  <a:buNone/>
                </a:pPr>
                <a:r>
                  <a:rPr b="1"/>
                  <a:t>Chemo + Radiation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Surgery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⇒</m:t>
                    </m:r>
                  </m:oMath>
                </a14:m>
                <a:r>
                  <a:rPr/>
                  <a:t> Longer Survival</a:t>
                </a:r>
              </a:p>
            </p:txBody>
          </p:sp>
        </mc:Choice>
      </mc:AlternateContent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Chemo + Radiation CROSS Trial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Typical schedule for chemotherapy + radiation:</a:t>
            </a:r>
          </a:p>
          <a:p>
            <a:pPr lvl="0"/>
            <a:r>
              <a:rPr/>
              <a:t>Chemotherapy once per week for six weeks</a:t>
            </a:r>
          </a:p>
          <a:p>
            <a:pPr lvl="0"/>
            <a:r>
              <a:rPr/>
              <a:t>Radiation five days per week for six weeks (28)</a:t>
            </a:r>
          </a:p>
          <a:p>
            <a:pPr lvl="0"/>
            <a:r>
              <a:rPr/>
              <a:t>PET scan (or CT) 4 weeks after the end of radiation</a:t>
            </a:r>
          </a:p>
          <a:p>
            <a:pPr lvl="0"/>
            <a:r>
              <a:rPr/>
              <a:t>Surgery 8 weeks after the end of radiation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Chemo + Radiation - Side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Kills cancer cells in the esophagus and lymph nodes</a:t>
            </a:r>
          </a:p>
          <a:p>
            <a:pPr lvl="0" indent="0" marL="0">
              <a:buNone/>
            </a:pPr>
            <a:r>
              <a:rPr/>
              <a:t>Can also irritate the lining of the esophagus.</a:t>
            </a:r>
          </a:p>
          <a:p>
            <a:pPr lvl="0" indent="0" marL="0">
              <a:buNone/>
            </a:pPr>
            <a:r>
              <a:rPr/>
              <a:t>Swallowing can be difficult the last 2 weeks.</a:t>
            </a:r>
          </a:p>
          <a:p>
            <a:pPr lvl="0" indent="0" marL="0">
              <a:buNone/>
            </a:pPr>
            <a:r>
              <a:rPr/>
              <a:t>Feeding tube may be needed for hydration/nutrition.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Locally-advanced Adenocarcinoma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“Sandwich” chemotherapy before + after surgery:</a:t>
                </a:r>
              </a:p>
              <a:p>
                <a:pPr lvl="0" indent="0" marL="0">
                  <a:buNone/>
                </a:pPr>
                <a:r>
                  <a:rPr/>
                  <a:t>Chemo (8 wks)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Surgery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Chemo (8 wks)</a:t>
                </a:r>
              </a:p>
              <a:p>
                <a:pPr lvl="0" indent="0" marL="0">
                  <a:buNone/>
                </a:pPr>
                <a:r>
                  <a:rPr/>
                  <a:t>Two different drug combinations:</a:t>
                </a:r>
              </a:p>
              <a:p>
                <a:pPr lvl="0"/>
                <a:r>
                  <a:rPr/>
                  <a:t>FLOT (more effective)</a:t>
                </a:r>
              </a:p>
              <a:p>
                <a:pPr lvl="0"/>
                <a:r>
                  <a:rPr/>
                  <a:t>FOLFOX (better tolerated)</a:t>
                </a:r>
              </a:p>
            </p:txBody>
          </p:sp>
        </mc:Choice>
      </mc:AlternateContent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“Sandwich” Chemotherapy Drugs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FLOT</a:t>
            </a:r>
          </a:p>
          <a:p>
            <a:pPr lvl="0"/>
            <a:r>
              <a:rPr/>
              <a:t>5-FU</a:t>
            </a:r>
          </a:p>
          <a:p>
            <a:pPr lvl="0"/>
            <a:r>
              <a:rPr/>
              <a:t>Leucovorion</a:t>
            </a:r>
          </a:p>
          <a:p>
            <a:pPr lvl="0"/>
            <a:r>
              <a:rPr/>
              <a:t>Oxaliplatin</a:t>
            </a:r>
          </a:p>
          <a:p>
            <a:pPr lvl="0"/>
            <a:r>
              <a:rPr/>
              <a:t>Taxotere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FOLFOX</a:t>
            </a:r>
          </a:p>
          <a:p>
            <a:pPr lvl="0"/>
            <a:r>
              <a:rPr/>
              <a:t>5-FU</a:t>
            </a:r>
          </a:p>
          <a:p>
            <a:pPr lvl="0"/>
            <a:r>
              <a:rPr/>
              <a:t>Leucovorin</a:t>
            </a:r>
          </a:p>
          <a:p>
            <a:pPr lvl="0"/>
            <a:r>
              <a:rPr/>
              <a:t>Oxaliplatin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FLOT Treatment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FLOT Chemo every 2 weeks x 4 (=8 weeks total)</a:t>
            </a:r>
          </a:p>
          <a:p>
            <a:pPr lvl="0"/>
            <a:r>
              <a:rPr/>
              <a:t>Surgery (4-6 weeks later)</a:t>
            </a:r>
          </a:p>
          <a:p>
            <a:pPr lvl="0"/>
            <a:r>
              <a:rPr/>
              <a:t>FLOT Chemo every 2 weeks x 4 (=8 weeks total)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Durvalumab Immunotherapy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Cancer cells can turn off immune cells using a protein PD-L1</a:t>
            </a:r>
          </a:p>
          <a:p>
            <a:pPr lvl="0" indent="0" marL="0">
              <a:buNone/>
            </a:pPr>
            <a:r>
              <a:rPr/>
              <a:t>Darvalumab turns on immune cells by counteracting PD-L1</a:t>
            </a:r>
          </a:p>
          <a:p>
            <a:pPr lvl="0" indent="0" marL="0">
              <a:buNone/>
            </a:pPr>
            <a:r>
              <a:rPr/>
              <a:t>Durvalumab strengthens the immmune system to fight cancer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Matterhorn Trial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Matterhorn clinical trial compared two types of treatment:</a:t>
                </a:r>
              </a:p>
              <a:p>
                <a:pPr lvl="0" indent="0" marL="0">
                  <a:buNone/>
                </a:pPr>
                <a:r>
                  <a:rPr/>
                  <a:t>FLOT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Surgery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FLOT</a:t>
                </a:r>
              </a:p>
              <a:p>
                <a:pPr lvl="0" indent="0" marL="0">
                  <a:buNone/>
                </a:pPr>
                <a:r>
                  <a:rPr/>
                  <a:t>FLOT + Durvalumab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Surgery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FLOT + Durvalumab</a:t>
                </a:r>
              </a:p>
              <a:p>
                <a:pPr lvl="0" indent="0" marL="0">
                  <a:buNone/>
                </a:pPr>
                <a:r>
                  <a:rPr/>
                  <a:t>Better survival with addition of durvalumab to FLOT</a:t>
                </a:r>
              </a:p>
              <a:p>
                <a:pPr lvl="0" indent="0" marL="0">
                  <a:buNone/>
                </a:pPr>
                <a:r>
                  <a:rPr b="1"/>
                  <a:t>Treatment with durvalumab depends upon approval from insurance company</a:t>
                </a:r>
              </a:p>
            </p:txBody>
          </p:sp>
        </mc:Choice>
      </mc:AlternateContent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FLOT Chemo ± Durvalumab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FLOT Chemotherapy</a:t>
            </a:r>
          </a:p>
          <a:p>
            <a:pPr lvl="0"/>
            <a:r>
              <a:rPr/>
              <a:t>FLOT (8 weeks)</a:t>
            </a:r>
          </a:p>
          <a:p>
            <a:pPr lvl="0"/>
            <a:r>
              <a:rPr/>
              <a:t>Surgery (4-6 weeks later)</a:t>
            </a:r>
          </a:p>
          <a:p>
            <a:pPr lvl="0"/>
            <a:r>
              <a:rPr/>
              <a:t>FLOT (8 weeks)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FLOT + Durvalumab</a:t>
            </a:r>
          </a:p>
          <a:p>
            <a:pPr lvl="0"/>
            <a:r>
              <a:rPr/>
              <a:t>FLOT + Durvalumab (8 wks)</a:t>
            </a:r>
          </a:p>
          <a:p>
            <a:pPr lvl="0"/>
            <a:r>
              <a:rPr/>
              <a:t>Surgery (4-6 weeks later)</a:t>
            </a:r>
          </a:p>
          <a:p>
            <a:pPr lvl="0"/>
            <a:r>
              <a:rPr/>
              <a:t>FLOT + Durvalumab (8 wks)</a:t>
            </a:r>
          </a:p>
          <a:p>
            <a:pPr lvl="0"/>
            <a:r>
              <a:rPr/>
              <a:t>Durvalumab monthly x10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Tumor Biomarkers - Pathology Tests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Show whether other drugs may be helpful:</a:t>
                </a:r>
              </a:p>
              <a:p>
                <a:pPr lvl="0"/>
                <a:r>
                  <a:rPr/>
                  <a:t>HER-2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Herceptin can be helpful</a:t>
                </a:r>
              </a:p>
              <a:p>
                <a:pPr lvl="0"/>
                <a:r>
                  <a:rPr/>
                  <a:t>PD-L1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Immunotherapy can be helpful</a:t>
                </a:r>
              </a:p>
              <a:p>
                <a:pPr lvl="0"/>
                <a:r>
                  <a:rPr/>
                  <a:t>MMR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Immunotherapy can be very helpful</a:t>
                </a:r>
              </a:p>
              <a:p>
                <a:pPr lvl="0" indent="0" marL="0">
                  <a:buNone/>
                </a:pPr>
                <a:r>
                  <a:rPr/>
                  <a:t>Biomarkers reported in a separate pathology report</a:t>
                </a:r>
              </a:p>
              <a:p>
                <a:pPr lvl="0" indent="0" marL="0">
                  <a:buNone/>
                </a:pPr>
                <a:r>
                  <a:rPr/>
                  <a:t>Your medical oncologist will review these with you</a:t>
                </a:r>
              </a:p>
            </p:txBody>
          </p:sp>
        </mc:Choice>
      </mc:AlternateContent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Adenocarcinoma Treatment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Chemo + Radiation</a:t>
            </a:r>
          </a:p>
          <a:p>
            <a:pPr lvl="0"/>
            <a:r>
              <a:rPr/>
              <a:t>Chemo + Radiation (6wk)</a:t>
            </a:r>
          </a:p>
          <a:p>
            <a:pPr lvl="0"/>
            <a:r>
              <a:rPr/>
              <a:t>Surgery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Chemotherapy</a:t>
            </a:r>
          </a:p>
          <a:p>
            <a:pPr lvl="0"/>
            <a:r>
              <a:rPr/>
              <a:t>Chemo (8wk)</a:t>
            </a:r>
          </a:p>
          <a:p>
            <a:pPr lvl="0"/>
            <a:r>
              <a:rPr/>
              <a:t>Surgery</a:t>
            </a:r>
          </a:p>
          <a:p>
            <a:pPr lvl="0"/>
            <a:r>
              <a:rPr/>
              <a:t>Chemo (8wk)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Adenocarcinoma Treatment Options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Chemo + Radiation</a:t>
                </a:r>
              </a:p>
              <a:p>
                <a:pPr lvl="0"/>
                <a:r>
                  <a:rPr/>
                  <a:t>Longer track record</a:t>
                </a:r>
              </a:p>
              <a:p>
                <a:pPr lvl="0"/>
                <a:r>
                  <a:rPr/>
                  <a:t>Better tolerated</a:t>
                </a:r>
              </a:p>
              <a:p>
                <a:pPr lvl="0"/>
                <a:r>
                  <a:rPr/>
                  <a:t>Port usually placed</a:t>
                </a:r>
              </a:p>
              <a:p>
                <a:pPr lvl="0"/>
                <a:r>
                  <a:rPr/>
                  <a:t>Eating worse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better</a:t>
                </a:r>
              </a:p>
              <a:p>
                <a:pPr lvl="0"/>
                <a:r>
                  <a:rPr/>
                  <a:t>May need feeding tube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Chemotherapy</a:t>
            </a:r>
          </a:p>
          <a:p>
            <a:pPr lvl="0"/>
            <a:r>
              <a:rPr/>
              <a:t>More effective</a:t>
            </a:r>
          </a:p>
          <a:p>
            <a:pPr lvl="0"/>
            <a:r>
              <a:rPr/>
              <a:t>More side effects</a:t>
            </a:r>
          </a:p>
          <a:p>
            <a:pPr lvl="0"/>
            <a:r>
              <a:rPr/>
              <a:t>Port always required</a:t>
            </a:r>
          </a:p>
          <a:p>
            <a:pPr lvl="0"/>
            <a:r>
              <a:rPr/>
              <a:t>Eating slowly improves</a:t>
            </a:r>
          </a:p>
          <a:p>
            <a:pPr lvl="0"/>
            <a:r>
              <a:rPr/>
              <a:t>Less likely to need feeding tube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Chemotherapy Administration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chemotherapy is administered by vein.</a:t>
            </a:r>
          </a:p>
          <a:p>
            <a:pPr lvl="0" indent="0" marL="0">
              <a:buNone/>
            </a:pPr>
            <a:r>
              <a:rPr/>
              <a:t>Several options exist to administer chemotherapy:</a:t>
            </a:r>
          </a:p>
          <a:p>
            <a:pPr lvl="0"/>
            <a:r>
              <a:rPr/>
              <a:t>Intravenous catheter in peripheral veins</a:t>
            </a:r>
          </a:p>
          <a:p>
            <a:pPr lvl="0"/>
            <a:r>
              <a:rPr/>
              <a:t>Peripheral Intravenous Central Catheter (PICC)</a:t>
            </a:r>
          </a:p>
          <a:p>
            <a:pPr lvl="0"/>
            <a:r>
              <a:rPr/>
              <a:t>Central Venous port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Intravenous Catheter in Peripheral Vein (“IV”)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IV catheter placed in vein of hand or arm</a:t>
            </a:r>
          </a:p>
          <a:p>
            <a:pPr lvl="0"/>
            <a:r>
              <a:rPr/>
              <a:t>Allows administration of chemo and fluids</a:t>
            </a:r>
          </a:p>
          <a:p>
            <a:pPr lvl="0"/>
            <a:r>
              <a:rPr/>
              <a:t>Placed for each dose</a:t>
            </a:r>
          </a:p>
          <a:p>
            <a:pPr lvl="0"/>
            <a:r>
              <a:rPr/>
              <a:t>Removed that day</a:t>
            </a:r>
          </a:p>
          <a:p>
            <a:pPr lvl="0"/>
            <a:r>
              <a:rPr/>
              <a:t>Not suitable for FLOT chemo</a:t>
            </a:r>
          </a:p>
        </p:txBody>
      </p:sp>
      <p:pic>
        <p:nvPicPr>
          <p:cNvPr descr="images/access_peripheral-venous-catheter-427167-7_960_720-pixabay.jpe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334000" y="1193800"/>
            <a:ext cx="27940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Central Venous 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Implantable device makes chemo easier</a:t>
            </a:r>
          </a:p>
          <a:p>
            <a:pPr lvl="0"/>
            <a:r>
              <a:rPr/>
              <a:t>May shower in 24 hrs</a:t>
            </a:r>
          </a:p>
          <a:p>
            <a:pPr lvl="0"/>
            <a:r>
              <a:rPr/>
              <a:t>No special care at home</a:t>
            </a:r>
          </a:p>
          <a:p>
            <a:pPr lvl="0"/>
            <a:r>
              <a:rPr/>
              <a:t>OK for FLOT chemo</a:t>
            </a:r>
          </a:p>
          <a:p>
            <a:pPr lvl="0"/>
            <a:r>
              <a:rPr/>
              <a:t>Allows for blood draws</a:t>
            </a:r>
          </a:p>
        </p:txBody>
      </p:sp>
      <p:pic>
        <p:nvPicPr>
          <p:cNvPr descr="images/access_cv_por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Central Venous 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Implanted under skin</a:t>
            </a:r>
          </a:p>
          <a:p>
            <a:pPr lvl="0"/>
            <a:r>
              <a:rPr/>
              <a:t>Neck incision (1/4”)</a:t>
            </a:r>
          </a:p>
          <a:p>
            <a:pPr lvl="0"/>
            <a:r>
              <a:rPr/>
              <a:t>Incision below the collarbone</a:t>
            </a:r>
          </a:p>
          <a:p>
            <a:pPr lvl="0"/>
            <a:r>
              <a:rPr/>
              <a:t>Sutures dissolve</a:t>
            </a:r>
          </a:p>
          <a:p>
            <a:pPr lvl="0"/>
            <a:r>
              <a:rPr/>
              <a:t>“Superglue” on incisions</a:t>
            </a:r>
          </a:p>
        </p:txBody>
      </p:sp>
      <p:pic>
        <p:nvPicPr>
          <p:cNvPr descr="images/access_cv_port_17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1193800"/>
            <a:ext cx="37338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Central Venous 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it is time for chemotherapy, a needle is inserted through the skin into the port</a:t>
            </a:r>
          </a:p>
        </p:txBody>
      </p:sp>
      <p:pic>
        <p:nvPicPr>
          <p:cNvPr descr="images/access_cv_port_detail_17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1193800"/>
            <a:ext cx="37338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Restaging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CT or PET scan will be performed after preoperative therapy</a:t>
            </a:r>
          </a:p>
          <a:p>
            <a:pPr lvl="0" indent="0" marL="0">
              <a:buNone/>
            </a:pPr>
            <a:br/>
          </a:p>
          <a:p>
            <a:pPr lvl="0"/>
            <a:r>
              <a:rPr/>
              <a:t>Surgery performed after restaging</a:t>
            </a:r>
          </a:p>
          <a:p>
            <a:pPr lvl="0"/>
            <a:r>
              <a:rPr/>
              <a:t>Timing depends upon recovery from therapy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284309" y="205979"/>
                <a:ext cx="8552330" cy="662317"/>
              </a:xfrm>
            </p:spPr>
            <p:txBody>
              <a:bodyPr/>
              <a:lstStyle/>
              <a:p>
                <a:pPr lvl="0" indent="0" marL="0">
                  <a:buNone/>
                </a:pPr>
                <a:r>
                  <a:rPr/>
                  <a:t>Restaging after Chemotherapy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±</m:t>
                    </m:r>
                  </m:oMath>
                </a14:m>
                <a:r>
                  <a:rPr/>
                  <a:t> Radiation</a:t>
                </a:r>
              </a:p>
            </p:txBody>
          </p:sp>
        </mc:Choice>
      </mc:AlternateContent>
      <p:pic>
        <p:nvPicPr>
          <p:cNvPr descr="images/EsoRx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16000" y="952500"/>
            <a:ext cx="7061200" cy="397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Fitness Evaluation prior to Surgery</a:t>
            </a:r>
          </a:p>
        </p:txBody>
      </p:sp>
      <p:pic>
        <p:nvPicPr>
          <p:cNvPr descr="images/EsoRx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16000" y="952500"/>
            <a:ext cx="7061200" cy="397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Surgery vs No Surgery</a:t>
            </a:r>
          </a:p>
        </p:txBody>
      </p:sp>
      <p:pic>
        <p:nvPicPr>
          <p:cNvPr descr="images/EsoRx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16000" y="952500"/>
            <a:ext cx="7061200" cy="397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Surgery Advantages + Disadvantages</a:t>
            </a:r>
          </a:p>
        </p:txBody>
      </p:sp>
      <p:pic>
        <p:nvPicPr>
          <p:cNvPr descr="images/EsoRx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16000" y="952500"/>
            <a:ext cx="7061200" cy="397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284309" y="205979"/>
                <a:ext cx="8552330" cy="662317"/>
              </a:xfrm>
            </p:spPr>
            <p:txBody>
              <a:bodyPr/>
              <a:lstStyle/>
              <a:p>
                <a:pPr lvl="0" indent="0" marL="0">
                  <a:buNone/>
                </a:pPr>
                <a:r>
                  <a:rPr/>
                  <a:t>Outcomes after Chemotherapy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±</m:t>
                    </m:r>
                  </m:oMath>
                </a14:m>
                <a:r>
                  <a:rPr/>
                  <a:t> Radiation</a:t>
                </a:r>
              </a:p>
            </p:txBody>
          </p:sp>
        </mc:Choice>
      </mc:AlternateContent>
      <p:pic>
        <p:nvPicPr>
          <p:cNvPr descr="images/EsoRx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16000" y="952500"/>
            <a:ext cx="7061200" cy="397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/EsoRx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16000" y="952500"/>
            <a:ext cx="7061200" cy="397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Active Surveillance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Active Surveillance is appropriate when:</a:t>
            </a:r>
          </a:p>
          <a:p>
            <a:pPr lvl="0"/>
            <a:r>
              <a:rPr/>
              <a:t>CT/PET shows no signs of spread</a:t>
            </a:r>
          </a:p>
          <a:p>
            <a:pPr lvl="0"/>
            <a:r>
              <a:rPr/>
              <a:t>EGD biopsies are negative</a:t>
            </a:r>
          </a:p>
          <a:p>
            <a:pPr lvl="0" indent="0" marL="0">
              <a:buNone/>
            </a:pPr>
            <a:r>
              <a:rPr/>
              <a:t>Active Surveillance reduces the need for surgery by 50% </a:t>
            </a:r>
            <a:r>
              <a:rPr i="1"/>
              <a:t>but</a:t>
            </a:r>
            <a:r>
              <a:rPr/>
              <a:t> survival and disease control is probably better with immediate surgery.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Primary Care Practitioner (PCP)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Critical to coordinate care between specialists.</a:t>
            </a:r>
          </a:p>
          <a:p>
            <a:pPr lvl="0" indent="0" marL="0">
              <a:buNone/>
            </a:pPr>
            <a:r>
              <a:rPr/>
              <a:t>We will update your PCP after each visit</a:t>
            </a:r>
          </a:p>
          <a:p>
            <a:pPr lvl="0" indent="0" marL="0">
              <a:buNone/>
            </a:pPr>
            <a:r>
              <a:rPr/>
              <a:t>PCP Referral Line (844) 235-6998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My Atrium Patient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Critical to good communication with your care team</a:t>
            </a:r>
          </a:p>
          <a:p>
            <a:pPr lvl="0"/>
            <a:r>
              <a:rPr/>
              <a:t>Available for desktop or laptop or phone</a:t>
            </a:r>
          </a:p>
          <a:p>
            <a:pPr lvl="0"/>
            <a:r>
              <a:rPr/>
              <a:t>Sign up at my.atriumhealth.org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Reduces risk of complications from treatment</a:t>
            </a:r>
          </a:p>
          <a:p>
            <a:pPr lvl="0"/>
            <a:r>
              <a:rPr/>
              <a:t>Goal is 30min/day of vigorous exercise 6 days/wk</a:t>
            </a:r>
          </a:p>
          <a:p>
            <a:pPr lvl="1"/>
            <a:r>
              <a:rPr/>
              <a:t>Working hard enough that you can’t converse</a:t>
            </a:r>
          </a:p>
          <a:p>
            <a:pPr lvl="1"/>
            <a:r>
              <a:rPr/>
              <a:t>Start slowly and build up</a:t>
            </a:r>
          </a:p>
          <a:p>
            <a:pPr lvl="1"/>
            <a:r>
              <a:rPr/>
              <a:t>Every day counts! (Aim for daily activity)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Smoking Cessation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Smoking makes cancer treatment more difficult</a:t>
            </a:r>
          </a:p>
          <a:p>
            <a:pPr lvl="1"/>
            <a:r>
              <a:rPr/>
              <a:t>Increases risk of complications after surgery</a:t>
            </a:r>
          </a:p>
          <a:p>
            <a:pPr lvl="0"/>
            <a:r>
              <a:rPr/>
              <a:t>Options for help with smoking cessation:</a:t>
            </a:r>
          </a:p>
          <a:p>
            <a:pPr lvl="1"/>
            <a:r>
              <a:rPr/>
              <a:t>NC Quit Line 1-800-QUIT-NOW (1-800-784-8669)</a:t>
            </a:r>
          </a:p>
          <a:p>
            <a:pPr lvl="1"/>
            <a:r>
              <a:rPr/>
              <a:t>American Lung Assn www.freedomfromsmoking.org</a:t>
            </a:r>
          </a:p>
          <a:p>
            <a:pPr lvl="1"/>
            <a:r>
              <a:rPr/>
              <a:t>Smoking Cessation Counseling (Metro Charlotte)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Protein Needs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Men: Average 75 grams/day</a:t>
            </a:r>
          </a:p>
          <a:p>
            <a:pPr lvl="0"/>
            <a:r>
              <a:rPr/>
              <a:t>Women: Average 60 grams/day</a:t>
            </a:r>
          </a:p>
          <a:p>
            <a:pPr lvl="0" indent="0" marL="0">
              <a:buNone/>
            </a:pPr>
            <a:r>
              <a:rPr/>
              <a:t>Protein Shakes provide protein with minimal sugar</a:t>
            </a:r>
          </a:p>
        </p:txBody>
      </p:sp>
      <p:pic>
        <p:nvPicPr>
          <p:cNvPr descr="images/nutrition_protein_shakes900900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1193800"/>
            <a:ext cx="37338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Feeding Tubes</a:t>
            </a:r>
          </a:p>
        </p:txBody>
      </p:sp>
      <p:pic>
        <p:nvPicPr>
          <p:cNvPr descr="images/nutrition_jtub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71500" y="1193800"/>
            <a:ext cx="3644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nutrition_gtub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902200" y="1193800"/>
            <a:ext cx="3644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Gastrostomy Tube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Feeding Gastrostomy</a:t>
            </a:r>
          </a:p>
          <a:p>
            <a:pPr lvl="0"/>
            <a:r>
              <a:rPr/>
              <a:t>Feeding with a syringe several times per day.</a:t>
            </a:r>
          </a:p>
          <a:p>
            <a:pPr lvl="0"/>
            <a:r>
              <a:rPr/>
              <a:t>Tube can be hidden underneath clothing</a:t>
            </a:r>
          </a:p>
          <a:p>
            <a:pPr lvl="0"/>
            <a:r>
              <a:rPr/>
              <a:t>Tube does not interfere with eating by mouth</a:t>
            </a:r>
          </a:p>
          <a:p>
            <a:pPr lvl="0"/>
            <a:r>
              <a:rPr/>
              <a:t>Removed easily in the office when no longer needed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Gastrostomy Tube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PEG: Tube placed by endoscopy</a:t>
            </a:r>
          </a:p>
          <a:p>
            <a:pPr lvl="0" indent="0" marL="0">
              <a:buNone/>
            </a:pPr>
            <a:r>
              <a:rPr/>
              <a:t>Laparoscopic: Tube placed surgically by laparoscopy</a:t>
            </a:r>
          </a:p>
          <a:p>
            <a:pPr lvl="0" indent="0" marL="0">
              <a:buNone/>
            </a:pPr>
            <a:r>
              <a:rPr/>
              <a:t>Preferred method depends upon whether esophagectomy is planned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Gastrostomy Tube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Outpatient Placement (go home the same day)</a:t>
            </a:r>
          </a:p>
          <a:p>
            <a:pPr lvl="0"/>
            <a:r>
              <a:rPr/>
              <a:t>Central venous port can be placed at the same time (if needed)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Tube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Nutrition to bypasses the esophagus and stomach</a:t>
            </a:r>
          </a:p>
          <a:p>
            <a:pPr lvl="0"/>
            <a:r>
              <a:rPr/>
              <a:t>Placed in small intestine</a:t>
            </a:r>
          </a:p>
          <a:p>
            <a:pPr lvl="0"/>
            <a:r>
              <a:rPr/>
              <a:t>Pump administers feedings slowly</a:t>
            </a:r>
          </a:p>
          <a:p>
            <a:pPr lvl="0"/>
            <a:r>
              <a:rPr/>
              <a:t>Feeding done at night</a:t>
            </a:r>
          </a:p>
        </p:txBody>
      </p:sp>
      <p:pic>
        <p:nvPicPr>
          <p:cNvPr descr="images/nutrition_jtub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02200" y="1193800"/>
            <a:ext cx="3644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Typical Regimen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Jejunostomy tube feeds for 16 hours (6pm-10am)</a:t>
            </a:r>
          </a:p>
          <a:p>
            <a:pPr lvl="1"/>
            <a:r>
              <a:rPr/>
              <a:t>Men: 75mL/hour x 16 hours = 5 cartons</a:t>
            </a:r>
          </a:p>
          <a:p>
            <a:pPr lvl="1"/>
            <a:r>
              <a:rPr/>
              <a:t>Women: 60mL/hour x 16 hours = 4 cartons</a:t>
            </a:r>
          </a:p>
          <a:p>
            <a:pPr lvl="0"/>
            <a:r>
              <a:rPr/>
              <a:t>Water 240ml (8oz) via syringe 4x/day</a:t>
            </a:r>
          </a:p>
          <a:p>
            <a:pPr lvl="0" indent="0" marL="0">
              <a:buNone/>
            </a:pPr>
            <a:r>
              <a:rPr/>
              <a:t>Hospital nurses will teach use of the feeding tube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Feeds with Diabetes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Jejunostomy feedings elevate blood sugars</a:t>
            </a:r>
          </a:p>
          <a:p>
            <a:pPr lvl="0"/>
            <a:r>
              <a:rPr/>
              <a:t>Insulin may be required along with feeds</a:t>
            </a:r>
          </a:p>
          <a:p>
            <a:pPr lvl="0" indent="0" marL="0">
              <a:buNone/>
            </a:pPr>
            <a:r>
              <a:rPr/>
              <a:t>Typical Pattern for tube feeds</a:t>
            </a:r>
          </a:p>
          <a:p>
            <a:pPr lvl="0"/>
            <a:r>
              <a:rPr/>
              <a:t>Feeds run via pump from 6pm to 10am</a:t>
            </a:r>
          </a:p>
          <a:p>
            <a:pPr lvl="0"/>
            <a:r>
              <a:rPr/>
              <a:t>Insulin at 6pm (70/30 insulin)</a:t>
            </a:r>
          </a:p>
          <a:p>
            <a:pPr lvl="0"/>
            <a:r>
              <a:rPr/>
              <a:t>Insulin at Midnight (70/30 insulin)</a:t>
            </a:r>
          </a:p>
          <a:p>
            <a:pPr lvl="0"/>
            <a:r>
              <a:rPr/>
              <a:t>No insulin if tube feedings are not run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video is available to help become familiar with the feeding jejunostomy</a:t>
            </a:r>
          </a:p>
        </p:txBody>
      </p:sp>
      <p:pic>
        <p:nvPicPr>
          <p:cNvPr descr="images/nutrition_jejunostomy_qrcod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274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Team Members - Physicians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Primary Care Provider</a:t>
            </a:r>
          </a:p>
          <a:p>
            <a:pPr lvl="0" indent="0" marL="0">
              <a:buNone/>
            </a:pPr>
            <a:r>
              <a:rPr/>
              <a:t>Gastroenterologist</a:t>
            </a:r>
          </a:p>
          <a:p>
            <a:pPr lvl="0" indent="0" marL="0">
              <a:buNone/>
            </a:pPr>
            <a:r>
              <a:rPr/>
              <a:t>Medical Oncologist (chemotherapy)</a:t>
            </a:r>
          </a:p>
          <a:p>
            <a:pPr lvl="0" indent="0" marL="0">
              <a:buNone/>
            </a:pPr>
            <a:r>
              <a:rPr/>
              <a:t>Radiation Oncologist (radiation)</a:t>
            </a:r>
          </a:p>
          <a:p>
            <a:pPr lvl="0" indent="0" marL="0">
              <a:buNone/>
            </a:pPr>
            <a:r>
              <a:rPr/>
              <a:t>Surgeons</a:t>
            </a:r>
          </a:p>
          <a:p>
            <a:pPr lvl="0"/>
            <a:r>
              <a:rPr/>
              <a:t>Jonathan Salo MD</a:t>
            </a:r>
          </a:p>
          <a:p>
            <a:pPr lvl="0"/>
            <a:r>
              <a:rPr/>
              <a:t>Kelli Salter MD</a:t>
            </a:r>
          </a:p>
          <a:p>
            <a:pPr lvl="0"/>
            <a:r>
              <a:rPr/>
              <a:t>Michael Roach MD</a:t>
            </a:r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Team Members - Support Staff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Physician Assistant - Kate Duncan PA-C</a:t>
            </a:r>
          </a:p>
          <a:p>
            <a:pPr lvl="0" indent="0" marL="0">
              <a:buNone/>
            </a:pPr>
            <a:r>
              <a:rPr/>
              <a:t>Dietitian - Liz Koch</a:t>
            </a:r>
          </a:p>
          <a:p>
            <a:pPr lvl="0" indent="0" marL="0">
              <a:buNone/>
            </a:pPr>
            <a:r>
              <a:rPr/>
              <a:t>Nurses</a:t>
            </a:r>
          </a:p>
          <a:p>
            <a:pPr lvl="0"/>
            <a:r>
              <a:rPr/>
              <a:t>Matthew Carpenter RN</a:t>
            </a:r>
          </a:p>
          <a:p>
            <a:pPr lvl="0"/>
            <a:r>
              <a:rPr/>
              <a:t>Brandon Galloway LPN</a:t>
            </a:r>
          </a:p>
          <a:p>
            <a:pPr lvl="0" indent="0" marL="0">
              <a:buNone/>
            </a:pPr>
            <a:r>
              <a:rPr/>
              <a:t>Navigators: Laura Swift RN &amp; Lorna Espinal RN</a:t>
            </a:r>
          </a:p>
          <a:p>
            <a:pPr lvl="0" indent="0" marL="0">
              <a:buNone/>
            </a:pPr>
            <a:r>
              <a:rPr/>
              <a:t>Care Coordinator - Karen Julian-Martinez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13868</TotalTime>
  <Words>42</Words>
  <Application>Microsoft Macintosh PowerPoint</Application>
  <PresentationFormat>On-screen Show (16:9)</PresentationFormat>
  <Paragraphs>13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Lato Medium</vt:lpstr>
      <vt:lpstr>Lato Semibold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Adenocarcinoma of the Esophagus and GE Junction</dc:title>
  <dc:creator/>
  <cp:keywords/>
  <dcterms:created xsi:type="dcterms:W3CDTF">2026-09-22T00:37:27Z</dcterms:created>
  <dcterms:modified xsi:type="dcterms:W3CDTF">2026-09-22T00:37:27Z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bibliography">
    <vt:lpwstr>zotero.bib</vt:lpwstr>
  </property>
  <property fmtid="{D5CDD505-2E9C-101B-9397-08002B2CF9AE}" pid="4" name="editor">
    <vt:lpwstr>visual</vt:lpwstr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