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7" Type="http://schemas.openxmlformats.org/officeDocument/2006/relationships/viewProps" Target="viewProps.xml" /><Relationship Id="rId96" Type="http://schemas.openxmlformats.org/officeDocument/2006/relationships/presProps" Target="presProps.xml" /><Relationship Id="rId1" Type="http://schemas.openxmlformats.org/officeDocument/2006/relationships/slideMaster" Target="slideMasters/slideMaster1.xml" /><Relationship Id="rId99" Type="http://schemas.openxmlformats.org/officeDocument/2006/relationships/tableStyles" Target="tableStyles.xml" /><Relationship Id="rId9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1.png" /><Relationship Id="rId2" Type="http://schemas.openxmlformats.org/officeDocument/2006/relationships/image" Target="../media/image20.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2.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6.jpg"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Preparation for Surgery</a:t>
            </a:r>
          </a:p>
        </p:txBody>
      </p:sp>
      <p:sp>
        <p:nvSpPr>
          <p:cNvPr id="3" name="Content Placeholder 2"/>
          <p:cNvSpPr>
            <a:spLocks noGrp="1"/>
          </p:cNvSpPr>
          <p:nvPr>
            <p:ph idx="1"/>
          </p:nvPr>
        </p:nvSpPr>
        <p:spPr/>
        <p:txBody>
          <a:bodyPr/>
          <a:lstStyle/>
          <a:p>
            <a:pPr lvl="0" indent="0" marL="0">
              <a:buNone/>
            </a:pPr>
            <a:r>
              <a:rPr/>
              <a:t>Medical evaluation may be needed before surgery:</a:t>
            </a:r>
          </a:p>
          <a:p>
            <a:pPr lvl="0"/>
            <a:r>
              <a:rPr/>
              <a:t>Pulmonary Function Tests to test lung function</a:t>
            </a:r>
          </a:p>
          <a:p>
            <a:pPr lvl="0"/>
            <a:r>
              <a:rPr/>
              <a:t>Cardiology evaluation to test heart function</a:t>
            </a:r>
          </a:p>
          <a:p>
            <a:pPr lvl="1"/>
            <a:r>
              <a:rPr/>
              <a:t>Echocardiogram</a:t>
            </a:r>
          </a:p>
          <a:p>
            <a:pPr lvl="1"/>
            <a:r>
              <a:rPr/>
              <a:t>Stress Test</a:t>
            </a:r>
          </a:p>
          <a:p>
            <a:pPr lvl="1"/>
            <a:r>
              <a:rPr/>
              <a:t>Holter monitor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Esophagectomy for Cancers of the Esophagus or GE Junction</a:t>
            </a:r>
          </a:p>
        </p:txBody>
      </p:sp>
      <p:sp>
        <p:nvSpPr>
          <p:cNvPr id="3" name="Content Placeholder 2"/>
          <p:cNvSpPr>
            <a:spLocks noGrp="1"/>
          </p:cNvSpPr>
          <p:nvPr>
            <p:ph idx="1"/>
          </p:nvPr>
        </p:nvSpPr>
        <p:spPr/>
        <p:txBody>
          <a:bodyPr/>
          <a:lstStyle/>
          <a:p>
            <a:pPr lvl="0" indent="0" marL="0">
              <a:buNone/>
            </a:pPr>
            <a:r>
              <a:rPr/>
              <a:t>Primary Surgery</a:t>
            </a:r>
          </a:p>
          <a:p>
            <a:pPr lvl="0"/>
            <a:r>
              <a:rPr/>
              <a:t>Superficial Tumors (T1) not removed by endoscopy</a:t>
            </a:r>
          </a:p>
          <a:p>
            <a:pPr lvl="0"/>
            <a:r>
              <a:rPr/>
              <a:t>Localized Tumors (T2 N0 M0)</a:t>
            </a:r>
          </a:p>
          <a:p>
            <a:pPr lvl="0"/>
            <a:r>
              <a:rPr/>
              <a:t>Surgery scheduled after medical evaluation</a:t>
            </a:r>
          </a:p>
          <a:p>
            <a:pPr lvl="0"/>
            <a:r>
              <a:rPr/>
              <a:t>Aim for surgery within 6 weeks of consultation</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Esophagectomy for Cancers of the Esophagus or GE Junction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Preoperative Therapy </a:t>
                </a:r>
                <a14:m>
                  <m:oMath xmlns:m="http://schemas.openxmlformats.org/officeDocument/2006/math">
                    <m:r>
                      <m:rPr>
                        <m:sty m:val="p"/>
                      </m:rPr>
                      <m:t>→</m:t>
                    </m:r>
                  </m:oMath>
                </a14:m>
                <a:r>
                  <a:rPr/>
                  <a:t> Surgery (T3 Nx M0)</a:t>
                </a:r>
              </a:p>
              <a:p>
                <a:pPr lvl="0"/>
                <a:r>
                  <a:rPr/>
                  <a:t>Surgery scheduled after</a:t>
                </a:r>
              </a:p>
              <a:p>
                <a:pPr lvl="1"/>
                <a:r>
                  <a:rPr/>
                  <a:t>Recovery from preoperative therapy</a:t>
                </a:r>
              </a:p>
              <a:p>
                <a:pPr lvl="1"/>
                <a:r>
                  <a:rPr/>
                  <a:t>Restaging scans (CT or PET)</a:t>
                </a:r>
              </a:p>
              <a:p>
                <a:pPr lvl="1"/>
                <a:r>
                  <a:rPr/>
                  <a:t>Medical evaluation</a:t>
                </a:r>
              </a:p>
              <a:p>
                <a:pPr lvl="0"/>
                <a:r>
                  <a:rPr/>
                  <a:t>Timing between end of preoperative therapy and surgery</a:t>
                </a:r>
              </a:p>
              <a:p>
                <a:pPr lvl="1"/>
                <a:r>
                  <a:rPr/>
                  <a:t>Chemotherapy + radiation: 6-8 weeks</a:t>
                </a:r>
              </a:p>
              <a:p>
                <a:pPr lvl="1"/>
                <a:r>
                  <a:rPr/>
                  <a:t>Chemotherapy: 4-8 weeks</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Preoperative Visits</a:t>
            </a:r>
          </a:p>
        </p:txBody>
      </p:sp>
      <p:sp>
        <p:nvSpPr>
          <p:cNvPr id="3" name="Content Placeholder 2"/>
          <p:cNvSpPr>
            <a:spLocks noGrp="1"/>
          </p:cNvSpPr>
          <p:nvPr>
            <p:ph idx="1"/>
          </p:nvPr>
        </p:nvSpPr>
        <p:spPr/>
        <p:txBody>
          <a:bodyPr/>
          <a:lstStyle/>
          <a:p>
            <a:pPr lvl="0" indent="0" marL="0">
              <a:buNone/>
            </a:pPr>
            <a:r>
              <a:rPr/>
              <a:t>Medical Oncology - Monitor chemotherapy</a:t>
            </a:r>
          </a:p>
          <a:p>
            <a:pPr lvl="0" indent="0" marL="0">
              <a:buNone/>
            </a:pPr>
            <a:r>
              <a:rPr/>
              <a:t>Radiation Oncology - Monitor radiation</a:t>
            </a:r>
          </a:p>
          <a:p>
            <a:pPr lvl="0" indent="0" marL="0">
              <a:buNone/>
            </a:pPr>
            <a:r>
              <a:rPr/>
              <a:t>Surgical Oncology</a:t>
            </a:r>
          </a:p>
          <a:p>
            <a:pPr lvl="0"/>
            <a:r>
              <a:rPr/>
              <a:t>Consult visit with Dr Salo</a:t>
            </a:r>
          </a:p>
          <a:p>
            <a:pPr lvl="0"/>
            <a:r>
              <a:rPr/>
              <a:t>Mid-treatment visits with Dr Salo / Kate Duncan</a:t>
            </a:r>
          </a:p>
          <a:p>
            <a:pPr lvl="0"/>
            <a:r>
              <a:rPr/>
              <a:t>Preop visit with Dr Salo (may be virtual)</a:t>
            </a:r>
          </a:p>
          <a:p>
            <a:pPr lvl="0"/>
            <a:r>
              <a:rPr/>
              <a:t>Preop visit with Kate Duncan and Liz Koch</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1/2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pic>
        <p:nvPicPr>
          <p:cNvPr descr="images/Eso_Resection1_ai.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Resection2_ai.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p>
          <a:p>
            <a:pPr lvl="0" indent="0" marL="0">
              <a:buNone/>
            </a:pPr>
            <a:r>
              <a:rPr/>
              <a:t>:::::</a:t>
            </a:r>
          </a:p>
          <a:p>
            <a:pPr lvl="0" indent="0" marL="0">
              <a:buNone/>
            </a:pPr>
          </a:p>
          <a:p>
            <a:pPr lvl="0" indent="0" marL="0">
              <a:buNone/>
            </a:pPr>
            <a:r>
              <a:rPr/>
              <a: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 Esophagectomy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RaMIE_incision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98% of cases</a:t>
            </a:r>
          </a:p>
          <a:p>
            <a:pPr lvl="0" indent="0" marL="0">
              <a:buNone/>
            </a:pPr>
            <a:r>
              <a:rPr/>
              <a:t>In some cases, an open approach is still necessary (2%)</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Feeding Tube</a:t>
            </a:r>
          </a:p>
        </p:txBody>
      </p:sp>
      <p:sp>
        <p:nvSpPr>
          <p:cNvPr id="3" name="Content Placeholder 2"/>
          <p:cNvSpPr>
            <a:spLocks noGrp="1"/>
          </p:cNvSpPr>
          <p:nvPr>
            <p:ph idx="1" sz="half"/>
          </p:nvPr>
        </p:nvSpPr>
        <p:spPr/>
        <p:txBody>
          <a:bodyPr/>
          <a:lstStyle/>
          <a:p>
            <a:pPr lvl="0" indent="0" marL="0">
              <a:buNone/>
            </a:pPr>
            <a:r>
              <a:rPr/>
              <a:t>A temporary feeding tube is placed to supplement nutrition by mouth.</a:t>
            </a:r>
          </a:p>
          <a:p>
            <a:pPr lvl="0" indent="0" marL="0">
              <a:buNone/>
            </a:pPr>
            <a:r>
              <a:rPr/>
              <a:t>This will stay in place for about 8 weeks after surgery</a:t>
            </a:r>
          </a:p>
        </p:txBody>
      </p:sp>
      <p:pic>
        <p:nvPicPr>
          <p:cNvPr descr="images/jejunostomy/esophagectomy_jejunostom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Feeding Tube</a:t>
            </a:r>
          </a:p>
        </p:txBody>
      </p:sp>
      <p:sp>
        <p:nvSpPr>
          <p:cNvPr id="3" name="Content Placeholder 2"/>
          <p:cNvSpPr>
            <a:spLocks noGrp="1"/>
          </p:cNvSpPr>
          <p:nvPr>
            <p:ph idx="1" sz="half"/>
          </p:nvPr>
        </p:nvSpPr>
        <p:spPr/>
        <p:txBody>
          <a:bodyPr/>
          <a:lstStyle/>
          <a:p>
            <a:pPr lvl="0" indent="0" marL="0">
              <a:buNone/>
            </a:pPr>
            <a:r>
              <a:rPr/>
              <a:t>Feedings are administered through the jejunostomy at night by a pump</a:t>
            </a:r>
          </a:p>
        </p:txBody>
      </p:sp>
      <p:pic>
        <p:nvPicPr>
          <p:cNvPr descr="images/jejunostomy/esophagectomy_jtube_pump.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Feeding</a:t>
            </a:r>
          </a:p>
        </p:txBody>
      </p:sp>
      <p:sp>
        <p:nvSpPr>
          <p:cNvPr id="3" name="Content Placeholder 2"/>
          <p:cNvSpPr>
            <a:spLocks noGrp="1"/>
          </p:cNvSpPr>
          <p:nvPr>
            <p:ph idx="1"/>
          </p:nvPr>
        </p:nvSpPr>
        <p:spPr/>
        <p:txBody>
          <a:bodyPr/>
          <a:lstStyle/>
          <a:p>
            <a:pPr lvl="0"/>
            <a:r>
              <a:rPr/>
              <a:t>Start with continuous feeds (24 hours/day)</a:t>
            </a:r>
          </a:p>
          <a:p>
            <a:pPr lvl="0"/>
            <a:r>
              <a:rPr/>
              <a:t>Convert to nocturnal (night-time): 6pm to 10pm</a:t>
            </a:r>
          </a:p>
          <a:p>
            <a:pPr lvl="0" indent="0" marL="0">
              <a:buNone/>
            </a:pPr>
            <a:r>
              <a:rPr/>
              <a:t>The feeding bag holds only 4 cartons of feeds - May need to “top off’ bag after a few hours</a:t>
            </a:r>
          </a:p>
          <a:p>
            <a:pPr lvl="0" indent="0" marL="0">
              <a:buNone/>
            </a:pPr>
            <a:r>
              <a:rPr/>
              <a:t>Water through the tube</a:t>
            </a:r>
          </a:p>
          <a:p>
            <a:pPr lvl="0"/>
            <a:r>
              <a:rPr/>
              <a:t>Important to prevent dehydration</a:t>
            </a:r>
          </a:p>
          <a:p>
            <a:pPr lvl="0"/>
            <a:r>
              <a:rPr/>
              <a:t>240mL (8 oz) 4 times per day</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Feeding Pump</a:t>
            </a:r>
          </a:p>
        </p:txBody>
      </p:sp>
      <p:sp>
        <p:nvSpPr>
          <p:cNvPr id="3" name="Content Placeholder 2"/>
          <p:cNvSpPr>
            <a:spLocks noGrp="1"/>
          </p:cNvSpPr>
          <p:nvPr>
            <p:ph idx="1" sz="half"/>
          </p:nvPr>
        </p:nvSpPr>
        <p:spPr/>
        <p:txBody>
          <a:bodyPr/>
          <a:lstStyle/>
          <a:p>
            <a:pPr lvl="0"/>
            <a:r>
              <a:rPr/>
              <a:t>Pump administers feedings slowly</a:t>
            </a:r>
          </a:p>
          <a:p>
            <a:pPr lvl="0"/>
            <a:r>
              <a:rPr/>
              <a:t>Rate can be easily adjusted</a:t>
            </a:r>
          </a:p>
        </p:txBody>
      </p:sp>
      <p:pic>
        <p:nvPicPr>
          <p:cNvPr descr="images/jejunostomy/enteralbag_pump_hopistal.png" id="0" name="Picture 1"/>
          <p:cNvPicPr>
            <a:picLocks noGrp="1" noChangeAspect="1"/>
          </p:cNvPicPr>
          <p:nvPr/>
        </p:nvPicPr>
        <p:blipFill>
          <a:blip r:embed="rId2"/>
          <a:stretch>
            <a:fillRect/>
          </a:stretch>
        </p:blipFill>
        <p:spPr bwMode="auto">
          <a:xfrm>
            <a:off x="5448300" y="1193800"/>
            <a:ext cx="2565400" cy="37338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80% of patients </a:t>
                </a:r>
                <a14:m>
                  <m:oMath xmlns:m="http://schemas.openxmlformats.org/officeDocument/2006/math">
                    <m:r>
                      <m:rPr>
                        <m:sty m:val="p"/>
                      </m:rPr>
                      <m:t>⇒</m:t>
                    </m:r>
                  </m:oMath>
                </a14:m>
                <a:r>
                  <a:rPr/>
                  <a:t> liquids started by mouth</a:t>
                </a:r>
              </a:p>
            </p:txBody>
          </p:sp>
        </mc:Choice>
      </mc:AlternateContent>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Drains and Tubes</a:t>
            </a:r>
          </a:p>
        </p:txBody>
      </p:sp>
      <p:sp>
        <p:nvSpPr>
          <p:cNvPr id="3" name="Content Placeholder 2"/>
          <p:cNvSpPr>
            <a:spLocks noGrp="1"/>
          </p:cNvSpPr>
          <p:nvPr>
            <p:ph idx="1"/>
          </p:nvPr>
        </p:nvSpPr>
        <p:spPr/>
        <p:txBody>
          <a:bodyPr/>
          <a:lstStyle/>
          <a:p>
            <a:pPr lvl="0" indent="0" marL="0">
              <a:buNone/>
            </a:pPr>
            <a:r>
              <a:rPr/>
              <a:t>Chest Tube (right side): Removed 4-6 days after surgery (depending upon output) Abdominal drains: Removed 4-7 days after surgery</a:t>
            </a:r>
          </a:p>
          <a:p>
            <a:pPr lvl="0"/>
            <a:r>
              <a:rPr/>
              <a:t>Discharge with 1 abdominal drain in 10% of cases</a:t>
            </a:r>
          </a:p>
          <a:p>
            <a:pPr lvl="0" indent="0" marL="0">
              <a:buNone/>
            </a:pPr>
            <a:r>
              <a:rPr/>
              <a:t>Epidural catheter: Removed 4-5 days after surgery Bladder catheter: Removed after epidural catheter removed</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#7 after surgery</a:t>
            </a:r>
          </a:p>
          <a:p>
            <a:pPr lvl="0"/>
            <a:r>
              <a:rPr/>
              <a:t>Night-time tube feedings (6pm to 10am)</a:t>
            </a:r>
          </a:p>
          <a:p>
            <a:pPr lvl="0"/>
            <a:r>
              <a:rPr/>
              <a:t>Nutrition by mouth (90% of patients)</a:t>
            </a:r>
          </a:p>
          <a:p>
            <a:pPr lvl="1"/>
            <a:r>
              <a:rPr/>
              <a:t>Protein shakes or water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 Up Visit 7-10 days after Discharge</a:t>
            </a:r>
          </a:p>
        </p:txBody>
      </p:sp>
      <p:sp>
        <p:nvSpPr>
          <p:cNvPr id="3" name="Content Placeholder 2"/>
          <p:cNvSpPr>
            <a:spLocks noGrp="1"/>
          </p:cNvSpPr>
          <p:nvPr>
            <p:ph idx="1"/>
          </p:nvPr>
        </p:nvSpPr>
        <p:spPr/>
        <p:txBody>
          <a:bodyPr/>
          <a:lstStyle/>
          <a:p>
            <a:pPr lvl="0" indent="0" marL="0">
              <a:buNone/>
            </a:pPr>
            <a:r>
              <a:rPr/>
              <a:t>In-person clinic visit with Dr Salo or Kate Duncan</a:t>
            </a:r>
          </a:p>
          <a:p>
            <a:pPr lvl="0"/>
            <a:r>
              <a:rPr/>
              <a:t>Check surgical site</a:t>
            </a:r>
          </a:p>
          <a:p>
            <a:pPr lvl="0"/>
            <a:r>
              <a:rPr/>
              <a:t>Remove staples (if needed)</a:t>
            </a:r>
          </a:p>
          <a:p>
            <a:pPr lvl="0"/>
            <a:r>
              <a:rPr/>
              <a:t>Remove abdominal drains (if needed)</a:t>
            </a:r>
          </a:p>
          <a:p>
            <a:pPr lvl="0" indent="0" marL="0">
              <a:buNone/>
            </a:pPr>
            <a:r>
              <a:rPr/>
              <a:t>Meet with dietitian:</a:t>
            </a:r>
          </a:p>
          <a:p>
            <a:pPr lvl="0"/>
            <a:r>
              <a:rPr/>
              <a:t>Reduce tube feeds</a:t>
            </a:r>
          </a:p>
          <a:p>
            <a:pPr lvl="0"/>
            <a:r>
              <a:rPr/>
              <a:t>Advance diet by mouth</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Adjust Medicines after Surgery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Reglan: Discontinue 6 weeks after surgery Remeron: Discontinue 12 weeks after surgery Pain Medicines:</a:t>
                </a:r>
              </a:p>
              <a:p>
                <a:pPr lvl="0"/>
                <a:r>
                  <a:rPr/>
                  <a:t>Wean oxycodone within 6 weeks of surgery</a:t>
                </a:r>
              </a:p>
              <a:p>
                <a:pPr lvl="0"/>
                <a:r>
                  <a:rPr/>
                  <a:t>Discontinue gabapentin and acetaminophen (Tylenol) within 8 weeks</a:t>
                </a:r>
              </a:p>
              <a:p>
                <a:pPr lvl="0" indent="0" marL="0">
                  <a:buNone/>
                </a:pPr>
                <a:r>
                  <a:rPr/>
                  <a:t>Continue acid blockers (PPI) for at least 1 year</a:t>
                </a:r>
              </a:p>
              <a:p>
                <a:pPr lvl="0" indent="0" marL="0">
                  <a:buNone/>
                </a:pPr>
                <a:r>
                  <a:rPr/>
                  <a:t>Reduce metoprolol to once/day for 7 dayus </a:t>
                </a:r>
                <a14:m>
                  <m:oMath xmlns:m="http://schemas.openxmlformats.org/officeDocument/2006/math">
                    <m:r>
                      <m:rPr>
                        <m:sty m:val="p"/>
                      </m:rPr>
                      <m:t>→</m:t>
                    </m:r>
                  </m:oMath>
                </a14:m>
                <a:r>
                  <a:rPr/>
                  <a:t> discontinue</a:t>
                </a:r>
              </a:p>
            </p:txBody>
          </p:sp>
        </mc:Choice>
      </mc:AlternateContent>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Second Follow Up Visit</a:t>
            </a:r>
          </a:p>
        </p:txBody>
      </p:sp>
      <p:sp>
        <p:nvSpPr>
          <p:cNvPr id="3" name="Content Placeholder 2"/>
          <p:cNvSpPr>
            <a:spLocks noGrp="1"/>
          </p:cNvSpPr>
          <p:nvPr>
            <p:ph idx="1"/>
          </p:nvPr>
        </p:nvSpPr>
        <p:spPr/>
        <p:txBody>
          <a:bodyPr/>
          <a:lstStyle/>
          <a:p>
            <a:pPr lvl="0" indent="0" marL="0">
              <a:buNone/>
            </a:pPr>
            <a:r>
              <a:rPr/>
              <a:t>4-5 weeks after first post-operative visit</a:t>
            </a:r>
          </a:p>
          <a:p>
            <a:pPr lvl="0"/>
            <a:r>
              <a:rPr/>
              <a:t>Discuss diet</a:t>
            </a:r>
          </a:p>
          <a:p>
            <a:pPr lvl="0"/>
            <a:r>
              <a:rPr/>
              <a:t>Discuss medicines</a:t>
            </a:r>
          </a:p>
          <a:p>
            <a:pPr lvl="0"/>
            <a:r>
              <a:rPr/>
              <a:t>Plan for jejunostomy removal</a:t>
            </a:r>
          </a:p>
          <a:p>
            <a:pPr lvl="0"/>
            <a:r>
              <a:rPr/>
              <a:t>Evaluate readiness for chemotherapy after surgery (usually 6 weeks)</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Eating after Surgery</a:t>
            </a:r>
          </a:p>
        </p:txBody>
      </p:sp>
      <p:sp>
        <p:nvSpPr>
          <p:cNvPr id="3" name="Content Placeholder 2"/>
          <p:cNvSpPr>
            <a:spLocks noGrp="1"/>
          </p:cNvSpPr>
          <p:nvPr>
            <p:ph idx="1"/>
          </p:nvPr>
        </p:nvSpPr>
        <p:spPr/>
        <p:txBody>
          <a:bodyPr/>
          <a:lstStyle/>
          <a:p>
            <a:pPr lvl="0" indent="0" marL="0">
              <a:buNone/>
            </a:pPr>
            <a:r>
              <a:rPr/>
              <a:t>First Postoperative Visit: Start soft foods (Phase I)</a:t>
            </a:r>
          </a:p>
          <a:p>
            <a:pPr lvl="0" indent="0" marL="0">
              <a:buNone/>
            </a:pPr>
            <a:r>
              <a:rPr/>
              <a:t>Weekly virtual visits with dietitian</a:t>
            </a:r>
          </a:p>
          <a:p>
            <a:pPr lvl="0" indent="0" marL="0">
              <a:buNone/>
            </a:pPr>
            <a:r>
              <a:rPr/>
              <a:t>Jejunostomy removal ~ 8 weeks after surgery</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 (may be longer if chemotherapy planned after surgery)</a:t>
            </a:r>
          </a:p>
          <a:p>
            <a:pPr lvl="0" indent="0" marL="0">
              <a:buNone/>
            </a:pPr>
            <a:r>
              <a:rPr/>
              <a:t>May take 30 minutes and some local anesthetic to loosen up the tube for removal.</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2026-09-26T07:24:13Z</dcterms:created>
  <dcterms:modified xsi:type="dcterms:W3CDTF">2026-09-26T07:24:13Z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