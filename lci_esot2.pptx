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5" Type="http://schemas.openxmlformats.org/officeDocument/2006/relationships/viewProps" Target="viewProps.xml" /><Relationship Id="rId94" Type="http://schemas.openxmlformats.org/officeDocument/2006/relationships/presProps" Target="presProps.xml" /><Relationship Id="rId1" Type="http://schemas.openxmlformats.org/officeDocument/2006/relationships/slideMaster" Target="slideMasters/slideMaster1.xml" /><Relationship Id="rId97" Type="http://schemas.openxmlformats.org/officeDocument/2006/relationships/tableStyles" Target="tableStyles.xml" /><Relationship Id="rId9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lvl1pPr>
              <a:defRPr baseline="0">
                <a:latin typeface="Lato Semibold" panose="020F0502020204030203"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r>
              <a:rPr lang="en-US" dirty="0"/>
              <a:t>Click to edit Master title style</a:t>
            </a:r>
          </a:p>
        </p:txBody>
      </p:sp>
      <p:sp>
        <p:nvSpPr>
          <p:cNvPr id="3" name="Content Placeholder 2"/>
          <p:cNvSpPr>
            <a:spLocks noGrp="1"/>
          </p:cNvSpPr>
          <p:nvPr>
            <p:ph idx="1"/>
          </p:nvPr>
        </p:nvSpPr>
        <p:spPr>
          <a:xfrm>
            <a:off x="284309" y="960504"/>
            <a:ext cx="8552330" cy="3977017"/>
          </a:xfrm>
        </p:spPr>
        <p:txBody>
          <a:bodyPr/>
          <a:lstStyle>
            <a:lvl1pPr marL="228600" indent="-228600">
              <a:tabLst/>
              <a:defRPr sz="2800"/>
            </a:lvl1pPr>
            <a:lvl2pPr>
              <a:defRPr sz="2800"/>
            </a:lvl2pPr>
            <a:lvl3pPr>
              <a:defRPr sz="24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r>
              <a:rPr lang="en-US" dirty="0"/>
              <a:t>Click to edit Master title style</a:t>
            </a:r>
          </a:p>
        </p:txBody>
      </p:sp>
      <p:sp>
        <p:nvSpPr>
          <p:cNvPr id="3" name="Content Placeholder 2"/>
          <p:cNvSpPr>
            <a:spLocks noGrp="1"/>
          </p:cNvSpPr>
          <p:nvPr>
            <p:ph sz="half" idx="1"/>
          </p:nvPr>
        </p:nvSpPr>
        <p:spPr>
          <a:xfrm>
            <a:off x="315045" y="1200151"/>
            <a:ext cx="4180755"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199" y="1200151"/>
            <a:ext cx="4196123" cy="3737370"/>
          </a:xfrm>
        </p:spPr>
        <p:txBody>
          <a:bodyPr/>
          <a:lstStyle>
            <a:lvl1pPr marL="174625" indent="-174625">
              <a:tabLst/>
              <a:defRPr sz="2800" baseline="0">
                <a:latin typeface="Lato Medium" panose="020F0502020204030203" pitchFamily="34" charset="0"/>
              </a:defRPr>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8" name="Footer Placeholder 7"/>
          <p:cNvSpPr>
            <a:spLocks noGrp="1"/>
          </p:cNvSpPr>
          <p:nvPr>
            <p:ph type="ftr" sz="quarter" idx="11"/>
          </p:nvPr>
        </p:nvSpPr>
        <p:spPr>
          <a:xfrm>
            <a:off x="3124200" y="4767263"/>
            <a:ext cx="2895600" cy="273844"/>
          </a:xfrm>
          <a:prstGeom prst="rect">
            <a:avLst/>
          </a:prstGeom>
        </p:spPr>
        <p:txBody>
          <a:bodyPr/>
          <a:lstStyle/>
          <a:p>
            <a:endParaRPr lang="en-US"/>
          </a:p>
        </p:txBody>
      </p:sp>
      <p:sp>
        <p:nvSpPr>
          <p:cNvPr id="9" name="Slide Number Placeholder 8"/>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aseline="0">
                <a:latin typeface="Lato Semibold" panose="020F0502020204030203" pitchFamily="34" charset="0"/>
              </a:defRPr>
            </a:lvl1pPr>
          </a:lstStyle>
          <a:p>
            <a:r>
              <a:rPr lang="en-US" dirty="0"/>
              <a:t>Click to edit Master title style</a:t>
            </a:r>
          </a:p>
        </p:txBody>
      </p:sp>
      <p:sp>
        <p:nvSpPr>
          <p:cNvPr id="3" name="Date Placeholder 2"/>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4" name="Footer Placeholder 3"/>
          <p:cNvSpPr>
            <a:spLocks noGrp="1"/>
          </p:cNvSpPr>
          <p:nvPr>
            <p:ph type="ftr" sz="quarter" idx="11"/>
          </p:nvPr>
        </p:nvSpPr>
        <p:spPr>
          <a:xfrm>
            <a:off x="3124200" y="4767263"/>
            <a:ext cx="2895600" cy="273844"/>
          </a:xfrm>
          <a:prstGeom prst="rect">
            <a:avLst/>
          </a:prstGeom>
        </p:spPr>
        <p:txBody>
          <a:bodyPr/>
          <a:lstStyle/>
          <a:p>
            <a:endParaRPr lang="en-US"/>
          </a:p>
        </p:txBody>
      </p:sp>
      <p:sp>
        <p:nvSpPr>
          <p:cNvPr id="5" name="Slide Number Placeholder 4"/>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3" name="Footer Placeholder 2"/>
          <p:cNvSpPr>
            <a:spLocks noGrp="1"/>
          </p:cNvSpPr>
          <p:nvPr>
            <p:ph type="ftr" sz="quarter" idx="11"/>
          </p:nvPr>
        </p:nvSpPr>
        <p:spPr>
          <a:xfrm>
            <a:off x="3124200" y="4767263"/>
            <a:ext cx="2895600" cy="273844"/>
          </a:xfrm>
          <a:prstGeom prst="rect">
            <a:avLst/>
          </a:prstGeom>
        </p:spPr>
        <p:txBody>
          <a:bodyPr/>
          <a:lstStyle/>
          <a:p>
            <a:endParaRPr lang="en-US"/>
          </a:p>
        </p:txBody>
      </p:sp>
      <p:sp>
        <p:nvSpPr>
          <p:cNvPr id="4" name="Slide Number Placeholder 3"/>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6" name="Footer Placeholder 5"/>
          <p:cNvSpPr>
            <a:spLocks noGrp="1"/>
          </p:cNvSpPr>
          <p:nvPr>
            <p:ph type="ftr" sz="quarter" idx="11"/>
          </p:nvPr>
        </p:nvSpPr>
        <p:spPr>
          <a:xfrm>
            <a:off x="3124200" y="4767263"/>
            <a:ext cx="2895600" cy="273844"/>
          </a:xfrm>
          <a:prstGeom prst="rect">
            <a:avLst/>
          </a:prstGeom>
        </p:spPr>
        <p:txBody>
          <a:bodyPr/>
          <a:lstStyle/>
          <a:p>
            <a:endParaRPr lang="en-US"/>
          </a:p>
        </p:txBody>
      </p:sp>
      <p:sp>
        <p:nvSpPr>
          <p:cNvPr id="7" name="Slide Number Placeholder 6"/>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3844"/>
          </a:xfrm>
          <a:prstGeom prst="rect">
            <a:avLst/>
          </a:prstGeom>
        </p:spPr>
        <p:txBody>
          <a:bodyPr/>
          <a:lstStyle/>
          <a:p>
            <a:fld id="{241EB5C9-1307-BA42-ABA2-0BC069CD8E7F}" type="datetimeFigureOut">
              <a:rPr lang="en-US" smtClean="0"/>
              <a:t>2/24/25</a:t>
            </a:fld>
            <a:endParaRPr lang="en-US"/>
          </a:p>
        </p:txBody>
      </p:sp>
      <p:sp>
        <p:nvSpPr>
          <p:cNvPr id="5" name="Footer Placeholder 4"/>
          <p:cNvSpPr>
            <a:spLocks noGrp="1"/>
          </p:cNvSpPr>
          <p:nvPr>
            <p:ph type="ftr" sz="quarter" idx="11"/>
          </p:nvPr>
        </p:nvSpPr>
        <p:spPr>
          <a:xfrm>
            <a:off x="3124200" y="4767263"/>
            <a:ext cx="2895600" cy="273844"/>
          </a:xfrm>
          <a:prstGeom prst="rect">
            <a:avLst/>
          </a:prstGeom>
        </p:spPr>
        <p:txBody>
          <a:bodyPr/>
          <a:lstStyle/>
          <a:p>
            <a:endParaRPr lang="en-US"/>
          </a:p>
        </p:txBody>
      </p:sp>
      <p:sp>
        <p:nvSpPr>
          <p:cNvPr id="6" name="Slide Number Placeholder 5"/>
          <p:cNvSpPr>
            <a:spLocks noGrp="1"/>
          </p:cNvSpPr>
          <p:nvPr>
            <p:ph type="sldNum" sz="quarter" idx="12"/>
          </p:nvPr>
        </p:nvSpPr>
        <p:spPr>
          <a:xfrm>
            <a:off x="6553200" y="4767263"/>
            <a:ext cx="2133600" cy="273844"/>
          </a:xfrm>
          <a:prstGeom prst="rect">
            <a:avLst/>
          </a:prstGeom>
        </p:spPr>
        <p:txBody>
          <a:bodyPr/>
          <a:lstStyle/>
          <a:p>
            <a:fld id="{C5EF2332-01BF-834F-8236-50238282D533}" type="slidenum">
              <a:rPr lang="en-US" smtClean="0"/>
              <a:t>‹#›</a:t>
            </a:fld>
            <a:endParaRPr lang="en-US"/>
          </a:p>
        </p:txBody>
      </p:sp>
      <p:graphicFrame>
        <p:nvGraphicFramePr>
          <p:cNvPr id="7" name="Table 6">
            <a:extLst>
              <a:ext uri="{FF2B5EF4-FFF2-40B4-BE49-F238E27FC236}">
                <a16:creationId xmlns:a16="http://schemas.microsoft.com/office/drawing/2014/main" id="{40E5F148-B214-9ED5-96D2-C8C952B333EC}"/>
              </a:ext>
            </a:extLst>
          </p:cNvPr>
          <p:cNvGraphicFramePr>
            <a:graphicFrameLocks noGrp="1"/>
          </p:cNvGraphicFramePr>
          <p:nvPr userDrawn="1">
            <p:extLst>
              <p:ext uri="{D42A27DB-BD31-4B8C-83A1-F6EECF244321}">
                <p14:modId xmlns:p14="http://schemas.microsoft.com/office/powerpoint/2010/main" val="1121345573"/>
              </p:ext>
            </p:extLst>
          </p:nvPr>
        </p:nvGraphicFramePr>
        <p:xfrm>
          <a:off x="1524000" y="539750"/>
          <a:ext cx="6096000" cy="914400"/>
        </p:xfrm>
        <a:graphic>
          <a:graphicData uri="http://schemas.openxmlformats.org/drawingml/2006/table">
            <a:tbl>
              <a:tblPr firstRow="1" bandRow="1">
                <a:tableStyleId>{69012ECD-51FC-41F1-AA8D-1B2483CD663E}</a:tableStyleId>
              </a:tblPr>
              <a:tblGrid>
                <a:gridCol w="2032000">
                  <a:extLst>
                    <a:ext uri="{9D8B030D-6E8A-4147-A177-3AD203B41FA5}">
                      <a16:colId xmlns:a16="http://schemas.microsoft.com/office/drawing/2014/main" val="271011269"/>
                    </a:ext>
                  </a:extLst>
                </a:gridCol>
                <a:gridCol w="2032000">
                  <a:extLst>
                    <a:ext uri="{9D8B030D-6E8A-4147-A177-3AD203B41FA5}">
                      <a16:colId xmlns:a16="http://schemas.microsoft.com/office/drawing/2014/main" val="2080703046"/>
                    </a:ext>
                  </a:extLst>
                </a:gridCol>
                <a:gridCol w="2032000">
                  <a:extLst>
                    <a:ext uri="{9D8B030D-6E8A-4147-A177-3AD203B41FA5}">
                      <a16:colId xmlns:a16="http://schemas.microsoft.com/office/drawing/2014/main" val="1138284043"/>
                    </a:ext>
                  </a:extLst>
                </a:gridCol>
              </a:tblGrid>
              <a:tr h="370840">
                <a:tc>
                  <a:txBody>
                    <a:bodyPr/>
                    <a:lstStyle/>
                    <a:p>
                      <a:endParaRPr lang="en-US" sz="2400" dirty="0"/>
                    </a:p>
                  </a:txBody>
                  <a:tcPr/>
                </a:tc>
                <a:tc>
                  <a:txBody>
                    <a:bodyPr/>
                    <a:lstStyle/>
                    <a:p>
                      <a:endParaRPr lang="en-US" sz="2400" dirty="0"/>
                    </a:p>
                  </a:txBody>
                  <a:tcPr/>
                </a:tc>
                <a:tc>
                  <a:txBody>
                    <a:bodyPr/>
                    <a:lstStyle/>
                    <a:p>
                      <a:endParaRPr lang="en-US" sz="2400"/>
                    </a:p>
                  </a:txBody>
                  <a:tcPr/>
                </a:tc>
                <a:extLst>
                  <a:ext uri="{0D108BD9-81ED-4DB2-BD59-A6C34878D82A}">
                    <a16:rowId xmlns:a16="http://schemas.microsoft.com/office/drawing/2014/main" val="769229322"/>
                  </a:ext>
                </a:extLst>
              </a:tr>
              <a:tr h="370840">
                <a:tc>
                  <a:txBody>
                    <a:bodyPr/>
                    <a:lstStyle/>
                    <a:p>
                      <a:endParaRPr lang="en-US" sz="2400"/>
                    </a:p>
                  </a:txBody>
                  <a:tcPr/>
                </a:tc>
                <a:tc>
                  <a:txBody>
                    <a:bodyPr/>
                    <a:lstStyle/>
                    <a:p>
                      <a:endParaRPr lang="en-US" sz="2400" dirty="0"/>
                    </a:p>
                  </a:txBody>
                  <a:tcPr/>
                </a:tc>
                <a:tc>
                  <a:txBody>
                    <a:bodyPr/>
                    <a:lstStyle/>
                    <a:p>
                      <a:endParaRPr lang="en-US" sz="2400" dirty="0"/>
                    </a:p>
                  </a:txBody>
                  <a:tcPr/>
                </a:tc>
                <a:extLst>
                  <a:ext uri="{0D108BD9-81ED-4DB2-BD59-A6C34878D82A}">
                    <a16:rowId xmlns:a16="http://schemas.microsoft.com/office/drawing/2014/main" val="184196425"/>
                  </a:ext>
                </a:extLst>
              </a:tr>
            </a:tbl>
          </a:graphicData>
        </a:graphic>
      </p:graphicFrame>
    </p:spTree>
    <p:extLst>
      <p:ext uri="{BB962C8B-B14F-4D97-AF65-F5344CB8AC3E}">
        <p14:creationId xmlns:p14="http://schemas.microsoft.com/office/powerpoint/2010/main" val="293978896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716105"/>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998924"/>
            <a:ext cx="8229600" cy="3938597"/>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342900" eaLnBrk="1" hangingPunct="1" latinLnBrk="0" rtl="0">
        <a:spcBef>
          <a:spcPct val="0"/>
        </a:spcBef>
        <a:buNone/>
        <a:defRPr baseline="0" kern="1200" sz="3300">
          <a:solidFill>
            <a:schemeClr val="tx1"/>
          </a:solidFill>
          <a:latin charset="0" panose="020F0502020204030203" pitchFamily="34" typeface="Lato Semibold"/>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anose="020F0502020204030203" pitchFamily="34" typeface="Lato Medium"/>
          <a:ea typeface="+mn-ea"/>
          <a:cs typeface="+mn-cs"/>
        </a:defRPr>
      </a:lvl1pPr>
      <a:lvl2pPr algn="l" defTabSz="342900" eaLnBrk="1" hangingPunct="1" indent="-342900" latinLnBrk="0" marL="685800" rtl="0">
        <a:spcBef>
          <a:spcPct val="20000"/>
        </a:spcBef>
        <a:buFont charset="0" panose="020B0604020202020204" pitchFamily="34" typeface="Arial"/>
        <a:buChar char="•"/>
        <a:defRPr baseline="0" kern="1200" sz="2400">
          <a:solidFill>
            <a:schemeClr val="tx1"/>
          </a:solidFill>
          <a:latin charset="0" panose="020F0502020204030203" pitchFamily="34" typeface="Lato Medium"/>
          <a:ea typeface="+mn-ea"/>
          <a:cs typeface="+mn-cs"/>
        </a:defRPr>
      </a:lvl2pPr>
      <a:lvl3pPr algn="l" defTabSz="342900" eaLnBrk="1" hangingPunct="1" indent="-342900" latinLnBrk="0" marL="1028700" rtl="0">
        <a:spcBef>
          <a:spcPct val="20000"/>
        </a:spcBef>
        <a:buFont typeface="Arial"/>
        <a:buChar char="•"/>
        <a:defRPr kern="1200" sz="24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24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jp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jp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4.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6.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9.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0.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2.png" /><Relationship Id="rId2" Type="http://schemas.openxmlformats.org/officeDocument/2006/relationships/image" Target="../media/image31.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5.jp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Early-Stage Cancer of the Esophagus and GE Junction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Anatomy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Food moves from the throat</a:t>
                </a:r>
              </a:p>
              <a:p>
                <a:pPr lvl="0" indent="0" marL="0">
                  <a:buNone/>
                </a:pPr>
                <a14:m>
                  <m:oMath xmlns:m="http://schemas.openxmlformats.org/officeDocument/2006/math">
                    <m:r>
                      <m:rPr>
                        <m:sty m:val="p"/>
                      </m:rPr>
                      <m:t>→</m:t>
                    </m:r>
                  </m:oMath>
                </a14:m>
                <a:r>
                  <a:rPr/>
                  <a:t> esophagus</a:t>
                </a:r>
              </a:p>
              <a:p>
                <a:pPr lvl="0" indent="0" marL="0">
                  <a:buNone/>
                </a:pPr>
                <a14:m>
                  <m:oMath xmlns:m="http://schemas.openxmlformats.org/officeDocument/2006/math">
                    <m:r>
                      <m:rPr>
                        <m:sty m:val="p"/>
                      </m:rPr>
                      <m:t>→</m:t>
                    </m:r>
                  </m:oMath>
                </a14:m>
                <a:r>
                  <a:rPr/>
                  <a:t> stomach</a:t>
                </a:r>
              </a:p>
              <a:p>
                <a:pPr lvl="0" indent="0" marL="0">
                  <a:buNone/>
                </a:pPr>
                <a14:m>
                  <m:oMath xmlns:m="http://schemas.openxmlformats.org/officeDocument/2006/math">
                    <m:r>
                      <m:rPr>
                        <m:sty m:val="p"/>
                      </m:rPr>
                      <m:t>→</m:t>
                    </m:r>
                  </m:oMath>
                </a14:m>
                <a:r>
                  <a:rPr/>
                  <a:t> small bowel (jejunum)</a:t>
                </a:r>
              </a:p>
            </p:txBody>
          </p:sp>
        </mc:Choice>
      </mc:AlternateContent>
      <p:pic>
        <p:nvPicPr>
          <p:cNvPr descr="images/Eso_Anatomy_Label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Types of Esophageal Cancer</a:t>
            </a:r>
          </a:p>
        </p:txBody>
      </p:sp>
      <p:sp>
        <p:nvSpPr>
          <p:cNvPr id="3" name="Content Placeholder 2"/>
          <p:cNvSpPr>
            <a:spLocks noGrp="1"/>
          </p:cNvSpPr>
          <p:nvPr>
            <p:ph idx="1"/>
          </p:nvPr>
        </p:nvSpPr>
        <p:spPr/>
        <p:txBody>
          <a:bodyPr/>
          <a:lstStyle/>
          <a:p>
            <a:pPr lvl="0" indent="0" marL="0">
              <a:buNone/>
            </a:pPr>
            <a:r>
              <a:rPr/>
              <a:t>There are two common types of esophageal cancer</a:t>
            </a:r>
          </a:p>
          <a:p>
            <a:pPr lvl="0"/>
            <a:r>
              <a:rPr/>
              <a:t>Adenocarcinoma</a:t>
            </a:r>
          </a:p>
          <a:p>
            <a:pPr lvl="0"/>
            <a:r>
              <a:rPr/>
              <a:t>Squamous Cell Carcinoma</a:t>
            </a:r>
          </a:p>
          <a:p>
            <a:pPr lvl="0" indent="0" marL="0">
              <a:buNone/>
            </a:pPr>
            <a:r>
              <a:rPr/>
              <a:t>In many ways, these to different types of esophageal cancer behave the same.</a:t>
            </a:r>
          </a:p>
          <a:p>
            <a:pPr lvl="0" indent="0" marL="0">
              <a:buNone/>
            </a:pPr>
            <a:r>
              <a:rPr/>
              <a:t>We will see later in this video, however, that the treatment </a:t>
            </a:r>
            <a:r>
              <a:rPr b="1"/>
              <a:t>can</a:t>
            </a:r>
            <a:r>
              <a:rPr/>
              <a:t> be different depending upon whether the cancer is adenocarcinoma or squamous cell carcinoma.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Cancer Staging</a:t>
            </a:r>
          </a:p>
        </p:txBody>
      </p:sp>
      <p:sp>
        <p:nvSpPr>
          <p:cNvPr id="3" name="Content Placeholder 2"/>
          <p:cNvSpPr>
            <a:spLocks noGrp="1"/>
          </p:cNvSpPr>
          <p:nvPr>
            <p:ph idx="1"/>
          </p:nvPr>
        </p:nvSpPr>
        <p:spPr/>
        <p:txBody>
          <a:bodyPr/>
          <a:lstStyle/>
          <a:p>
            <a:pPr lvl="0" indent="0" marL="0">
              <a:buNone/>
            </a:pPr>
            <a:r>
              <a:rPr/>
              <a:t>Staging refers to the tests to determine</a:t>
            </a:r>
          </a:p>
          <a:p>
            <a:pPr lvl="0"/>
            <a:r>
              <a:rPr/>
              <a:t>How large is the tumor?</a:t>
            </a:r>
          </a:p>
          <a:p>
            <a:pPr lvl="0"/>
            <a:r>
              <a:rPr/>
              <a:t>Has there been spread to lymph nodes?</a:t>
            </a:r>
          </a:p>
          <a:p>
            <a:pPr lvl="0"/>
            <a:r>
              <a:rPr/>
              <a:t>Has it spread to other parts of the body?</a:t>
            </a:r>
          </a:p>
          <a:p>
            <a:pPr lvl="0" indent="0" marL="0">
              <a:buNone/>
            </a:pPr>
            <a:r>
              <a:rPr b="1"/>
              <a:t>Treatment options depend upon the cancer stage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Esophageal Cancer Staging</a:t>
            </a:r>
          </a:p>
        </p:txBody>
      </p:sp>
      <p:sp>
        <p:nvSpPr>
          <p:cNvPr id="3" name="Content Placeholder 2"/>
          <p:cNvSpPr>
            <a:spLocks noGrp="1"/>
          </p:cNvSpPr>
          <p:nvPr>
            <p:ph idx="1"/>
          </p:nvPr>
        </p:nvSpPr>
        <p:spPr/>
        <p:txBody>
          <a:bodyPr/>
          <a:lstStyle/>
          <a:p>
            <a:pPr lvl="0"/>
            <a:r>
              <a:rPr b="1"/>
              <a:t>T</a:t>
            </a:r>
            <a:r>
              <a:rPr/>
              <a:t> = Tumor - How deep has cancer grown into the wall of the esophagus?</a:t>
            </a:r>
          </a:p>
          <a:p>
            <a:pPr lvl="0"/>
            <a:r>
              <a:rPr b="1"/>
              <a:t>N</a:t>
            </a:r>
            <a:r>
              <a:rPr/>
              <a:t> = Nodes - Has cancer spread to the lymph nodes?</a:t>
            </a:r>
          </a:p>
          <a:p>
            <a:pPr lvl="0"/>
            <a:r>
              <a:rPr b="1"/>
              <a:t>M</a:t>
            </a:r>
            <a:r>
              <a:rPr/>
              <a:t> = Metastasis - Has the cancer spread to other parts of the body? lungs or liver?</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Layers of the Wall of the Esophagus</a:t>
            </a:r>
          </a:p>
        </p:txBody>
      </p:sp>
      <p:sp>
        <p:nvSpPr>
          <p:cNvPr id="3" name="Content Placeholder 2"/>
          <p:cNvSpPr>
            <a:spLocks noGrp="1"/>
          </p:cNvSpPr>
          <p:nvPr>
            <p:ph idx="1" sz="half"/>
          </p:nvPr>
        </p:nvSpPr>
        <p:spPr/>
        <p:txBody>
          <a:bodyPr/>
          <a:lstStyle/>
          <a:p>
            <a:pPr lvl="0"/>
            <a:r>
              <a:rPr/>
              <a:t>Mucosa - Inner layer</a:t>
            </a:r>
          </a:p>
          <a:p>
            <a:pPr lvl="0"/>
            <a:r>
              <a:rPr/>
              <a:t>Muscle Wall (muscularis)</a:t>
            </a:r>
          </a:p>
          <a:p>
            <a:pPr lvl="0"/>
            <a:r>
              <a:rPr/>
              <a:t>Lymph nodes located in fat outside the muscle</a:t>
            </a:r>
          </a:p>
        </p:txBody>
      </p:sp>
      <p:pic>
        <p:nvPicPr>
          <p:cNvPr descr="images/tumor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Early Stage Cancers</a:t>
            </a:r>
          </a:p>
        </p:txBody>
      </p:sp>
      <p:sp>
        <p:nvSpPr>
          <p:cNvPr id="3" name="Content Placeholder 2"/>
          <p:cNvSpPr>
            <a:spLocks noGrp="1"/>
          </p:cNvSpPr>
          <p:nvPr>
            <p:ph idx="1" sz="half"/>
          </p:nvPr>
        </p:nvSpPr>
        <p:spPr/>
        <p:txBody>
          <a:bodyPr/>
          <a:lstStyle/>
          <a:p>
            <a:pPr lvl="0" indent="0" marL="0">
              <a:buNone/>
            </a:pPr>
            <a:r>
              <a:rPr/>
              <a:t>Cancers start on the very inside of the layer called the mucosa</a:t>
            </a:r>
          </a:p>
        </p:txBody>
      </p:sp>
      <p:pic>
        <p:nvPicPr>
          <p:cNvPr descr="images/tumor21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Locally-advanced Cancers</a:t>
            </a:r>
          </a:p>
        </p:txBody>
      </p:sp>
      <p:sp>
        <p:nvSpPr>
          <p:cNvPr id="3" name="Content Placeholder 2"/>
          <p:cNvSpPr>
            <a:spLocks noGrp="1"/>
          </p:cNvSpPr>
          <p:nvPr>
            <p:ph idx="1" sz="half"/>
          </p:nvPr>
        </p:nvSpPr>
        <p:spPr/>
        <p:txBody>
          <a:bodyPr/>
          <a:lstStyle/>
          <a:p>
            <a:pPr lvl="0" indent="0" marL="0">
              <a:buNone/>
            </a:pPr>
            <a:r>
              <a:rPr/>
              <a:t>Over time, cancers can grow into the muscular wall</a:t>
            </a:r>
          </a:p>
        </p:txBody>
      </p:sp>
      <p:pic>
        <p:nvPicPr>
          <p:cNvPr descr="images/tumor24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Lymph Nodes</a:t>
            </a:r>
          </a:p>
        </p:txBody>
      </p:sp>
      <p:sp>
        <p:nvSpPr>
          <p:cNvPr id="3" name="Content Placeholder 2"/>
          <p:cNvSpPr>
            <a:spLocks noGrp="1"/>
          </p:cNvSpPr>
          <p:nvPr>
            <p:ph idx="1" sz="half"/>
          </p:nvPr>
        </p:nvSpPr>
        <p:spPr/>
        <p:txBody>
          <a:bodyPr/>
          <a:lstStyle/>
          <a:p>
            <a:pPr lvl="0" indent="0" marL="0">
              <a:buNone/>
            </a:pPr>
            <a:r>
              <a:rPr/>
              <a:t>In some cases, cancer cells can break off from the main tumor and spread to lymph nodes</a:t>
            </a:r>
          </a:p>
        </p:txBody>
      </p:sp>
      <p:pic>
        <p:nvPicPr>
          <p:cNvPr descr="images/tumor25b_ai.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 Stage</a:t>
            </a:r>
          </a:p>
        </p:txBody>
      </p:sp>
      <p:sp>
        <p:nvSpPr>
          <p:cNvPr id="3" name="Content Placeholder 2"/>
          <p:cNvSpPr>
            <a:spLocks noGrp="1"/>
          </p:cNvSpPr>
          <p:nvPr>
            <p:ph idx="1" sz="half"/>
          </p:nvPr>
        </p:nvSpPr>
        <p:spPr/>
        <p:txBody>
          <a:bodyPr/>
          <a:lstStyle/>
          <a:p>
            <a:pPr lvl="0" indent="0" marL="0">
              <a:buNone/>
            </a:pPr>
            <a:r>
              <a:rPr/>
              <a:t>Cancers are categorized based upon the thickness of the tumor, known as the T stage</a:t>
            </a:r>
          </a:p>
        </p:txBody>
      </p:sp>
      <p:pic>
        <p:nvPicPr>
          <p:cNvPr descr="images/tumor_t_full.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N Stage</a:t>
            </a:r>
          </a:p>
        </p:txBody>
      </p:sp>
      <p:sp>
        <p:nvSpPr>
          <p:cNvPr id="3" name="Content Placeholder 2"/>
          <p:cNvSpPr>
            <a:spLocks noGrp="1"/>
          </p:cNvSpPr>
          <p:nvPr>
            <p:ph idx="1" sz="half"/>
          </p:nvPr>
        </p:nvSpPr>
        <p:spPr/>
        <p:txBody>
          <a:bodyPr/>
          <a:lstStyle/>
          <a:p>
            <a:pPr lvl="0" indent="0" marL="0">
              <a:buNone/>
            </a:pPr>
            <a:r>
              <a:rPr/>
              <a:t>Cancers are categorized by whether there is spread to the lymph nodes.</a:t>
            </a:r>
          </a:p>
          <a:p>
            <a:pPr lvl="0"/>
            <a:r>
              <a:rPr b="1"/>
              <a:t>N0</a:t>
            </a:r>
            <a:r>
              <a:rPr/>
              <a:t> cancers have not spread to the lymph nodes</a:t>
            </a:r>
          </a:p>
          <a:p>
            <a:pPr lvl="0"/>
            <a:r>
              <a:rPr b="1"/>
              <a:t>N1</a:t>
            </a:r>
            <a:r>
              <a:rPr/>
              <a:t> cancers have spread to the lymph nodes.</a:t>
            </a:r>
          </a:p>
        </p:txBody>
      </p:sp>
      <p:pic>
        <p:nvPicPr>
          <p:cNvPr descr="images/tumor_t3_nodes_labels.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 Stage</a:t>
            </a:r>
          </a:p>
        </p:txBody>
      </p:sp>
      <p:sp>
        <p:nvSpPr>
          <p:cNvPr id="3" name="Content Placeholder 2"/>
          <p:cNvSpPr>
            <a:spLocks noGrp="1"/>
          </p:cNvSpPr>
          <p:nvPr>
            <p:ph idx="1" sz="half"/>
          </p:nvPr>
        </p:nvSpPr>
        <p:spPr/>
        <p:txBody>
          <a:bodyPr/>
          <a:lstStyle/>
          <a:p>
            <a:pPr lvl="0" indent="0" marL="0">
              <a:buNone/>
            </a:pPr>
            <a:r>
              <a:rPr/>
              <a:t>Some cancers can also spread from the esophagus to the lungs or liver</a:t>
            </a:r>
          </a:p>
          <a:p>
            <a:pPr lvl="0"/>
            <a:r>
              <a:rPr b="1"/>
              <a:t>M0</a:t>
            </a:r>
            <a:r>
              <a:rPr/>
              <a:t> cancers have not spread to other parts of the body</a:t>
            </a:r>
          </a:p>
          <a:p>
            <a:pPr lvl="0"/>
            <a:r>
              <a:rPr b="1"/>
              <a:t>N1</a:t>
            </a:r>
            <a:r>
              <a:rPr/>
              <a:t> cancers have spread to other parts of the body such as lungs or liver</a:t>
            </a:r>
          </a:p>
        </p:txBody>
      </p:sp>
      <p:pic>
        <p:nvPicPr>
          <p:cNvPr descr="images/Eso_M_Stag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PET scan</a:t>
            </a:r>
          </a:p>
        </p:txBody>
      </p:sp>
      <p:sp>
        <p:nvSpPr>
          <p:cNvPr id="3" name="Content Placeholder 2"/>
          <p:cNvSpPr>
            <a:spLocks noGrp="1"/>
          </p:cNvSpPr>
          <p:nvPr>
            <p:ph idx="1" sz="half"/>
          </p:nvPr>
        </p:nvSpPr>
        <p:spPr/>
        <p:txBody>
          <a:bodyPr/>
          <a:lstStyle/>
          <a:p>
            <a:pPr lvl="0" indent="0" marL="0">
              <a:buNone/>
            </a:pPr>
            <a:r>
              <a:rPr/>
              <a:t>A PET scan is similar to a CT scan, and uses a small amount of tracer to light up areas of cancer.</a:t>
            </a:r>
          </a:p>
        </p:txBody>
      </p:sp>
      <p:pic>
        <p:nvPicPr>
          <p:cNvPr descr="images/PetImage.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Endoscopic Ultrasound</a:t>
            </a:r>
          </a:p>
        </p:txBody>
      </p:sp>
      <p:sp>
        <p:nvSpPr>
          <p:cNvPr id="3" name="Content Placeholder 2"/>
          <p:cNvSpPr>
            <a:spLocks noGrp="1"/>
          </p:cNvSpPr>
          <p:nvPr>
            <p:ph idx="1" sz="half"/>
          </p:nvPr>
        </p:nvSpPr>
        <p:spPr/>
        <p:txBody>
          <a:bodyPr/>
          <a:lstStyle/>
          <a:p>
            <a:pPr lvl="0" indent="0" marL="0">
              <a:buNone/>
            </a:pPr>
            <a:r>
              <a:rPr/>
              <a:t>Endoscopic ultrasound (EUS) is a procedure similar to upper endoscopy (EGD) which has an ultrasound probe at the bottom of the scope. This allows measuring the thickness of the cancer. Endoscopic ultrasound can help determine the T stage of the cancer.</a:t>
            </a:r>
          </a:p>
        </p:txBody>
      </p:sp>
      <p:pic>
        <p:nvPicPr>
          <p:cNvPr descr="images/EUSArtboard.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Some esophageal cancers can spread inside the abdominal cavity. These areas of spread can be very small, as small as a grain of rice.</a:t>
            </a:r>
          </a:p>
          <a:p>
            <a:pPr lvl="0" indent="0" marL="0">
              <a:buNone/>
            </a:pPr>
            <a:r>
              <a:rPr/>
              <a:t>In order to detect spread within the abdominal cavity, a proceduce called a laparoscopy can be performed in some some patients.</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Laparoscopy</a:t>
            </a:r>
          </a:p>
        </p:txBody>
      </p:sp>
      <p:sp>
        <p:nvSpPr>
          <p:cNvPr id="3" name="Content Placeholder 2"/>
          <p:cNvSpPr>
            <a:spLocks noGrp="1"/>
          </p:cNvSpPr>
          <p:nvPr>
            <p:ph idx="1" sz="half"/>
          </p:nvPr>
        </p:nvSpPr>
        <p:spPr/>
        <p:txBody>
          <a:bodyPr/>
          <a:lstStyle/>
          <a:p>
            <a:pPr lvl="0" indent="0" marL="0">
              <a:buNone/>
            </a:pPr>
            <a:r>
              <a:rPr/>
              <a:t>A laparoscopy is performed under a general anesthetic.</a:t>
            </a:r>
          </a:p>
          <a:p>
            <a:pPr lvl="0"/>
            <a:r>
              <a:rPr/>
              <a:t>Several incisions 1/4” long</a:t>
            </a:r>
          </a:p>
          <a:p>
            <a:pPr lvl="0"/>
            <a:r>
              <a:rPr/>
              <a:t>A telescope is inserted to look inside the abdominal cavity.</a:t>
            </a:r>
          </a:p>
          <a:p>
            <a:pPr lvl="0"/>
            <a:r>
              <a:rPr/>
              <a:t>Biopsies can be performed.</a:t>
            </a:r>
          </a:p>
        </p:txBody>
      </p:sp>
      <p:pic>
        <p:nvPicPr>
          <p:cNvPr descr="images/Eso_Laparoscopy.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Treatment Plans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Superficial (T1) </a:t>
                </a:r>
                <a14:m>
                  <m:oMath xmlns:m="http://schemas.openxmlformats.org/officeDocument/2006/math">
                    <m:r>
                      <m:rPr>
                        <m:sty m:val="p"/>
                      </m:rPr>
                      <m:t>⇒</m:t>
                    </m:r>
                  </m:oMath>
                </a14:m>
                <a:r>
                  <a:rPr/>
                  <a:t> Endoscopic Therapy</a:t>
                </a:r>
              </a:p>
              <a:p>
                <a:pPr lvl="0"/>
                <a:r>
                  <a:rPr/>
                  <a:t>Localized (T1b/T2) </a:t>
                </a:r>
                <a14:m>
                  <m:oMath xmlns:m="http://schemas.openxmlformats.org/officeDocument/2006/math">
                    <m:r>
                      <m:rPr>
                        <m:sty m:val="p"/>
                      </m:rPr>
                      <m:t>⇒</m:t>
                    </m:r>
                  </m:oMath>
                </a14:m>
                <a:r>
                  <a:rPr/>
                  <a:t> Surgery</a:t>
                </a:r>
              </a:p>
              <a:p>
                <a:pPr lvl="0"/>
                <a:r>
                  <a:rPr/>
                  <a:t>Locally-advanced (T3/N1) </a:t>
                </a:r>
                <a14:m>
                  <m:oMath xmlns:m="http://schemas.openxmlformats.org/officeDocument/2006/math">
                    <m:r>
                      <m:rPr>
                        <m:sty m:val="p"/>
                      </m:rPr>
                      <m:t>⇒</m:t>
                    </m:r>
                  </m:oMath>
                </a14:m>
                <a:r>
                  <a:rPr/>
                  <a:t> Chemo </a:t>
                </a:r>
                <a14:m>
                  <m:oMath xmlns:m="http://schemas.openxmlformats.org/officeDocument/2006/math">
                    <m:r>
                      <m:rPr>
                        <m:sty m:val="p"/>
                      </m:rPr>
                      <m:t>±</m:t>
                    </m:r>
                  </m:oMath>
                </a14:m>
                <a:r>
                  <a:rPr/>
                  <a:t> Radiation </a:t>
                </a:r>
                <a14:m>
                  <m:oMath xmlns:m="http://schemas.openxmlformats.org/officeDocument/2006/math">
                    <m:r>
                      <m:rPr>
                        <m:sty m:val="p"/>
                      </m:rPr>
                      <m:t>→</m:t>
                    </m:r>
                  </m:oMath>
                </a14:m>
                <a:r>
                  <a:rPr/>
                  <a:t>Surgery</a:t>
                </a:r>
              </a:p>
              <a:p>
                <a:pPr lvl="0"/>
                <a:r>
                  <a:rPr/>
                  <a:t>Metastatic (M1) </a:t>
                </a:r>
                <a14:m>
                  <m:oMath xmlns:m="http://schemas.openxmlformats.org/officeDocument/2006/math">
                    <m:r>
                      <m:rPr>
                        <m:sty m:val="p"/>
                      </m:rPr>
                      <m:t>⇒</m:t>
                    </m:r>
                  </m:oMath>
                </a14:m>
                <a:r>
                  <a:rPr/>
                  <a:t> Chemotherapy</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Patients with locally-advanced esophageal cancer have smaller tumors which have not invaded all the way throug the muscle wall and are too large to remove by endoscopic therapy</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rarely spread to the lymph nodes, which means that surgery alone can often remove the cancer completely.</a:t>
            </a:r>
          </a:p>
          <a:p>
            <a:pPr lvl="0" indent="0" marL="0">
              <a:buNone/>
            </a:pPr>
            <a:r>
              <a:rPr/>
              <a:t>Localized cancers are less likely to need chemotherapy or radiation because the cancer is localized to the wall of the esophagus.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Localized Cancers</a:t>
            </a:r>
          </a:p>
        </p:txBody>
      </p:sp>
      <p:sp>
        <p:nvSpPr>
          <p:cNvPr id="3" name="Content Placeholder 2"/>
          <p:cNvSpPr>
            <a:spLocks noGrp="1"/>
          </p:cNvSpPr>
          <p:nvPr>
            <p:ph idx="1" sz="half"/>
          </p:nvPr>
        </p:nvSpPr>
        <p:spPr/>
        <p:txBody>
          <a:bodyPr/>
          <a:lstStyle/>
          <a:p>
            <a:pPr lvl="0" indent="0" marL="0">
              <a:buNone/>
            </a:pPr>
            <a:r>
              <a:rPr/>
              <a:t>Localized cancers are not very common, because most people don’t know that they have esophageal cancer until they have difficulty eating. The majority of patients who have difficulty eating have a T3 tumor </a:t>
            </a:r>
            <a:r>
              <a:rPr i="1"/>
              <a:t>and</a:t>
            </a:r>
            <a:r>
              <a:rPr/>
              <a:t> usually need either chemotherapy and/or radiation to prevent recurrences</a:t>
            </a:r>
          </a:p>
        </p:txBody>
      </p:sp>
      <p:pic>
        <p:nvPicPr>
          <p:cNvPr descr="images/Eso_tumor_t12t2.png" id="0" name="Picture 1"/>
          <p:cNvPicPr>
            <a:picLocks noGrp="1" noChangeAspect="1"/>
          </p:cNvPicPr>
          <p:nvPr/>
        </p:nvPicPr>
        <p:blipFill>
          <a:blip r:embed="rId2"/>
          <a:stretch>
            <a:fillRect/>
          </a:stretch>
        </p:blipFill>
        <p:spPr bwMode="auto">
          <a:xfrm>
            <a:off x="4635500" y="1879600"/>
            <a:ext cx="4191000" cy="2362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Diagnosis</a:t>
            </a:r>
          </a:p>
        </p:txBody>
      </p:sp>
      <p:sp>
        <p:nvSpPr>
          <p:cNvPr id="3" name="Content Placeholder 2"/>
          <p:cNvSpPr>
            <a:spLocks noGrp="1"/>
          </p:cNvSpPr>
          <p:nvPr>
            <p:ph idx="1" sz="half"/>
          </p:nvPr>
        </p:nvSpPr>
        <p:spPr/>
        <p:txBody>
          <a:bodyPr/>
          <a:lstStyle/>
          <a:p>
            <a:pPr lvl="0" indent="0" marL="0">
              <a:buNone/>
            </a:pPr>
            <a:r>
              <a:rPr/>
              <a:t>Localized cancers are generally diagnosed with a combination of endoscopic ultrasound and PET scan.</a:t>
            </a:r>
          </a:p>
          <a:p>
            <a:pPr lvl="0"/>
            <a:r>
              <a:rPr/>
              <a:t>Endoscopic ultrasound can determine the T stage</a:t>
            </a:r>
          </a:p>
          <a:p>
            <a:pPr lvl="0"/>
            <a:r>
              <a:rPr/>
              <a:t>PET scan can look at the nearby lymph nodes</a:t>
            </a:r>
          </a:p>
        </p:txBody>
      </p:sp>
      <p:pic>
        <p:nvPicPr>
          <p:cNvPr descr="images/Eso_tumor_100_1600.png" id="0" name="Picture 1"/>
          <p:cNvPicPr>
            <a:picLocks noGrp="1" noChangeAspect="1"/>
          </p:cNvPicPr>
          <p:nvPr/>
        </p:nvPicPr>
        <p:blipFill>
          <a:blip r:embed="rId2"/>
          <a:stretch>
            <a:fillRect/>
          </a:stretch>
        </p:blipFill>
        <p:spPr bwMode="auto">
          <a:xfrm>
            <a:off x="5067300" y="1193800"/>
            <a:ext cx="3314700" cy="3733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Surgery</a:t>
            </a:r>
          </a:p>
        </p:txBody>
      </p:sp>
      <p:sp>
        <p:nvSpPr>
          <p:cNvPr id="3" name="Content Placeholder 2"/>
          <p:cNvSpPr>
            <a:spLocks noGrp="1"/>
          </p:cNvSpPr>
          <p:nvPr>
            <p:ph idx="1" sz="half"/>
          </p:nvPr>
        </p:nvSpPr>
        <p:spPr/>
        <p:txBody>
          <a:bodyPr/>
          <a:lstStyle/>
          <a:p>
            <a:pPr lvl="0" indent="0" marL="0">
              <a:buNone/>
            </a:pPr>
            <a:r>
              <a:rPr/>
              <a:t>Surgery to remove the esophagus is frequently done for localized esophageal cancers</a:t>
            </a:r>
          </a:p>
        </p:txBody>
      </p:sp>
      <p:pic>
        <p:nvPicPr>
          <p:cNvPr descr="images/Eso_IvorLewis_simple.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Localized Esophageal Cancer</a:t>
            </a:r>
          </a:p>
        </p:txBody>
      </p:sp>
      <p:sp>
        <p:nvSpPr>
          <p:cNvPr id="3" name="Content Placeholder 2"/>
          <p:cNvSpPr>
            <a:spLocks noGrp="1"/>
          </p:cNvSpPr>
          <p:nvPr>
            <p:ph idx="1"/>
          </p:nvPr>
        </p:nvSpPr>
        <p:spPr/>
        <p:txBody>
          <a:bodyPr/>
          <a:lstStyle/>
          <a:p>
            <a:pPr lvl="0" indent="0" marL="0">
              <a:buNone/>
            </a:pPr>
            <a:r>
              <a:rPr/>
              <a:t>If surgery is performed, the cancer in the esophagus is examined by the pathologist to confirm the precise thickness of the tumor and its T stage</a:t>
            </a:r>
          </a:p>
          <a:p>
            <a:pPr lvl="0" indent="0" marL="0">
              <a:buNone/>
            </a:pPr>
            <a:r>
              <a:rPr/>
              <a:t>About 25% of the time, the pathologist finds that the tumor is actually T3 or N1, in which case chemotherapy and/or radiation is needed after surgery.</a:t>
            </a:r>
          </a:p>
          <a:p>
            <a:pPr lvl="0" indent="0" marL="0">
              <a:buNone/>
            </a:pPr>
            <a:r>
              <a:rPr/>
              <a:t>On the other hand, in 75% of cases surgery is all the therapy that is required and there is no need for chemotherapy and/or radiation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for Localized Esophageal Cancer</a:t>
            </a:r>
          </a:p>
        </p:txBody>
      </p:sp>
      <p:sp>
        <p:nvSpPr>
          <p:cNvPr id="3" name="Content Placeholder 2"/>
          <p:cNvSpPr>
            <a:spLocks noGrp="1"/>
          </p:cNvSpPr>
          <p:nvPr>
            <p:ph idx="1"/>
          </p:nvPr>
        </p:nvSpPr>
        <p:spPr/>
        <p:txBody>
          <a:bodyPr/>
          <a:lstStyle/>
          <a:p>
            <a:pPr lvl="0" indent="0" marL="0">
              <a:buNone/>
            </a:pPr>
            <a:r>
              <a:rPr/>
              <a:t>An alternative to surgery is to start with a combination of chemotherapy and radiation therapy.</a:t>
            </a:r>
          </a:p>
          <a:p>
            <a:pPr lvl="0" indent="0" marL="0">
              <a:buNone/>
            </a:pPr>
            <a:r>
              <a:rPr/>
              <a:t>We know that in some cases, chemotherapy + radiation can be curative for esophageal cancer without the need for surgery.</a:t>
            </a:r>
          </a:p>
          <a:p>
            <a:pPr lvl="0" indent="0" marL="0">
              <a:buNone/>
            </a:pPr>
            <a:r>
              <a:rPr/>
              <a:t>For adenocarcicnoma, about 25% of cases are cured with chemotherapy + radiation</a:t>
            </a:r>
          </a:p>
          <a:p>
            <a:pPr lvl="0" indent="0" marL="0">
              <a:buNone/>
            </a:pPr>
            <a:r>
              <a:rPr/>
              <a:t>For squmaous cell carcinoma, about 40% of cases are cured with chemotherapy + radiation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Followup after Chemotherapy + Radiation</a:t>
            </a:r>
          </a:p>
        </p:txBody>
      </p:sp>
      <p:sp>
        <p:nvSpPr>
          <p:cNvPr id="3" name="Content Placeholder 2"/>
          <p:cNvSpPr>
            <a:spLocks noGrp="1"/>
          </p:cNvSpPr>
          <p:nvPr>
            <p:ph idx="1"/>
          </p:nvPr>
        </p:nvSpPr>
        <p:spPr/>
        <p:txBody>
          <a:bodyPr/>
          <a:lstStyle/>
          <a:p>
            <a:pPr lvl="0" indent="0" marL="0">
              <a:buNone/>
            </a:pPr>
            <a:r>
              <a:rPr/>
              <a:t>The challenge here is that it’s difficult to know right away whether chemotherapy + radiation has been effective for esophageal cancer.</a:t>
            </a:r>
          </a:p>
          <a:p>
            <a:pPr lvl="0" indent="0" marL="0">
              <a:buNone/>
            </a:pPr>
            <a:r>
              <a:rPr/>
              <a:t>In most cases, scans and upper endoscopy performed after chemotherapy + radiation show no signs of cancer, but only a minority of cases are actually cured.</a:t>
            </a:r>
          </a:p>
          <a:p>
            <a:pPr lvl="0" indent="0" marL="0">
              <a:buNone/>
            </a:pPr>
            <a:r>
              <a:rPr/>
              <a:t>In can take up to two years to know with certainty whether or not an esophageal cancer has been cured by chemotherapy + radiation.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Chemotherapy + Radiation</a:t>
                </a:r>
                <a:r>
                  <a:rPr/>
                  <a:t> </a:t>
                </a:r>
                <a14:m>
                  <m:oMath xmlns:m="http://schemas.openxmlformats.org/officeDocument/2006/math">
                    <m:r>
                      <m:rPr>
                        <m:sty m:val="p"/>
                      </m:rPr>
                      <m:t>→</m:t>
                    </m:r>
                  </m:oMath>
                </a14:m>
                <a:r>
                  <a:rPr/>
                  <a:t>Surgery </a:t>
                </a:r>
                <a14:m>
                  <m:oMath xmlns:m="http://schemas.openxmlformats.org/officeDocument/2006/math">
                    <m:r>
                      <m:rPr>
                        <m:sty m:val="p"/>
                      </m:rPr>
                      <m:t>⇒</m:t>
                    </m:r>
                  </m:oMath>
                </a14:m>
                <a:r>
                  <a:rPr/>
                  <a:t> Longer Survival</a:t>
                </a:r>
              </a:p>
              <a:p>
                <a:pPr lvl="0" indent="0" marL="0">
                  <a:buNone/>
                </a:pPr>
                <a:r>
                  <a:rPr/>
                  <a:t>Chemotherapy and radiation were given together over six weeks</a:t>
                </a:r>
              </a:p>
            </p:txBody>
          </p:sp>
        </mc:Choice>
      </mc:AlternateContent>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CROSS Trial</a:t>
            </a:r>
          </a:p>
        </p:txBody>
      </p:sp>
      <p:sp>
        <p:nvSpPr>
          <p:cNvPr id="3" name="Content Placeholder 2"/>
          <p:cNvSpPr>
            <a:spLocks noGrp="1"/>
          </p:cNvSpPr>
          <p:nvPr>
            <p:ph idx="1"/>
          </p:nvPr>
        </p:nvSpPr>
        <p:spPr/>
        <p:txBody>
          <a:bodyPr/>
          <a:lstStyle/>
          <a:p>
            <a:pPr lvl="0" indent="0" marL="0">
              <a:buNone/>
            </a:pPr>
            <a:r>
              <a:rPr/>
              <a:t>A typical schedule for chemotherapy + radiation:</a:t>
            </a:r>
          </a:p>
          <a:p>
            <a:pPr lvl="0"/>
            <a:r>
              <a:rPr/>
              <a:t>Chemotherapy once per week for six weeks</a:t>
            </a:r>
          </a:p>
          <a:p>
            <a:pPr lvl="0"/>
            <a:r>
              <a:rPr/>
              <a:t>Radiation five days per week for six weeks (28 treatments)</a:t>
            </a:r>
          </a:p>
          <a:p>
            <a:pPr lvl="0"/>
            <a:r>
              <a:rPr/>
              <a:t>PET scan 4 weeks after the end of radiation</a:t>
            </a:r>
          </a:p>
          <a:p>
            <a:pPr lvl="0"/>
            <a:r>
              <a:rPr/>
              <a:t>EGD every 3-6 months for 2 years</a:t>
            </a:r>
          </a:p>
          <a:p>
            <a:pPr lvl="0"/>
            <a:r>
              <a:rPr/>
              <a:t>CT scan every 6-12 months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 + Radiation - Side Effects</a:t>
            </a:r>
          </a:p>
        </p:txBody>
      </p:sp>
      <p:sp>
        <p:nvSpPr>
          <p:cNvPr id="3" name="Content Placeholder 2"/>
          <p:cNvSpPr>
            <a:spLocks noGrp="1"/>
          </p:cNvSpPr>
          <p:nvPr>
            <p:ph idx="1"/>
          </p:nvPr>
        </p:nvSpPr>
        <p:spPr/>
        <p:txBody>
          <a:bodyPr/>
          <a:lstStyle/>
          <a:p>
            <a:pPr lvl="0" indent="0" marL="0">
              <a:buNone/>
            </a:pPr>
            <a:r>
              <a:rPr/>
              <a:t>Radiation kills cancer cells, but can also cause irritation of the lining of the esophagus.</a:t>
            </a:r>
          </a:p>
          <a:p>
            <a:pPr lvl="0" indent="0" marL="0">
              <a:buNone/>
            </a:pPr>
            <a:r>
              <a:rPr/>
              <a:t>This can make swallowing more challenging the last two weeks of therapy.</a:t>
            </a:r>
          </a:p>
          <a:p>
            <a:pPr lvl="0" indent="0" marL="0">
              <a:buNone/>
            </a:pPr>
            <a:r>
              <a:rPr/>
              <a:t>A feeding tube is sometimes needed to help with hydration and nutrition.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Chemotherapy</a:t>
            </a:r>
          </a:p>
        </p:txBody>
      </p:sp>
      <p:sp>
        <p:nvSpPr>
          <p:cNvPr id="3" name="Content Placeholder 2"/>
          <p:cNvSpPr>
            <a:spLocks noGrp="1"/>
          </p:cNvSpPr>
          <p:nvPr>
            <p:ph idx="1"/>
          </p:nvPr>
        </p:nvSpPr>
        <p:spPr/>
        <p:txBody>
          <a:bodyPr/>
          <a:lstStyle/>
          <a:p>
            <a:pPr lvl="0" indent="0" marL="0">
              <a:buNone/>
            </a:pPr>
            <a:r>
              <a:rPr/>
              <a:t>Chemotherapy drugs are administered intravenously.</a:t>
            </a:r>
          </a:p>
          <a:p>
            <a:pPr lvl="0" indent="0" marL="0">
              <a:buNone/>
            </a:pPr>
            <a:r>
              <a:rPr/>
              <a:t>There are several options for intravenous access:</a:t>
            </a:r>
          </a:p>
          <a:p>
            <a:pPr lvl="0"/>
            <a:r>
              <a:rPr/>
              <a:t>Peripheral IVs in the hand</a:t>
            </a:r>
          </a:p>
          <a:p>
            <a:pPr lvl="0"/>
            <a:r>
              <a:rPr/>
              <a:t>PICC line (Peripheral Inserted Central Catheter)</a:t>
            </a:r>
          </a:p>
          <a:p>
            <a:pPr lvl="0"/>
            <a:r>
              <a:rPr/>
              <a:t>Central Venous Port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Peripheral IVs</a:t>
            </a:r>
          </a:p>
        </p:txBody>
      </p:sp>
      <p:sp>
        <p:nvSpPr>
          <p:cNvPr id="3" name="Content Placeholder 2"/>
          <p:cNvSpPr>
            <a:spLocks noGrp="1"/>
          </p:cNvSpPr>
          <p:nvPr>
            <p:ph idx="1" sz="half"/>
          </p:nvPr>
        </p:nvSpPr>
        <p:spPr/>
        <p:txBody>
          <a:bodyPr/>
          <a:lstStyle/>
          <a:p>
            <a:pPr lvl="0" indent="0" marL="0">
              <a:buNone/>
            </a:pPr>
            <a:r>
              <a:rPr/>
              <a:t>Some patients can be treated with an intravenous line placed in the hand or arm for each dose of chemotherapy. The catheter is placed at the beginning of each dose and removed that day.</a:t>
            </a:r>
          </a:p>
        </p:txBody>
      </p:sp>
      <p:pic>
        <p:nvPicPr>
          <p:cNvPr descr="images/access_peripheral-venous-catheter-427167-7_960_720-pixabay.jpeg" id="0" name="Picture 1"/>
          <p:cNvPicPr>
            <a:picLocks noGrp="1" noChangeAspect="1"/>
          </p:cNvPicPr>
          <p:nvPr/>
        </p:nvPicPr>
        <p:blipFill>
          <a:blip r:embed="rId2"/>
          <a:stretch>
            <a:fillRect/>
          </a:stretch>
        </p:blipFill>
        <p:spPr bwMode="auto">
          <a:xfrm>
            <a:off x="5334000" y="1193800"/>
            <a:ext cx="2794000" cy="37338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PICC Lines</a:t>
            </a:r>
          </a:p>
        </p:txBody>
      </p:sp>
      <p:sp>
        <p:nvSpPr>
          <p:cNvPr id="3" name="Content Placeholder 2"/>
          <p:cNvSpPr>
            <a:spLocks noGrp="1"/>
          </p:cNvSpPr>
          <p:nvPr>
            <p:ph idx="1" sz="half"/>
          </p:nvPr>
        </p:nvSpPr>
        <p:spPr/>
        <p:txBody>
          <a:bodyPr/>
          <a:lstStyle/>
          <a:p>
            <a:pPr lvl="0" indent="0" marL="0">
              <a:buNone/>
            </a:pPr>
            <a:r>
              <a:rPr/>
              <a:t>A PICC line is placed in Radiology and stays in place during the treatment course</a:t>
            </a:r>
          </a:p>
        </p:txBody>
      </p:sp>
      <p:pic>
        <p:nvPicPr>
          <p:cNvPr descr="images/comm_picc.jpeg" id="0" name="Picture 1"/>
          <p:cNvPicPr>
            <a:picLocks noGrp="1" noChangeAspect="1"/>
          </p:cNvPicPr>
          <p:nvPr/>
        </p:nvPicPr>
        <p:blipFill>
          <a:blip r:embed="rId2"/>
          <a:stretch>
            <a:fillRect/>
          </a:stretch>
        </p:blipFill>
        <p:spPr bwMode="auto">
          <a:xfrm>
            <a:off x="4635500" y="1511300"/>
            <a:ext cx="4191000" cy="3098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an implantable device that makes the administration of chemotherapy easier</a:t>
            </a:r>
          </a:p>
        </p:txBody>
      </p:sp>
      <p:pic>
        <p:nvPicPr>
          <p:cNvPr descr="images/access_cv_port.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A central venous port is typically placed underneath the skin below the right collarbone</a:t>
            </a:r>
          </a:p>
        </p:txBody>
      </p:sp>
      <p:pic>
        <p:nvPicPr>
          <p:cNvPr descr="images/access_cv_port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Central Venous Port</a:t>
            </a:r>
          </a:p>
        </p:txBody>
      </p:sp>
      <p:sp>
        <p:nvSpPr>
          <p:cNvPr id="3" name="Content Placeholder 2"/>
          <p:cNvSpPr>
            <a:spLocks noGrp="1"/>
          </p:cNvSpPr>
          <p:nvPr>
            <p:ph idx="1" sz="half"/>
          </p:nvPr>
        </p:nvSpPr>
        <p:spPr/>
        <p:txBody>
          <a:bodyPr/>
          <a:lstStyle/>
          <a:p>
            <a:pPr lvl="0" indent="0" marL="0">
              <a:buNone/>
            </a:pPr>
            <a:r>
              <a:rPr/>
              <a:t>When it is time for chemotherapy, a needle is inserted through the skin into the port</a:t>
            </a:r>
          </a:p>
        </p:txBody>
      </p:sp>
      <p:pic>
        <p:nvPicPr>
          <p:cNvPr descr="images/access_cv_port_detail_1700.pn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Restaging</a:t>
            </a:r>
          </a:p>
        </p:txBody>
      </p:sp>
      <p:sp>
        <p:nvSpPr>
          <p:cNvPr id="3" name="Content Placeholder 2"/>
          <p:cNvSpPr>
            <a:spLocks noGrp="1"/>
          </p:cNvSpPr>
          <p:nvPr>
            <p:ph idx="1"/>
          </p:nvPr>
        </p:nvSpPr>
        <p:spPr/>
        <p:txBody>
          <a:bodyPr/>
          <a:lstStyle/>
          <a:p>
            <a:pPr lvl="0" indent="0" marL="0">
              <a:buNone/>
            </a:pPr>
            <a:r>
              <a:rPr/>
              <a:t>CT or PET scan will be performed after preoperative therapy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Preparation for Surgery</a:t>
            </a:r>
          </a:p>
        </p:txBody>
      </p:sp>
      <p:sp>
        <p:nvSpPr>
          <p:cNvPr id="3" name="Content Placeholder 2"/>
          <p:cNvSpPr>
            <a:spLocks noGrp="1"/>
          </p:cNvSpPr>
          <p:nvPr>
            <p:ph idx="1"/>
          </p:nvPr>
        </p:nvSpPr>
        <p:spPr/>
        <p:txBody>
          <a:bodyPr/>
          <a:lstStyle/>
          <a:p>
            <a:pPr lvl="0" indent="0" marL="0">
              <a:buNone/>
            </a:pPr>
            <a:r>
              <a:rPr/>
              <a:t>Medical evaluation may be needed before surgery:</a:t>
            </a:r>
          </a:p>
          <a:p>
            <a:pPr lvl="0"/>
            <a:r>
              <a:rPr/>
              <a:t>Pulmonary Function Tests to test lung function</a:t>
            </a:r>
          </a:p>
          <a:p>
            <a:pPr lvl="0"/>
            <a:r>
              <a:rPr/>
              <a:t>Cardiology evaluation to test heart function</a:t>
            </a:r>
          </a:p>
          <a:p>
            <a:pPr lvl="1"/>
            <a:r>
              <a:rPr/>
              <a:t>Echocardiogram</a:t>
            </a:r>
          </a:p>
          <a:p>
            <a:pPr lvl="1"/>
            <a:r>
              <a:rPr/>
              <a:t>Stress Test</a:t>
            </a:r>
          </a:p>
          <a:p>
            <a:pPr lvl="1"/>
            <a:r>
              <a:rPr/>
              <a:t>Holter monitor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Esophagectomy for Cancers of the Esophagus or GE Junction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Primary Surgery</a:t>
                </a:r>
              </a:p>
              <a:p>
                <a:pPr lvl="0"/>
                <a:r>
                  <a:rPr/>
                  <a:t>Superficial Tumors (T1) not completely removed by endoscopy</a:t>
                </a:r>
              </a:p>
              <a:p>
                <a:pPr lvl="0"/>
                <a:r>
                  <a:rPr/>
                  <a:t>Localized Tumors (T2 N0 M0)</a:t>
                </a:r>
              </a:p>
              <a:p>
                <a:pPr lvl="0"/>
                <a:r>
                  <a:rPr/>
                  <a:t>Surgery scheduled after medical evaluation</a:t>
                </a:r>
              </a:p>
              <a:p>
                <a:pPr lvl="0"/>
                <a:r>
                  <a:rPr/>
                  <a:t>Aim for surgery within 6 weeks of consultation</a:t>
                </a:r>
              </a:p>
              <a:p>
                <a:pPr lvl="0" indent="0" marL="0">
                  <a:buNone/>
                </a:pPr>
                <a:r>
                  <a:rPr/>
                  <a:t>Preoperative Therapy </a:t>
                </a:r>
                <a14:m>
                  <m:oMath xmlns:m="http://schemas.openxmlformats.org/officeDocument/2006/math">
                    <m:r>
                      <m:rPr>
                        <m:sty m:val="p"/>
                      </m:rPr>
                      <m:t>→</m:t>
                    </m:r>
                  </m:oMath>
                </a14:m>
                <a:r>
                  <a:rPr/>
                  <a:t> Surgery</a:t>
                </a:r>
              </a:p>
              <a:p>
                <a:pPr lvl="0"/>
                <a:r>
                  <a:rPr/>
                  <a:t>Locally Advanced (T3 Nx M0)</a:t>
                </a:r>
              </a:p>
              <a:p>
                <a:pPr lvl="0"/>
                <a:r>
                  <a:rPr/>
                  <a:t>Surgery scheduled after</a:t>
                </a:r>
              </a:p>
              <a:p>
                <a:pPr lvl="1"/>
                <a:r>
                  <a:rPr/>
                  <a:t>Recovery from preoperative therapy</a:t>
                </a:r>
              </a:p>
              <a:p>
                <a:pPr lvl="1"/>
                <a:r>
                  <a:rPr/>
                  <a:t>Restaging scans (CT or PET)</a:t>
                </a:r>
              </a:p>
              <a:p>
                <a:pPr lvl="1"/>
                <a:r>
                  <a:rPr/>
                  <a:t>Medical evaluation</a:t>
                </a:r>
              </a:p>
              <a:p>
                <a:pPr lvl="0"/>
                <a:r>
                  <a:rPr/>
                  <a:t>Timing between end of preoperative therapy and surgery</a:t>
                </a:r>
              </a:p>
              <a:p>
                <a:pPr lvl="1"/>
                <a:r>
                  <a:rPr/>
                  <a:t>Chemotherapy + radiation: 6-8 weeks</a:t>
                </a:r>
              </a:p>
              <a:p>
                <a:pPr lvl="1"/>
                <a:r>
                  <a:rPr/>
                  <a:t>Chemotherapy: 4-8 weeks</a:t>
                </a:r>
              </a:p>
            </p:txBody>
          </p:sp>
        </mc:Choice>
      </mc:AlternateContent>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Preoperative Visits</a:t>
            </a:r>
          </a:p>
        </p:txBody>
      </p:sp>
      <p:sp>
        <p:nvSpPr>
          <p:cNvPr id="3" name="Content Placeholder 2"/>
          <p:cNvSpPr>
            <a:spLocks noGrp="1"/>
          </p:cNvSpPr>
          <p:nvPr>
            <p:ph idx="1"/>
          </p:nvPr>
        </p:nvSpPr>
        <p:spPr/>
        <p:txBody>
          <a:bodyPr/>
          <a:lstStyle/>
          <a:p>
            <a:pPr lvl="0" indent="0" marL="0">
              <a:buNone/>
            </a:pPr>
            <a:r>
              <a:rPr/>
              <a:t>Medical Oncology - Monitor chemotherapy and side effects</a:t>
            </a:r>
          </a:p>
          <a:p>
            <a:pPr lvl="0" indent="0" marL="0">
              <a:buNone/>
            </a:pPr>
            <a:r>
              <a:rPr/>
              <a:t>Radiation Oncology - Monitor radiation and side effects</a:t>
            </a:r>
          </a:p>
          <a:p>
            <a:pPr lvl="0" indent="0" marL="0">
              <a:buNone/>
            </a:pPr>
            <a:r>
              <a:rPr/>
              <a:t>Surgical Oncology</a:t>
            </a:r>
          </a:p>
          <a:p>
            <a:pPr lvl="0"/>
            <a:r>
              <a:rPr/>
              <a:t>Consult visit with Dr Salo</a:t>
            </a:r>
          </a:p>
          <a:p>
            <a:pPr lvl="0"/>
            <a:r>
              <a:rPr/>
              <a:t>Mid-treatment visits with Dr Salo / Kate Duncan</a:t>
            </a:r>
          </a:p>
          <a:p>
            <a:pPr lvl="0"/>
            <a:r>
              <a:rPr/>
              <a:t>Preop visit with Dr Salo (may be virtual)</a:t>
            </a:r>
          </a:p>
          <a:p>
            <a:pPr lvl="0"/>
            <a:r>
              <a:rPr/>
              <a:t>In-person preop visit with Kate Duncan and Liz Koch</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Surgery for Esophageal Cancer</a:t>
            </a:r>
          </a:p>
        </p:txBody>
      </p:sp>
      <p:sp>
        <p:nvSpPr>
          <p:cNvPr id="3" name="Content Placeholder 2"/>
          <p:cNvSpPr>
            <a:spLocks noGrp="1"/>
          </p:cNvSpPr>
          <p:nvPr>
            <p:ph idx="1"/>
          </p:nvPr>
        </p:nvSpPr>
        <p:spPr/>
        <p:txBody>
          <a:bodyPr/>
          <a:lstStyle/>
          <a:p>
            <a:pPr lvl="0" indent="0" marL="0">
              <a:buNone/>
            </a:pPr>
            <a:r>
              <a:rPr/>
              <a:t>Surgery for esophageal cancer is performed for:</a:t>
            </a:r>
          </a:p>
          <a:p>
            <a:pPr lvl="0"/>
            <a:r>
              <a:rPr/>
              <a:t>Superficial Tumors (T1) not removed by endoscopy</a:t>
            </a:r>
          </a:p>
          <a:p>
            <a:pPr lvl="0"/>
            <a:r>
              <a:rPr/>
              <a:t>Localized Tumors (T2 N0 M0)</a:t>
            </a:r>
          </a:p>
          <a:p>
            <a:pPr lvl="0"/>
            <a:r>
              <a:rPr/>
              <a:t>Locally Advanced (T3 M0) after preop therapy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Goals of Surgery</a:t>
            </a:r>
          </a:p>
        </p:txBody>
      </p:sp>
      <p:sp>
        <p:nvSpPr>
          <p:cNvPr id="3" name="Content Placeholder 2"/>
          <p:cNvSpPr>
            <a:spLocks noGrp="1"/>
          </p:cNvSpPr>
          <p:nvPr>
            <p:ph idx="1" sz="half"/>
          </p:nvPr>
        </p:nvSpPr>
        <p:spPr/>
        <p:txBody>
          <a:bodyPr/>
          <a:lstStyle/>
          <a:p>
            <a:pPr lvl="0"/>
            <a:r>
              <a:rPr/>
              <a:t>Remove tumor from esophagus</a:t>
            </a:r>
          </a:p>
          <a:p>
            <a:pPr lvl="0"/>
            <a:r>
              <a:rPr/>
              <a:t>Remove surrounding lymph nodes</a:t>
            </a:r>
          </a:p>
          <a:p>
            <a:pPr lvl="0"/>
            <a:r>
              <a:rPr/>
              <a:t>Create a new esophagus</a:t>
            </a:r>
          </a:p>
        </p:txBody>
      </p:sp>
      <p:pic>
        <p:nvPicPr>
          <p:cNvPr descr="images/Eso_Resection1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(Transthoracic) Esophagectomy</a:t>
            </a:r>
          </a:p>
        </p:txBody>
      </p:sp>
      <p:sp>
        <p:nvSpPr>
          <p:cNvPr id="3" name="Content Placeholder 2"/>
          <p:cNvSpPr>
            <a:spLocks noGrp="1"/>
          </p:cNvSpPr>
          <p:nvPr>
            <p:ph idx="1" sz="half"/>
          </p:nvPr>
        </p:nvSpPr>
        <p:spPr/>
        <p:txBody>
          <a:bodyPr/>
          <a:lstStyle/>
          <a:p>
            <a:pPr lvl="0"/>
            <a:r>
              <a:rPr/>
              <a:t>Removes tumor and lower 1/2 esophagus</a:t>
            </a:r>
          </a:p>
          <a:p>
            <a:pPr lvl="0"/>
            <a:r>
              <a:rPr/>
              <a:t>Removes surrounding lymph nodes</a:t>
            </a:r>
          </a:p>
          <a:p>
            <a:pPr lvl="0"/>
            <a:r>
              <a:rPr/>
              <a:t>GI tract reconstructed</a:t>
            </a:r>
          </a:p>
        </p:txBody>
      </p:sp>
      <p:pic>
        <p:nvPicPr>
          <p:cNvPr descr="images/Eso_Resection2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Reconstruction</a:t>
            </a:r>
          </a:p>
        </p:txBody>
      </p:sp>
      <p:sp>
        <p:nvSpPr>
          <p:cNvPr id="3" name="Content Placeholder 2"/>
          <p:cNvSpPr>
            <a:spLocks noGrp="1"/>
          </p:cNvSpPr>
          <p:nvPr>
            <p:ph idx="1" sz="half"/>
          </p:nvPr>
        </p:nvSpPr>
        <p:spPr/>
        <p:txBody>
          <a:bodyPr/>
          <a:lstStyle/>
          <a:p>
            <a:pPr lvl="0" indent="0" marL="0">
              <a:buNone/>
            </a:pPr>
            <a:r>
              <a:rPr/>
              <a:t>New esophagus is created from the stomach in the abdomen by fashioning it into a tube.</a:t>
            </a:r>
          </a:p>
        </p:txBody>
      </p:sp>
      <p:pic>
        <p:nvPicPr>
          <p:cNvPr descr="images/Eso_Resection3_ai.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Ivor Lewis esophagectomy</a:t>
            </a:r>
          </a:p>
        </p:txBody>
      </p:sp>
      <p:sp>
        <p:nvSpPr>
          <p:cNvPr id="3" name="Content Placeholder 2"/>
          <p:cNvSpPr>
            <a:spLocks noGrp="1"/>
          </p:cNvSpPr>
          <p:nvPr>
            <p:ph idx="1" sz="half"/>
          </p:nvPr>
        </p:nvSpPr>
        <p:spPr/>
        <p:txBody>
          <a:bodyPr/>
          <a:lstStyle/>
          <a:p>
            <a:pPr lvl="0" indent="0" marL="0">
              <a:buNone/>
            </a:pPr>
            <a:r>
              <a:rPr/>
              <a:t>The new esophagus is now brought up into the chest. A connection is made between the esophagus and the stomach, called an </a:t>
            </a:r>
            <a:r>
              <a:rPr i="1"/>
              <a:t>anastomosis</a:t>
            </a:r>
            <a:r>
              <a:rPr/>
              <a:t>.</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Ivor Lewis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Small incisions abdomen and chest</a:t>
                </a:r>
              </a:p>
              <a:p>
                <a:pPr lvl="0"/>
                <a:r>
                  <a:rPr/>
                  <a:t>Surgical telescope and instruments</a:t>
                </a:r>
              </a:p>
              <a:p>
                <a:pPr lvl="0"/>
                <a:r>
                  <a:rPr/>
                  <a:t>Smaller incisions </a:t>
                </a:r>
                <a14:m>
                  <m:oMath xmlns:m="http://schemas.openxmlformats.org/officeDocument/2006/math">
                    <m:r>
                      <m:rPr>
                        <m:sty m:val="p"/>
                      </m:rPr>
                      <m:t>→</m:t>
                    </m:r>
                  </m:oMath>
                </a14:m>
                <a:r>
                  <a:rPr/>
                  <a:t> faster recovery and less discomfort</a:t>
                </a:r>
              </a:p>
            </p:txBody>
          </p:sp>
        </mc:Choice>
      </mc:AlternateContent>
      <p:pic>
        <p:nvPicPr>
          <p:cNvPr descr="images/MIE_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Open Ivor Lewis</a:t>
            </a:r>
          </a:p>
        </p:txBody>
      </p:sp>
      <p:sp>
        <p:nvSpPr>
          <p:cNvPr id="3" name="Content Placeholder 2"/>
          <p:cNvSpPr>
            <a:spLocks noGrp="1"/>
          </p:cNvSpPr>
          <p:nvPr>
            <p:ph idx="1" sz="half"/>
          </p:nvPr>
        </p:nvSpPr>
        <p:spPr/>
        <p:txBody>
          <a:bodyPr/>
          <a:lstStyle/>
          <a:p>
            <a:pPr lvl="0" indent="0" marL="0">
              <a:buNone/>
            </a:pPr>
            <a:r>
              <a:rPr/>
              <a:t>Mininally-invasive approach feasible in 98% of cases</a:t>
            </a:r>
          </a:p>
          <a:p>
            <a:pPr lvl="0" indent="0" marL="0">
              <a:buNone/>
            </a:pPr>
            <a:r>
              <a:rPr/>
              <a:t>In some cases, an open approach is still necessary (2%)</a:t>
            </a:r>
          </a:p>
        </p:txBody>
      </p:sp>
      <p:pic>
        <p:nvPicPr>
          <p:cNvPr descr="images/IvorLewi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Total Esophagectomy</a:t>
            </a:r>
          </a:p>
        </p:txBody>
      </p:sp>
      <p:sp>
        <p:nvSpPr>
          <p:cNvPr id="3" name="Content Placeholder 2"/>
          <p:cNvSpPr>
            <a:spLocks noGrp="1"/>
          </p:cNvSpPr>
          <p:nvPr>
            <p:ph idx="1" sz="half"/>
          </p:nvPr>
        </p:nvSpPr>
        <p:spPr/>
        <p:txBody>
          <a:bodyPr/>
          <a:lstStyle/>
          <a:p>
            <a:pPr lvl="0" indent="0" marL="0">
              <a:buNone/>
            </a:pPr>
            <a:r>
              <a:rPr/>
              <a:t>For patients with tumors in the upper esophagus, we need to remove more of the esophagus</a:t>
            </a:r>
          </a:p>
          <a:p>
            <a:pPr lvl="0" indent="0" marL="0">
              <a:buNone/>
            </a:pPr>
            <a:r>
              <a:rPr/>
              <a:t>We need to remove the whole esophagus, including the portion in the neck</a:t>
            </a:r>
          </a:p>
        </p:txBody>
      </p:sp>
      <p:pic>
        <p:nvPicPr>
          <p:cNvPr descr="images/Eso_ProxTumor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McKeown Esophagectomy</a:t>
            </a:r>
          </a:p>
        </p:txBody>
      </p:sp>
      <p:pic>
        <p:nvPicPr>
          <p:cNvPr descr="images/Eso_ResectionTotalArtboard.png" id="0" name="Picture 1"/>
          <p:cNvPicPr>
            <a:picLocks noGrp="1" noChangeAspect="1"/>
          </p:cNvPicPr>
          <p:nvPr/>
        </p:nvPicPr>
        <p:blipFill>
          <a:blip r:embed="rId2"/>
          <a:stretch>
            <a:fillRect/>
          </a:stretch>
        </p:blipFill>
        <p:spPr bwMode="auto">
          <a:xfrm>
            <a:off x="571500" y="1193800"/>
            <a:ext cx="3632200" cy="3733800"/>
          </a:xfrm>
          <a:prstGeom prst="rect">
            <a:avLst/>
          </a:prstGeom>
          <a:noFill/>
          <a:ln w="9525">
            <a:noFill/>
            <a:headEnd/>
            <a:tailEnd/>
          </a:ln>
        </p:spPr>
      </p:pic>
      <p:pic>
        <p:nvPicPr>
          <p:cNvPr descr="images/Eso_MIE_McKeownArtboard.png" id="0" name="Picture 1"/>
          <p:cNvPicPr>
            <a:picLocks noGrp="1" noChangeAspect="1"/>
          </p:cNvPicPr>
          <p:nvPr/>
        </p:nvPicPr>
        <p:blipFill>
          <a:blip r:embed="rId3"/>
          <a:stretch>
            <a:fillRect/>
          </a:stretch>
        </p:blipFill>
        <p:spPr bwMode="auto">
          <a:xfrm>
            <a:off x="4914900" y="1193800"/>
            <a:ext cx="3632200" cy="37338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Esophagectomy</a:t>
            </a:r>
          </a:p>
        </p:txBody>
      </p:sp>
      <p:sp>
        <p:nvSpPr>
          <p:cNvPr id="3" name="Content Placeholder 2"/>
          <p:cNvSpPr>
            <a:spLocks noGrp="1"/>
          </p:cNvSpPr>
          <p:nvPr>
            <p:ph idx="1"/>
          </p:nvPr>
        </p:nvSpPr>
        <p:spPr/>
        <p:txBody>
          <a:bodyPr/>
          <a:lstStyle/>
          <a:p>
            <a:pPr lvl="0" indent="0" marL="0">
              <a:buNone/>
            </a:pPr>
            <a:r>
              <a:rPr/>
              <a:t>Esophagectomy is a complex operation, with a real risk of complications.</a:t>
            </a:r>
          </a:p>
          <a:p>
            <a:pPr lvl="0" indent="0" marL="0">
              <a:buNone/>
            </a:pPr>
            <a:r>
              <a:rPr/>
              <a:t>Two significant complications:</a:t>
            </a:r>
          </a:p>
          <a:p>
            <a:pPr lvl="0"/>
            <a:r>
              <a:rPr/>
              <a:t>Anastomotic leak</a:t>
            </a:r>
          </a:p>
          <a:p>
            <a:pPr lvl="0"/>
            <a:r>
              <a:rPr/>
              <a:t>Pneumonia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The anastomosis is surgical connection between the esophagus and the stomach.</a:t>
            </a:r>
          </a:p>
        </p:txBody>
      </p:sp>
      <p:pic>
        <p:nvPicPr>
          <p:cNvPr descr="images/Eso_IvorLewis_Anastomosis.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healing doesn’t occur:</a:t>
            </a:r>
          </a:p>
          <a:p>
            <a:pPr lvl="0"/>
            <a:r>
              <a:rPr/>
              <a:t>Leakage of fluid from the esophagus</a:t>
            </a:r>
          </a:p>
          <a:p>
            <a:pPr lvl="0"/>
            <a:r>
              <a:rPr/>
              <a:t>Infection in the space between the lungs</a:t>
            </a:r>
          </a:p>
          <a:p>
            <a:pPr lvl="0"/>
            <a:r>
              <a:rPr/>
              <a:t>Requires additional time in the hospital</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If leak occurs:</a:t>
            </a:r>
          </a:p>
          <a:p>
            <a:pPr lvl="0"/>
            <a:r>
              <a:rPr/>
              <a:t>Some leaks will seal</a:t>
            </a:r>
          </a:p>
          <a:p>
            <a:pPr lvl="0"/>
            <a:r>
              <a:rPr/>
              <a:t>Stent may be required to help healing</a:t>
            </a:r>
          </a:p>
          <a:p>
            <a:pPr lvl="0"/>
            <a:r>
              <a:rPr/>
              <a:t>Occasionally additional surgey is required</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Anastomotic Leak</a:t>
            </a:r>
          </a:p>
        </p:txBody>
      </p:sp>
      <p:sp>
        <p:nvSpPr>
          <p:cNvPr id="3" name="Content Placeholder 2"/>
          <p:cNvSpPr>
            <a:spLocks noGrp="1"/>
          </p:cNvSpPr>
          <p:nvPr>
            <p:ph idx="1" sz="half"/>
          </p:nvPr>
        </p:nvSpPr>
        <p:spPr/>
        <p:txBody>
          <a:bodyPr/>
          <a:lstStyle/>
          <a:p>
            <a:pPr lvl="0" indent="0" marL="0">
              <a:buNone/>
            </a:pPr>
            <a:r>
              <a:rPr/>
              <a:t>Risk of leak depends on:</a:t>
            </a:r>
          </a:p>
          <a:p>
            <a:pPr lvl="0"/>
            <a:r>
              <a:rPr/>
              <a:t>Type of operation performed</a:t>
            </a:r>
          </a:p>
          <a:p>
            <a:pPr lvl="0"/>
            <a:r>
              <a:rPr/>
              <a:t>Nutritional status of patient</a:t>
            </a:r>
          </a:p>
          <a:p>
            <a:pPr lvl="0"/>
            <a:r>
              <a:rPr/>
              <a:t>Experience of the surgeon</a:t>
            </a:r>
          </a:p>
        </p:txBody>
      </p:sp>
      <p:pic>
        <p:nvPicPr>
          <p:cNvPr descr="images/Eso_IvorLewis_Leak.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Pneumonia</a:t>
            </a:r>
          </a:p>
        </p:txBody>
      </p:sp>
      <p:sp>
        <p:nvSpPr>
          <p:cNvPr id="3" name="Content Placeholder 2"/>
          <p:cNvSpPr>
            <a:spLocks noGrp="1"/>
          </p:cNvSpPr>
          <p:nvPr>
            <p:ph idx="1" sz="half"/>
          </p:nvPr>
        </p:nvSpPr>
        <p:spPr/>
        <p:txBody>
          <a:bodyPr/>
          <a:lstStyle/>
          <a:p>
            <a:pPr lvl="0"/>
            <a:r>
              <a:rPr/>
              <a:t>Occurs in 10-15% of patients after esophagectomy.</a:t>
            </a:r>
          </a:p>
          <a:p>
            <a:pPr lvl="0"/>
            <a:r>
              <a:rPr/>
              <a:t>Requires treatment with antibiotics</a:t>
            </a:r>
          </a:p>
          <a:p>
            <a:pPr lvl="0"/>
            <a:r>
              <a:rPr/>
              <a:t>Requires a longer hospitalization.</a:t>
            </a:r>
          </a:p>
        </p:txBody>
      </p:sp>
      <p:pic>
        <p:nvPicPr>
          <p:cNvPr descr="images/Eso_LungsArtboard.png" id="0" name="Picture 1"/>
          <p:cNvPicPr>
            <a:picLocks noGrp="1" noChangeAspect="1"/>
          </p:cNvPicPr>
          <p:nvPr/>
        </p:nvPicPr>
        <p:blipFill>
          <a:blip r:embed="rId2"/>
          <a:stretch>
            <a:fillRect/>
          </a:stretch>
        </p:blipFill>
        <p:spPr bwMode="auto">
          <a:xfrm>
            <a:off x="4914900" y="1193800"/>
            <a:ext cx="3632200" cy="37338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Preventing Pneumonia</a:t>
            </a:r>
          </a:p>
        </p:txBody>
      </p:sp>
      <p:sp>
        <p:nvSpPr>
          <p:cNvPr id="3" name="Content Placeholder 2"/>
          <p:cNvSpPr>
            <a:spLocks noGrp="1"/>
          </p:cNvSpPr>
          <p:nvPr>
            <p:ph idx="1"/>
          </p:nvPr>
        </p:nvSpPr>
        <p:spPr/>
        <p:txBody>
          <a:bodyPr/>
          <a:lstStyle/>
          <a:p>
            <a:pPr lvl="0" indent="0" marL="0">
              <a:buNone/>
            </a:pPr>
            <a:r>
              <a:rPr/>
              <a:t>Several ways to help prevent pneumonia:</a:t>
            </a:r>
          </a:p>
          <a:p>
            <a:pPr lvl="0"/>
            <a:r>
              <a:rPr/>
              <a:t>Deep breathing</a:t>
            </a:r>
          </a:p>
          <a:p>
            <a:pPr lvl="0"/>
            <a:r>
              <a:rPr/>
              <a:t>Coughing</a:t>
            </a:r>
          </a:p>
          <a:p>
            <a:pPr lvl="0"/>
            <a:r>
              <a:rPr/>
              <a:t>Walking</a:t>
            </a:r>
          </a:p>
          <a:p>
            <a:pPr lvl="0" indent="0" marL="0">
              <a:buNone/>
            </a:pPr>
            <a:r>
              <a:rPr/>
              <a:t>After surgery, this means:</a:t>
            </a:r>
          </a:p>
          <a:p>
            <a:pPr lvl="0"/>
            <a:r>
              <a:rPr/>
              <a:t>Sitting in a chair most of the day</a:t>
            </a:r>
          </a:p>
          <a:p>
            <a:pPr lvl="0"/>
            <a:r>
              <a:rPr/>
              <a:t>Walking in the halls as soon as possible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Minimally-invasive Esophagectomy</a:t>
            </a:r>
          </a:p>
        </p:txBody>
      </p:sp>
      <p:pic>
        <p:nvPicPr>
          <p:cNvPr descr="images/mie_abd.png" id="0" name="Picture 1"/>
          <p:cNvPicPr>
            <a:picLocks noGrp="1" noChangeAspect="1"/>
          </p:cNvPicPr>
          <p:nvPr/>
        </p:nvPicPr>
        <p:blipFill>
          <a:blip r:embed="rId2"/>
          <a:stretch>
            <a:fillRect/>
          </a:stretch>
        </p:blipFill>
        <p:spPr bwMode="auto">
          <a:xfrm>
            <a:off x="304800" y="1498600"/>
            <a:ext cx="4178300" cy="3136900"/>
          </a:xfrm>
          <a:prstGeom prst="rect">
            <a:avLst/>
          </a:prstGeom>
          <a:noFill/>
          <a:ln w="9525">
            <a:noFill/>
            <a:headEnd/>
            <a:tailEnd/>
          </a:ln>
        </p:spPr>
      </p:pic>
      <p:pic>
        <p:nvPicPr>
          <p:cNvPr descr="images/mie_chest.png" id="0" name="Picture 1"/>
          <p:cNvPicPr>
            <a:picLocks noGrp="1" noChangeAspect="1"/>
          </p:cNvPicPr>
          <p:nvPr/>
        </p:nvPicPr>
        <p:blipFill>
          <a:blip r:embed="rId3"/>
          <a:stretch>
            <a:fillRect/>
          </a:stretch>
        </p:blipFill>
        <p:spPr bwMode="auto">
          <a:xfrm>
            <a:off x="4635500" y="1485900"/>
            <a:ext cx="4191000" cy="31496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anesthesia</a:t>
            </a:r>
          </a:p>
          <a:p>
            <a:pPr lvl="0"/>
            <a:r>
              <a:rPr/>
              <a:t>Heart attack (5%)</a:t>
            </a:r>
          </a:p>
          <a:p>
            <a:pPr lvl="0"/>
            <a:r>
              <a:rPr/>
              <a:t>Irregular heart rhythm (15%)</a:t>
            </a:r>
          </a:p>
          <a:p>
            <a:pPr lvl="0"/>
            <a:r>
              <a:rPr/>
              <a:t>Pneumonia (10%)</a:t>
            </a:r>
          </a:p>
          <a:p>
            <a:pPr lvl="0"/>
            <a:r>
              <a:rPr/>
              <a:t>Blood clots in legs (&lt;5%)</a:t>
            </a:r>
          </a:p>
          <a:p>
            <a:pPr lvl="0"/>
            <a:r>
              <a:rPr/>
              <a:t>Pulmonary embolism (2%)</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sp>
        <p:nvSpPr>
          <p:cNvPr id="3" name="Content Placeholder 2"/>
          <p:cNvSpPr>
            <a:spLocks noGrp="1"/>
          </p:cNvSpPr>
          <p:nvPr>
            <p:ph idx="1"/>
          </p:nvPr>
        </p:nvSpPr>
        <p:spPr/>
        <p:txBody>
          <a:bodyPr/>
          <a:lstStyle/>
          <a:p>
            <a:pPr lvl="0" indent="0" marL="0">
              <a:buNone/>
            </a:pPr>
            <a:r>
              <a:rPr/>
              <a:t>Risks related to Surgery</a:t>
            </a:r>
          </a:p>
          <a:p>
            <a:pPr lvl="0"/>
            <a:r>
              <a:rPr/>
              <a:t>Anastomotic leak (5%)</a:t>
            </a:r>
          </a:p>
          <a:p>
            <a:pPr lvl="0"/>
            <a:r>
              <a:rPr/>
              <a:t>Stricture at anastomosis (15%)</a:t>
            </a:r>
          </a:p>
          <a:p>
            <a:pPr lvl="0"/>
            <a:r>
              <a:rPr/>
              <a:t>Death within 90 days of surgery</a:t>
            </a:r>
          </a:p>
          <a:p>
            <a:pPr lvl="1"/>
            <a:r>
              <a:rPr/>
              <a:t>Low risk patients = 2%</a:t>
            </a:r>
          </a:p>
          <a:p>
            <a:pPr lvl="1"/>
            <a:r>
              <a:rPr/>
              <a:t>Intermediate risk = 10%</a:t>
            </a:r>
          </a:p>
          <a:p>
            <a:pPr lvl="1"/>
            <a:r>
              <a:rPr/>
              <a:t>High risk = 30%</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Risks of Surgery</a:t>
            </a:r>
          </a:p>
        </p:txBody>
      </p:sp>
      <p:graphicFrame>
        <p:nvGraphicFramePr>
          <p:cNvPr id="6" name="Content Placeholder 5"/>
          <p:cNvGraphicFramePr>
            <a:graphicFrameLocks noGrp="1"/>
          </p:cNvGraphicFramePr>
          <p:nvPr>
            <p:ph idx="1"/>
          </p:nvPr>
        </p:nvGraphicFramePr>
        <p:xfrm>
          <a:off x="279400" y="952500"/>
          <a:ext cx="8547100" cy="3467100"/>
        </p:xfrm>
        <a:graphic>
          <a:graphicData uri="http://schemas.openxmlformats.org/drawingml/2006/table">
            <a:tbl>
              <a:tblPr firstRow="1" bandRow="1">
                <a:tableStyleId>{69012ECD-51FC-41F1-AA8D-1B2483CD663E}</a:tableStyleId>
              </a:tblPr>
              <a:tblGrid>
                <a:gridCol w="2844800"/>
                <a:gridCol w="2844800"/>
                <a:gridCol w="2844800"/>
              </a:tblGrid>
              <a:tr h="0">
                <a:tc>
                  <a:txBody>
                    <a:bodyPr/>
                    <a:lstStyle/>
                    <a:p>
                      <a:endParaRPr/>
                    </a:p>
                  </a:txBody>
                  <a:tcPr/>
                </a:tc>
                <a:tc>
                  <a:txBody>
                    <a:bodyPr/>
                    <a:lstStyle/>
                    <a:p>
                      <a:pPr lvl="0" indent="0" marL="0" algn="ctr">
                        <a:buNone/>
                      </a:pPr>
                      <a:r>
                        <a:rPr/>
                        <a:t>Age &lt;75</a:t>
                      </a:r>
                    </a:p>
                  </a:txBody>
                  <a:tcPr/>
                </a:tc>
                <a:tc>
                  <a:txBody>
                    <a:bodyPr/>
                    <a:lstStyle/>
                    <a:p>
                      <a:pPr lvl="0" indent="0" marL="0" algn="ctr">
                        <a:buNone/>
                      </a:pPr>
                      <a:r>
                        <a:rPr/>
                        <a:t>Age &gt;75</a:t>
                      </a:r>
                    </a:p>
                  </a:txBody>
                  <a:tcPr/>
                </a:tc>
              </a:tr>
              <a:tr h="0">
                <a:tc>
                  <a:txBody>
                    <a:bodyPr/>
                    <a:lstStyle/>
                    <a:p>
                      <a:pPr lvl="0" indent="0" marL="0">
                        <a:buNone/>
                      </a:pPr>
                      <a:r>
                        <a:rPr/>
                        <a:t>Normal Muscle (75%)</a:t>
                      </a:r>
                    </a:p>
                  </a:txBody>
                </a:tc>
                <a:tc>
                  <a:txBody>
                    <a:bodyPr/>
                    <a:lstStyle/>
                    <a:p>
                      <a:pPr lvl="0" indent="0" marL="0" algn="ctr">
                        <a:buNone/>
                      </a:pPr>
                      <a:r>
                        <a:rPr/>
                        <a:t>2%</a:t>
                      </a:r>
                    </a:p>
                  </a:txBody>
                </a:tc>
                <a:tc>
                  <a:txBody>
                    <a:bodyPr/>
                    <a:lstStyle/>
                    <a:p>
                      <a:pPr lvl="0" indent="0" marL="0" algn="ctr">
                        <a:buNone/>
                      </a:pPr>
                      <a:r>
                        <a:rPr/>
                        <a:t>10%</a:t>
                      </a:r>
                    </a:p>
                  </a:txBody>
                </a:tc>
              </a:tr>
              <a:tr h="0">
                <a:tc>
                  <a:txBody>
                    <a:bodyPr/>
                    <a:lstStyle/>
                    <a:p>
                      <a:pPr lvl="0" indent="0" marL="0">
                        <a:buNone/>
                      </a:pPr>
                      <a:r>
                        <a:rPr/>
                        <a:t>Low Muscle (25%)</a:t>
                      </a:r>
                    </a:p>
                  </a:txBody>
                </a:tc>
                <a:tc>
                  <a:txBody>
                    <a:bodyPr/>
                    <a:lstStyle/>
                    <a:p>
                      <a:pPr lvl="0" indent="0" marL="0" algn="ctr">
                        <a:buNone/>
                      </a:pPr>
                      <a:r>
                        <a:rPr/>
                        <a:t>10%</a:t>
                      </a:r>
                    </a:p>
                  </a:txBody>
                </a:tc>
                <a:tc>
                  <a:txBody>
                    <a:bodyPr/>
                    <a:lstStyle/>
                    <a:p>
                      <a:pPr lvl="0" indent="0" marL="0" algn="ctr">
                        <a:buNone/>
                      </a:pPr>
                      <a:r>
                        <a:rPr/>
                        <a:t>30%</a:t>
                      </a:r>
                    </a:p>
                  </a:txBody>
                </a:tc>
              </a:tr>
            </a:tbl>
          </a:graphicData>
        </a:graphic>
      </p:graphicFrame>
      <p:sp>
        <p:nvSpPr>
          <p:cNvPr id="1" name="TextBox 3"/>
          <p:cNvSpPr txBox="1"/>
          <p:nvPr>
            <p:ph idx="1"/>
          </p:nvPr>
        </p:nvSpPr>
        <p:spPr>
          <a:xfrm>
            <a:off x="279400" y="4419600"/>
            <a:ext cx="8547100" cy="508000"/>
          </a:xfrm>
          <a:prstGeom prst="rect">
            <a:avLst/>
          </a:prstGeom>
          <a:noFill/>
        </p:spPr>
        <p:txBody>
          <a:bodyPr/>
          <a:lstStyle/>
          <a:p>
            <a:pPr lvl="0" indent="0" marL="0" algn="ctr">
              <a:buNone/>
            </a:pPr>
            <a:r>
              <a:rPr/>
              <a:t>Risks of Death within 90 Days of Surgery</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Epidural Catheter for Pain Control</a:t>
            </a:r>
          </a:p>
        </p:txBody>
      </p:sp>
      <p:sp>
        <p:nvSpPr>
          <p:cNvPr id="3" name="Content Placeholder 2"/>
          <p:cNvSpPr>
            <a:spLocks noGrp="1"/>
          </p:cNvSpPr>
          <p:nvPr>
            <p:ph idx="1"/>
          </p:nvPr>
        </p:nvSpPr>
        <p:spPr/>
        <p:txBody>
          <a:bodyPr/>
          <a:lstStyle/>
          <a:p>
            <a:pPr lvl="0"/>
            <a:r>
              <a:rPr/>
              <a:t>Remains in place for 2-5 days</a:t>
            </a:r>
          </a:p>
          <a:p>
            <a:pPr lvl="0"/>
            <a:r>
              <a:rPr/>
              <a:t>Dosage can be adjusted as needed</a:t>
            </a:r>
          </a:p>
          <a:p>
            <a:pPr lvl="0"/>
            <a:r>
              <a:rPr/>
              <a:t>Can make it more difficult to urinate</a:t>
            </a:r>
          </a:p>
          <a:p>
            <a:pPr lvl="0"/>
            <a:r>
              <a:rPr/>
              <a:t>May require foley catheter in bladder</a:t>
            </a:r>
          </a:p>
          <a:p>
            <a:pPr lvl="0"/>
            <a:r>
              <a:rPr/>
              <a:t>Foley catheter removed after epidural removed</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 (2-4 days)</a:t>
            </a:r>
          </a:p>
        </p:txBody>
      </p:sp>
      <p:sp>
        <p:nvSpPr>
          <p:cNvPr id="3" name="Content Placeholder 2"/>
          <p:cNvSpPr>
            <a:spLocks noGrp="1"/>
          </p:cNvSpPr>
          <p:nvPr>
            <p:ph idx="1"/>
          </p:nvPr>
        </p:nvSpPr>
        <p:spPr/>
        <p:txBody>
          <a:bodyPr/>
          <a:lstStyle/>
          <a:p>
            <a:pPr lvl="0"/>
            <a:r>
              <a:rPr/>
              <a:t>Surgical ICU on 11th floor</a:t>
            </a:r>
          </a:p>
          <a:p>
            <a:pPr lvl="0"/>
            <a:r>
              <a:rPr/>
              <a:t>NG tube in nose to drain stomach and esophagus</a:t>
            </a:r>
          </a:p>
          <a:p>
            <a:pPr lvl="0"/>
            <a:r>
              <a:rPr/>
              <a:t>Catheter in bladder</a:t>
            </a:r>
          </a:p>
          <a:p>
            <a:pPr lvl="0"/>
            <a:r>
              <a:rPr/>
              <a:t>Chest tube right chest</a:t>
            </a:r>
          </a:p>
          <a:p>
            <a:pPr lvl="0"/>
            <a:r>
              <a:rPr/>
              <a:t>Abdominal drains (usually 2)</a:t>
            </a:r>
          </a:p>
          <a:p>
            <a:pPr lvl="0"/>
            <a:r>
              <a:rPr/>
              <a:t>Feeding jejunostomy (usually stays in 8 wks)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Intensive Care Unit (ICU)</a:t>
            </a:r>
          </a:p>
        </p:txBody>
      </p:sp>
      <p:sp>
        <p:nvSpPr>
          <p:cNvPr id="3" name="Content Placeholder 2"/>
          <p:cNvSpPr>
            <a:spLocks noGrp="1"/>
          </p:cNvSpPr>
          <p:nvPr>
            <p:ph idx="1"/>
          </p:nvPr>
        </p:nvSpPr>
        <p:spPr/>
        <p:txBody>
          <a:bodyPr/>
          <a:lstStyle/>
          <a:p>
            <a:pPr lvl="0"/>
            <a:r>
              <a:rPr/>
              <a:t>Bladder catheter removed → check that bladder empties properly</a:t>
            </a:r>
          </a:p>
          <a:p>
            <a:pPr lvl="0"/>
            <a:r>
              <a:rPr/>
              <a:t>Chest tube removed (day 2-4) → follow-up x-ray</a:t>
            </a:r>
          </a:p>
          <a:p>
            <a:pPr lvl="0"/>
            <a:r>
              <a:rPr/>
              <a:t>Fluid emptied from drains every few hours</a:t>
            </a:r>
          </a:p>
          <a:p>
            <a:pPr lvl="0"/>
            <a:r>
              <a:rPr/>
              <a:t>Start tube feedings by feeding</a:t>
            </a:r>
          </a:p>
          <a:p>
            <a:pPr lvl="0"/>
            <a:r>
              <a:rPr/>
              <a:t>Feeding jejunostomy (stays in 8 weeks)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Ward - 6Tower</a:t>
            </a:r>
          </a:p>
        </p:txBody>
      </p:sp>
      <p:sp>
        <p:nvSpPr>
          <p:cNvPr id="3" name="Content Placeholder 2"/>
          <p:cNvSpPr>
            <a:spLocks noGrp="1"/>
          </p:cNvSpPr>
          <p:nvPr>
            <p:ph idx="1"/>
          </p:nvPr>
        </p:nvSpPr>
        <p:spPr/>
        <p:txBody>
          <a:bodyPr/>
          <a:lstStyle/>
          <a:p>
            <a:pPr lvl="0"/>
            <a:r>
              <a:rPr/>
              <a:t>Jejunostomy feeds started</a:t>
            </a:r>
          </a:p>
          <a:p>
            <a:pPr lvl="0"/>
            <a:r>
              <a:rPr/>
              <a:t>Up in a chair most of the day</a:t>
            </a:r>
          </a:p>
          <a:p>
            <a:pPr lvl="0"/>
            <a:r>
              <a:rPr/>
              <a:t>Walking in the halls</a:t>
            </a:r>
          </a:p>
          <a:p>
            <a:pPr lvl="1"/>
            <a:r>
              <a:rPr/>
              <a:t>Start with assistance</a:t>
            </a:r>
          </a:p>
          <a:p>
            <a:pPr lvl="1"/>
            <a:r>
              <a:rPr/>
              <a:t>Improves lung function</a:t>
            </a:r>
          </a:p>
          <a:p>
            <a:pPr lvl="1"/>
            <a:r>
              <a:rPr/>
              <a:t>Prevents loss of muscle strength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a:t>
            </a:r>
          </a:p>
        </p:txBody>
      </p:sp>
      <p:sp>
        <p:nvSpPr>
          <p:cNvPr id="3" name="Content Placeholder 2"/>
          <p:cNvSpPr>
            <a:spLocks noGrp="1"/>
          </p:cNvSpPr>
          <p:nvPr>
            <p:ph idx="1"/>
          </p:nvPr>
        </p:nvSpPr>
        <p:spPr/>
        <p:txBody>
          <a:bodyPr/>
          <a:lstStyle/>
          <a:p>
            <a:pPr lvl="0" indent="0" marL="0">
              <a:buNone/>
            </a:pPr>
            <a:r>
              <a:rPr/>
              <a:t>Jejunostomy tube feeds</a:t>
            </a:r>
          </a:p>
          <a:p>
            <a:pPr lvl="0"/>
            <a:r>
              <a:rPr/>
              <a:t>Start continuous (24 hours)</a:t>
            </a:r>
          </a:p>
          <a:p>
            <a:pPr lvl="0"/>
            <a:r>
              <a:rPr/>
              <a:t>Convert to night-time only (16 hours)</a:t>
            </a:r>
          </a:p>
          <a:p>
            <a:pPr lvl="0" indent="0" marL="0">
              <a:buNone/>
            </a:pPr>
            <a:r>
              <a:rPr/>
              <a:t>Water administered through feeding tube</a:t>
            </a:r>
          </a:p>
          <a:p>
            <a:pPr lvl="0"/>
            <a:r>
              <a:rPr/>
              <a:t>Usually 8oz 4 times/day</a:t>
            </a:r>
          </a:p>
          <a:p>
            <a:pPr lvl="0"/>
            <a:r>
              <a:rPr/>
              <a:t>Important to prevent dehydration</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Tube</a:t>
            </a:r>
          </a:p>
        </p:txBody>
      </p:sp>
      <p:sp>
        <p:nvSpPr>
          <p:cNvPr id="3" name="Content Placeholder 2"/>
          <p:cNvSpPr>
            <a:spLocks noGrp="1"/>
          </p:cNvSpPr>
          <p:nvPr>
            <p:ph idx="1" sz="half"/>
          </p:nvPr>
        </p:nvSpPr>
        <p:spPr/>
        <p:txBody>
          <a:bodyPr/>
          <a:lstStyle/>
          <a:p>
            <a:pPr lvl="0"/>
            <a:r>
              <a:rPr/>
              <a:t>Nutrition to bypasses the esophagus and stomach</a:t>
            </a:r>
          </a:p>
          <a:p>
            <a:pPr lvl="0"/>
            <a:r>
              <a:rPr/>
              <a:t>Placed in small intestine</a:t>
            </a:r>
          </a:p>
          <a:p>
            <a:pPr lvl="0"/>
            <a:r>
              <a:rPr/>
              <a:t>Pump administers feedings slowly</a:t>
            </a:r>
          </a:p>
          <a:p>
            <a:pPr lvl="0"/>
            <a:r>
              <a:rPr/>
              <a:t>Feeding done at night</a:t>
            </a:r>
          </a:p>
        </p:txBody>
      </p:sp>
      <p:pic>
        <p:nvPicPr>
          <p:cNvPr descr="images/nutrition_jtube.png" id="0" name="Picture 1"/>
          <p:cNvPicPr>
            <a:picLocks noGrp="1" noChangeAspect="1"/>
          </p:cNvPicPr>
          <p:nvPr/>
        </p:nvPicPr>
        <p:blipFill>
          <a:blip r:embed="rId2"/>
          <a:stretch>
            <a:fillRect/>
          </a:stretch>
        </p:blipFill>
        <p:spPr bwMode="auto">
          <a:xfrm>
            <a:off x="4902200" y="1193800"/>
            <a:ext cx="3644900" cy="37338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Typical Regimen</a:t>
            </a:r>
          </a:p>
        </p:txBody>
      </p:sp>
      <p:sp>
        <p:nvSpPr>
          <p:cNvPr id="3" name="Content Placeholder 2"/>
          <p:cNvSpPr>
            <a:spLocks noGrp="1"/>
          </p:cNvSpPr>
          <p:nvPr>
            <p:ph idx="1"/>
          </p:nvPr>
        </p:nvSpPr>
        <p:spPr/>
        <p:txBody>
          <a:bodyPr/>
          <a:lstStyle/>
          <a:p>
            <a:pPr lvl="0"/>
            <a:r>
              <a:rPr/>
              <a:t>Jejunostomy tube feeds for 16 hours (6pm-10am)</a:t>
            </a:r>
          </a:p>
          <a:p>
            <a:pPr lvl="1"/>
            <a:r>
              <a:rPr/>
              <a:t>Men: 75mL/hour x 16 hours = 5 cartons</a:t>
            </a:r>
          </a:p>
          <a:p>
            <a:pPr lvl="1"/>
            <a:r>
              <a:rPr/>
              <a:t>Women: 60mL/hour x 16 hours = 4 cartons</a:t>
            </a:r>
          </a:p>
          <a:p>
            <a:pPr lvl="0"/>
            <a:r>
              <a:rPr/>
              <a:t>Water 240ml (8oz) via syringe 4x/day</a:t>
            </a:r>
          </a:p>
          <a:p>
            <a:pPr lvl="0" indent="0" marL="0">
              <a:buNone/>
            </a:pPr>
            <a:r>
              <a:rPr/>
              <a:t>Hospital nurses will teach use of the feeding tube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Feeds with Diabetes</a:t>
            </a:r>
          </a:p>
        </p:txBody>
      </p:sp>
      <p:sp>
        <p:nvSpPr>
          <p:cNvPr id="3" name="Content Placeholder 2"/>
          <p:cNvSpPr>
            <a:spLocks noGrp="1"/>
          </p:cNvSpPr>
          <p:nvPr>
            <p:ph idx="1"/>
          </p:nvPr>
        </p:nvSpPr>
        <p:spPr/>
        <p:txBody>
          <a:bodyPr/>
          <a:lstStyle/>
          <a:p>
            <a:pPr lvl="0" indent="0" marL="0">
              <a:buNone/>
            </a:pPr>
            <a:r>
              <a:rPr/>
              <a:t>Jejunostomy feedings elevate blood sugars</a:t>
            </a:r>
          </a:p>
          <a:p>
            <a:pPr lvl="0"/>
            <a:r>
              <a:rPr/>
              <a:t>Insulin may be required along with feeds</a:t>
            </a:r>
          </a:p>
          <a:p>
            <a:pPr lvl="0" indent="0" marL="0">
              <a:buNone/>
            </a:pPr>
            <a:r>
              <a:rPr/>
              <a:t>Typical Pattern for tube feeds</a:t>
            </a:r>
          </a:p>
          <a:p>
            <a:pPr lvl="0"/>
            <a:r>
              <a:rPr/>
              <a:t>Feeds run via pump from 6pm to 10am</a:t>
            </a:r>
          </a:p>
          <a:p>
            <a:pPr lvl="0"/>
            <a:r>
              <a:rPr/>
              <a:t>Insulin at 6pm (70/30 insulin)</a:t>
            </a:r>
          </a:p>
          <a:p>
            <a:pPr lvl="0"/>
            <a:r>
              <a:rPr/>
              <a:t>Insulin at Midnight (70/30 insulin)</a:t>
            </a:r>
          </a:p>
          <a:p>
            <a:pPr lvl="0"/>
            <a:r>
              <a:rPr/>
              <a:t>No insulin if tube feedings are not run</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Jejunostomy Video</a:t>
            </a:r>
          </a:p>
        </p:txBody>
      </p:sp>
      <p:sp>
        <p:nvSpPr>
          <p:cNvPr id="3" name="Content Placeholder 2"/>
          <p:cNvSpPr>
            <a:spLocks noGrp="1"/>
          </p:cNvSpPr>
          <p:nvPr>
            <p:ph idx="1" sz="half"/>
          </p:nvPr>
        </p:nvSpPr>
        <p:spPr/>
        <p:txBody>
          <a:bodyPr/>
          <a:lstStyle/>
          <a:p>
            <a:pPr lvl="0" indent="0" marL="0">
              <a:buNone/>
            </a:pPr>
            <a:r>
              <a:rPr/>
              <a:t>A video is available to help become familiar with the feeding jejunostomy</a:t>
            </a:r>
          </a:p>
        </p:txBody>
      </p:sp>
      <p:pic>
        <p:nvPicPr>
          <p:cNvPr descr="images/nutrition_jejunostomy_qrcode.png" id="0" name="Picture 1"/>
          <p:cNvPicPr>
            <a:picLocks noGrp="1" noChangeAspect="1"/>
          </p:cNvPicPr>
          <p:nvPr/>
        </p:nvPicPr>
        <p:blipFill>
          <a:blip r:embed="rId2"/>
          <a:stretch>
            <a:fillRect/>
          </a:stretch>
        </p:blipFill>
        <p:spPr bwMode="auto">
          <a:xfrm>
            <a:off x="5067300" y="1193800"/>
            <a:ext cx="3327400" cy="3733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Activity after Surgery</a:t>
            </a:r>
          </a:p>
        </p:txBody>
      </p:sp>
      <p:sp>
        <p:nvSpPr>
          <p:cNvPr id="3" name="Content Placeholder 2"/>
          <p:cNvSpPr>
            <a:spLocks noGrp="1"/>
          </p:cNvSpPr>
          <p:nvPr>
            <p:ph idx="1"/>
          </p:nvPr>
        </p:nvSpPr>
        <p:spPr/>
        <p:txBody>
          <a:bodyPr/>
          <a:lstStyle/>
          <a:p>
            <a:pPr lvl="0"/>
            <a:r>
              <a:rPr/>
              <a:t>Up in chair most of the day</a:t>
            </a:r>
          </a:p>
          <a:p>
            <a:pPr lvl="0"/>
            <a:r>
              <a:rPr/>
              <a:t>Walking with help from nurse/Physical Therapist</a:t>
            </a:r>
          </a:p>
          <a:p>
            <a:pPr lvl="0"/>
            <a:r>
              <a:rPr/>
              <a:t>Goals:</a:t>
            </a:r>
          </a:p>
          <a:p>
            <a:pPr lvl="1"/>
            <a:r>
              <a:rPr/>
              <a:t>Improve lung function</a:t>
            </a:r>
          </a:p>
          <a:p>
            <a:pPr lvl="1"/>
            <a:r>
              <a:rPr/>
              <a:t>Prevent muscle loss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Nasogastric (NG) Tube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Tube passed through nose into stomach</a:t>
                </a:r>
              </a:p>
              <a:p>
                <a:pPr lvl="0"/>
                <a:r>
                  <a:rPr/>
                  <a:t>Drains fluid from stomach</a:t>
                </a:r>
              </a:p>
              <a:p>
                <a:pPr lvl="0"/>
                <a:r>
                  <a:rPr/>
                  <a:t>Prevents vomiting</a:t>
                </a:r>
              </a:p>
              <a:p>
                <a:pPr lvl="0" indent="0" marL="0">
                  <a:buNone/>
                </a:pPr>
                <a:r>
                  <a:rPr/>
                  <a:t>Upper GI X-ray on 2nd or 3rd day after surgery</a:t>
                </a:r>
              </a:p>
              <a:p>
                <a:pPr lvl="0"/>
                <a:r>
                  <a:rPr/>
                  <a:t>If stomach empties well </a:t>
                </a:r>
                <a14:m>
                  <m:oMath xmlns:m="http://schemas.openxmlformats.org/officeDocument/2006/math">
                    <m:r>
                      <m:rPr>
                        <m:sty m:val="p"/>
                      </m:rPr>
                      <m:t>→</m:t>
                    </m:r>
                  </m:oMath>
                </a14:m>
                <a:r>
                  <a:rPr/>
                  <a:t> NG tube removed</a:t>
                </a:r>
              </a:p>
              <a:p>
                <a:pPr lvl="0"/>
                <a:r>
                  <a:rPr/>
                  <a:t>Otherwise, X-ray repeated 2-3 days later</a:t>
                </a:r>
              </a:p>
            </p:txBody>
          </p:sp>
        </mc:Choice>
      </mc:AlternateContent>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Swallowing Evaluation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Once NG tube has been removed:</a:t>
                </a:r>
              </a:p>
              <a:p>
                <a:pPr lvl="0" indent="0" marL="0">
                  <a:buNone/>
                </a:pPr>
                <a:r>
                  <a:rPr/>
                  <a:t>Modified barium swallow in radiology</a:t>
                </a:r>
              </a:p>
              <a:p>
                <a:pPr lvl="0"/>
                <a:r>
                  <a:rPr/>
                  <a:t>Drink a white chalky liquid (barium)</a:t>
                </a:r>
              </a:p>
              <a:p>
                <a:pPr lvl="0"/>
                <a:r>
                  <a:rPr/>
                  <a:t>Look for proper swallowing function</a:t>
                </a:r>
              </a:p>
              <a:p>
                <a:pPr lvl="0"/>
                <a:r>
                  <a:rPr/>
                  <a:t>80% of patients </a:t>
                </a:r>
                <a14:m>
                  <m:oMath xmlns:m="http://schemas.openxmlformats.org/officeDocument/2006/math">
                    <m:r>
                      <m:rPr>
                        <m:sty m:val="p"/>
                      </m:rPr>
                      <m:t>⇒</m:t>
                    </m:r>
                  </m:oMath>
                </a14:m>
                <a:r>
                  <a:rPr/>
                  <a:t> liquids started by mouth</a:t>
                </a:r>
              </a:p>
            </p:txBody>
          </p:sp>
        </mc:Choice>
      </mc:AlternateContent>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tube</a:t>
            </a:r>
          </a:p>
        </p:txBody>
      </p:sp>
      <p:sp>
        <p:nvSpPr>
          <p:cNvPr id="3" name="Content Placeholder 2"/>
          <p:cNvSpPr>
            <a:spLocks noGrp="1"/>
          </p:cNvSpPr>
          <p:nvPr>
            <p:ph idx="1"/>
          </p:nvPr>
        </p:nvSpPr>
        <p:spPr/>
        <p:txBody>
          <a:bodyPr/>
          <a:lstStyle/>
          <a:p>
            <a:pPr lvl="0" indent="0" marL="0">
              <a:buNone/>
            </a:pPr>
            <a:r>
              <a:rPr/>
              <a:t>Jejunostomy tube bypasses the stomach and injects tube feeding formula directly in to the small intestine (jejunum)</a:t>
            </a:r>
          </a:p>
          <a:p>
            <a:pPr lvl="0" indent="0" marL="0">
              <a:buNone/>
            </a:pPr>
            <a:r>
              <a:rPr/>
              <a:t>Pump administers the feedings slowly over hours</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feeding</a:t>
            </a:r>
          </a:p>
        </p:txBody>
      </p:sp>
      <p:sp>
        <p:nvSpPr>
          <p:cNvPr id="3" name="Content Placeholder 2"/>
          <p:cNvSpPr>
            <a:spLocks noGrp="1"/>
          </p:cNvSpPr>
          <p:nvPr>
            <p:ph idx="1"/>
          </p:nvPr>
        </p:nvSpPr>
        <p:spPr/>
        <p:txBody>
          <a:bodyPr/>
          <a:lstStyle/>
          <a:p>
            <a:pPr lvl="0"/>
            <a:r>
              <a:rPr/>
              <a:t>Start with continuous feeds (24 hours/day)</a:t>
            </a:r>
          </a:p>
          <a:p>
            <a:pPr lvl="0"/>
            <a:r>
              <a:rPr/>
              <a:t>Convert to nocturnal (night-time): 6pm to 10pm</a:t>
            </a:r>
          </a:p>
          <a:p>
            <a:pPr lvl="0" indent="0" marL="0">
              <a:buNone/>
            </a:pPr>
            <a:r>
              <a:rPr/>
              <a:t>The feeding bag holds only 4 cartons of feeds - May need to “top off’ bag after a few hours</a:t>
            </a:r>
          </a:p>
          <a:p>
            <a:pPr lvl="0" indent="0" marL="0">
              <a:buNone/>
            </a:pPr>
            <a:r>
              <a:rPr/>
              <a:t>Water through the tube - Important to prevent dehydration - 250mL (8 oz) 4 times per day</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Oral Intake at Home</a:t>
            </a:r>
          </a:p>
        </p:txBody>
      </p:sp>
      <p:sp>
        <p:nvSpPr>
          <p:cNvPr id="3" name="Content Placeholder 2"/>
          <p:cNvSpPr>
            <a:spLocks noGrp="1"/>
          </p:cNvSpPr>
          <p:nvPr>
            <p:ph idx="1"/>
          </p:nvPr>
        </p:nvSpPr>
        <p:spPr/>
        <p:txBody>
          <a:bodyPr/>
          <a:lstStyle/>
          <a:p>
            <a:pPr lvl="0" indent="0" marL="0">
              <a:buNone/>
            </a:pPr>
            <a:r>
              <a:rPr/>
              <a:t>Most are taking protein shakes when they go home</a:t>
            </a:r>
          </a:p>
          <a:p>
            <a:pPr lvl="0" indent="0" marL="0">
              <a:buNone/>
            </a:pPr>
            <a:r>
              <a:rPr/>
              <a:t>Protein shakes are started after tolerating water</a:t>
            </a:r>
            <a:br/>
          </a:p>
          <a:p>
            <a:pPr lvl="0"/>
            <a:r>
              <a:rPr/>
              <a:t>2 oz per hour to start</a:t>
            </a:r>
          </a:p>
          <a:p>
            <a:pPr lvl="0"/>
            <a:r>
              <a:rPr/>
              <a:t>4 oz per hour if 2oz are tolerated well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Drains and Tubes</a:t>
            </a:r>
          </a:p>
        </p:txBody>
      </p:sp>
      <p:sp>
        <p:nvSpPr>
          <p:cNvPr id="3" name="Content Placeholder 2"/>
          <p:cNvSpPr>
            <a:spLocks noGrp="1"/>
          </p:cNvSpPr>
          <p:nvPr>
            <p:ph idx="1"/>
          </p:nvPr>
        </p:nvSpPr>
        <p:spPr/>
        <p:txBody>
          <a:bodyPr/>
          <a:lstStyle/>
          <a:p>
            <a:pPr lvl="0" indent="0" marL="0">
              <a:buNone/>
            </a:pPr>
            <a:r>
              <a:rPr/>
              <a:t>Chest Tube (right side): Removed 4-6 days after surgery (depending upon output) Abdomiaal drains: Removed 4-7 days after surgery Discharge with 1 abdominal drain in 10% of cases Epidural catheter: Removed 4-5 days after surgery Bladder catheter: Removed after epicura catheter removed</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Discharge</a:t>
            </a:r>
          </a:p>
        </p:txBody>
      </p:sp>
      <p:sp>
        <p:nvSpPr>
          <p:cNvPr id="3" name="Content Placeholder 2"/>
          <p:cNvSpPr>
            <a:spLocks noGrp="1"/>
          </p:cNvSpPr>
          <p:nvPr>
            <p:ph idx="1"/>
          </p:nvPr>
        </p:nvSpPr>
        <p:spPr/>
        <p:txBody>
          <a:bodyPr/>
          <a:lstStyle/>
          <a:p>
            <a:pPr lvl="0" indent="0" marL="0">
              <a:buNone/>
            </a:pPr>
            <a:r>
              <a:rPr/>
              <a:t>Goal: ready to leave day #7 after surgery</a:t>
            </a:r>
          </a:p>
          <a:p>
            <a:pPr lvl="0"/>
            <a:r>
              <a:rPr/>
              <a:t>Night-time tube feedings (6pm to 10am)</a:t>
            </a:r>
          </a:p>
          <a:p>
            <a:pPr lvl="0"/>
            <a:r>
              <a:rPr/>
              <a:t>Nutrition by mouth (90% of patients)</a:t>
            </a:r>
          </a:p>
          <a:p>
            <a:pPr lvl="1"/>
            <a:r>
              <a:rPr/>
              <a:t>Protein shakes or water 4oz every 2 hours</a:t>
            </a:r>
          </a:p>
          <a:p>
            <a:pPr lvl="0"/>
            <a:r>
              <a:rPr/>
              <a:t>Water through tube 8oz four times per day</a:t>
            </a:r>
          </a:p>
          <a:p>
            <a:pPr lvl="0"/>
            <a:r>
              <a:rPr/>
              <a:t>Home care nursing (feeding tube teaching)</a:t>
            </a:r>
          </a:p>
          <a:p>
            <a:pPr lvl="0"/>
            <a:r>
              <a:rPr/>
              <a:t>Home infusion (tube feeding supplies)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 after Surgery</a:t>
            </a:r>
          </a:p>
        </p:txBody>
      </p:sp>
      <p:sp>
        <p:nvSpPr>
          <p:cNvPr id="3" name="Content Placeholder 2"/>
          <p:cNvSpPr>
            <a:spLocks noGrp="1"/>
          </p:cNvSpPr>
          <p:nvPr>
            <p:ph idx="1"/>
          </p:nvPr>
        </p:nvSpPr>
        <p:spPr/>
        <p:txBody>
          <a:bodyPr/>
          <a:lstStyle/>
          <a:p>
            <a:pPr lvl="0" indent="0" marL="0">
              <a:buNone/>
            </a:pPr>
            <a:r>
              <a:rPr/>
              <a:t>At discharge home:</a:t>
            </a:r>
          </a:p>
          <a:p>
            <a:pPr lvl="0"/>
            <a:r>
              <a:rPr/>
              <a:t>Protein shakes 4oz every 2 hrs</a:t>
            </a:r>
          </a:p>
          <a:p>
            <a:pPr lvl="0"/>
            <a:r>
              <a:rPr/>
              <a:t>Tube feeds 4-5 cans at night (6pm-10am)</a:t>
            </a:r>
          </a:p>
          <a:p>
            <a:pPr lvl="0" indent="0" marL="0">
              <a:buNone/>
            </a:pPr>
            <a:r>
              <a:rPr/>
              <a:t>10-12 Days: Increase protein shakes</a:t>
            </a:r>
          </a:p>
          <a:p>
            <a:pPr lvl="0"/>
            <a:r>
              <a:rPr/>
              <a:t>Tube feeds 3-4 cans at night</a:t>
            </a:r>
          </a:p>
          <a:p>
            <a:pPr lvl="0" indent="0" marL="0">
              <a:buNone/>
            </a:pPr>
            <a:r>
              <a:rPr/>
              <a:t>Three weeks: Post-esophagectomy Diet</a:t>
            </a:r>
          </a:p>
          <a:p>
            <a:pPr lvl="0" indent="0" marL="0">
              <a:buNone/>
            </a:pPr>
            <a:r>
              <a:rPr/>
              <a:t>8-12 weeks: Remove feeding tube (in office)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a:xfrm>
                <a:off x="284309" y="205979"/>
                <a:ext cx="8552330" cy="662317"/>
              </a:xfrm>
            </p:spPr>
            <p:txBody>
              <a:bodyPr/>
              <a:lstStyle/>
              <a:p>
                <a:pPr lvl="0" indent="0" marL="0">
                  <a:buNone/>
                </a:pPr>
                <a:r>
                  <a:rPr/>
                  <a:t>Transition from Tube Feeds </a:t>
                </a:r>
                <a14:m>
                  <m:oMath xmlns:m="http://schemas.openxmlformats.org/officeDocument/2006/math">
                    <m:r>
                      <m:rPr>
                        <m:sty m:val="p"/>
                      </m:rPr>
                      <m:t>→</m:t>
                    </m:r>
                  </m:oMath>
                </a14:m>
                <a:r>
                  <a:rPr/>
                  <a:t> Eating</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Dietitian will calculate daily protein goal</a:t>
                </a:r>
              </a:p>
              <a:p>
                <a:pPr lvl="0"/>
                <a:r>
                  <a:rPr/>
                  <a:t>Typically 60-75 grams protein/day</a:t>
                </a:r>
              </a:p>
              <a:p>
                <a:pPr lvl="0"/>
                <a:r>
                  <a:rPr/>
                  <a:t>Each carton of tube feeding has 15 grams</a:t>
                </a:r>
              </a:p>
              <a:p>
                <a:pPr lvl="1"/>
                <a:r>
                  <a:rPr/>
                  <a:t>75 grams protein = 5 cartons/night</a:t>
                </a:r>
              </a:p>
              <a:p>
                <a:pPr lvl="0"/>
                <a:r>
                  <a:rPr/>
                  <a:t>More intake by mouth </a:t>
                </a:r>
                <a14:m>
                  <m:oMath xmlns:m="http://schemas.openxmlformats.org/officeDocument/2006/math">
                    <m:r>
                      <m:rPr>
                        <m:sty m:val="p"/>
                      </m:rPr>
                      <m:t>→</m:t>
                    </m:r>
                  </m:oMath>
                </a14:m>
                <a:r>
                  <a:rPr/>
                  <a:t> tube feeds reduced</a:t>
                </a:r>
              </a:p>
              <a:p>
                <a:pPr lvl="0" indent="0" marL="0">
                  <a:buNone/>
                </a:pPr>
                <a:r>
                  <a:rPr/>
                  <a:t>Spread out protein during the day (20gm/meal)</a:t>
                </a:r>
              </a:p>
              <a:p>
                <a:pPr lvl="0"/>
                <a:r>
                  <a:rPr/>
                  <a:t>Three meals + 2-3 high-protein snacks</a:t>
                </a:r>
              </a:p>
            </p:txBody>
          </p:sp>
        </mc:Choice>
      </mc:AlternateContent>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Post-esophagectomy Diet</a:t>
            </a:r>
          </a:p>
        </p:txBody>
      </p:sp>
      <p:sp>
        <p:nvSpPr>
          <p:cNvPr id="3" name="Content Placeholder 2"/>
          <p:cNvSpPr>
            <a:spLocks noGrp="1"/>
          </p:cNvSpPr>
          <p:nvPr>
            <p:ph idx="1"/>
          </p:nvPr>
        </p:nvSpPr>
        <p:spPr/>
        <p:txBody>
          <a:bodyPr/>
          <a:lstStyle/>
          <a:p>
            <a:pPr lvl="0"/>
            <a:r>
              <a:rPr/>
              <a:t>Soft Consistency</a:t>
            </a:r>
          </a:p>
          <a:p>
            <a:pPr lvl="0"/>
            <a:r>
              <a:rPr/>
              <a:t>High Protein</a:t>
            </a:r>
          </a:p>
          <a:p>
            <a:pPr lvl="0"/>
            <a:r>
              <a:rPr/>
              <a:t>Avoid sugary liquids (can cause ‘dumping’)</a:t>
            </a:r>
          </a:p>
          <a:p>
            <a:pPr lvl="0"/>
            <a:r>
              <a:rPr/>
              <a:t>Avoid raw vegetables (and salads)</a:t>
            </a:r>
          </a:p>
          <a:p>
            <a:pPr lvl="0"/>
            <a:r>
              <a:rPr/>
              <a:t>Eating</a:t>
            </a:r>
          </a:p>
          <a:p>
            <a:pPr lvl="1"/>
            <a:r>
              <a:rPr/>
              <a:t>Small, frequent meals</a:t>
            </a:r>
          </a:p>
          <a:p>
            <a:pPr lvl="1"/>
            <a:r>
              <a:rPr/>
              <a:t>Sit up for 30-45 minutes after eating</a:t>
            </a:r>
          </a:p>
          <a:p>
            <a:pPr lvl="1"/>
            <a:r>
              <a:rPr/>
              <a:t>Avoid eating within 2 hours of bedtime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 - Pain</a:t>
            </a:r>
          </a:p>
        </p:txBody>
      </p:sp>
      <p:sp>
        <p:nvSpPr>
          <p:cNvPr id="3" name="Content Placeholder 2"/>
          <p:cNvSpPr>
            <a:spLocks noGrp="1"/>
          </p:cNvSpPr>
          <p:nvPr>
            <p:ph idx="1"/>
          </p:nvPr>
        </p:nvSpPr>
        <p:spPr/>
        <p:txBody>
          <a:bodyPr/>
          <a:lstStyle/>
          <a:p>
            <a:pPr lvl="0" indent="0" marL="0">
              <a:buNone/>
            </a:pPr>
            <a:r>
              <a:rPr/>
              <a:t>Acetaminophen (Tylenol) 1000mg 4x/day</a:t>
            </a:r>
          </a:p>
          <a:p>
            <a:pPr lvl="0" indent="0" marL="0">
              <a:buNone/>
            </a:pPr>
            <a:r>
              <a:rPr/>
              <a:t>Gabapentin 300mg 3 times/day</a:t>
            </a:r>
          </a:p>
          <a:p>
            <a:pPr lvl="0" indent="0" marL="0">
              <a:buNone/>
            </a:pPr>
            <a:r>
              <a:rPr/>
              <a:t>Oxycodone</a:t>
            </a:r>
          </a:p>
          <a:p>
            <a:pPr lvl="0"/>
            <a:r>
              <a:rPr/>
              <a:t>As needed in addition to Tylenol/gabapentin</a:t>
            </a:r>
          </a:p>
          <a:p>
            <a:pPr lvl="0"/>
            <a:r>
              <a:rPr/>
              <a:t>Will begin reducing dose at first postop visit</a:t>
            </a:r>
          </a:p>
          <a:p>
            <a:pPr lvl="0"/>
            <a:r>
              <a:rPr/>
              <a:t>Can usually discontinue by 4 weeks</a:t>
            </a:r>
          </a:p>
          <a:p>
            <a:pPr lvl="0"/>
            <a:r>
              <a:rPr/>
              <a:t>NO DRIVING WHILE ON OXYCODONE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Non-steroidals Anti Inflammatory (NSAID)</a:t>
            </a:r>
          </a:p>
        </p:txBody>
      </p:sp>
      <p:sp>
        <p:nvSpPr>
          <p:cNvPr id="3" name="Content Placeholder 2"/>
          <p:cNvSpPr>
            <a:spLocks noGrp="1"/>
          </p:cNvSpPr>
          <p:nvPr>
            <p:ph idx="1"/>
          </p:nvPr>
        </p:nvSpPr>
        <p:spPr/>
        <p:txBody>
          <a:bodyPr/>
          <a:lstStyle/>
          <a:p>
            <a:pPr lvl="0" indent="0" marL="0">
              <a:buNone/>
            </a:pPr>
            <a:r>
              <a:rPr/>
              <a:t>Non-steroidal anti-inflammatories (Celebrex)</a:t>
            </a:r>
          </a:p>
          <a:p>
            <a:pPr lvl="0"/>
            <a:r>
              <a:rPr/>
              <a:t>200 mg every 12 hours starting at 2 weeks</a:t>
            </a:r>
          </a:p>
          <a:p>
            <a:pPr lvl="0" indent="0" marL="0">
              <a:buNone/>
            </a:pPr>
            <a:r>
              <a:rPr/>
              <a:t>NO GOODY POWDERS OR BCs</a:t>
            </a:r>
          </a:p>
          <a:p>
            <a:pPr lvl="0"/>
            <a:r>
              <a:rPr/>
              <a:t>(Can cause permanent scarring at the surgery site)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Acid Blockers = Proton Pump Inhibitors</a:t>
            </a:r>
          </a:p>
        </p:txBody>
      </p:sp>
      <p:sp>
        <p:nvSpPr>
          <p:cNvPr id="3" name="Content Placeholder 2"/>
          <p:cNvSpPr>
            <a:spLocks noGrp="1"/>
          </p:cNvSpPr>
          <p:nvPr>
            <p:ph idx="1"/>
          </p:nvPr>
        </p:nvSpPr>
        <p:spPr/>
        <p:txBody>
          <a:bodyPr/>
          <a:lstStyle/>
          <a:p>
            <a:pPr lvl="0" indent="0" marL="0">
              <a:buNone/>
            </a:pPr>
            <a:r>
              <a:rPr/>
              <a:t>Examples include ompeprazole and pantoprazole</a:t>
            </a:r>
          </a:p>
          <a:p>
            <a:pPr lvl="0"/>
            <a:r>
              <a:rPr/>
              <a:t>Will stay on for at 1-2 years to prevent acid reflux</a:t>
            </a:r>
          </a:p>
          <a:p>
            <a:pPr lvl="0"/>
            <a:r>
              <a:rPr/>
              <a:t>Important in preventing scarring at anastomosis (new connection between esophagus and stomach)</a:t>
            </a:r>
          </a:p>
          <a:p>
            <a:pPr lvl="0"/>
            <a:r>
              <a:rPr/>
              <a:t>To administer through feeding tube, open capsule and resuspend beads in 60mL (2oz) of water</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Medicines at Home</a:t>
            </a:r>
          </a:p>
        </p:txBody>
      </p:sp>
      <p:sp>
        <p:nvSpPr>
          <p:cNvPr id="3" name="Content Placeholder 2"/>
          <p:cNvSpPr>
            <a:spLocks noGrp="1"/>
          </p:cNvSpPr>
          <p:nvPr>
            <p:ph idx="1"/>
          </p:nvPr>
        </p:nvSpPr>
        <p:spPr/>
        <p:txBody>
          <a:bodyPr/>
          <a:lstStyle/>
          <a:p>
            <a:pPr lvl="0" indent="0" marL="0">
              <a:buNone/>
            </a:pPr>
            <a:r>
              <a:rPr/>
              <a:t>Reglan – Helps stomach empty</a:t>
            </a:r>
          </a:p>
          <a:p>
            <a:pPr lvl="0"/>
            <a:r>
              <a:rPr/>
              <a:t>Will plan to stop after six weeks</a:t>
            </a:r>
          </a:p>
          <a:p>
            <a:pPr lvl="0"/>
            <a:r>
              <a:rPr/>
              <a:t>0.1% risk of tardive dyskinesia (nervous tic)</a:t>
            </a:r>
          </a:p>
          <a:p>
            <a:pPr lvl="0" indent="0" marL="0">
              <a:buNone/>
            </a:pPr>
            <a:r>
              <a:rPr/>
              <a:t>Remeron – Helps improve appetite</a:t>
            </a:r>
          </a:p>
          <a:p>
            <a:pPr lvl="0"/>
            <a:r>
              <a:rPr/>
              <a:t>Can cause vivid dreams</a:t>
            </a:r>
          </a:p>
          <a:p>
            <a:pPr lvl="0"/>
            <a:r>
              <a:rPr/>
              <a:t>Used for several weeks after surgery</a:t>
            </a:r>
          </a:p>
          <a:p>
            <a:pPr lvl="0"/>
            <a:r>
              <a:rPr/>
              <a:t>Will stop within first three months of surgery</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Metoprolol = Beta Blockers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Slows heart rate and lowers blood pressure</a:t>
                </a:r>
                <a:br/>
              </a:p>
              <a:p>
                <a:pPr lvl="0"/>
                <a:r>
                  <a:rPr/>
                  <a:t>Used to prevent rapid heart rate</a:t>
                </a:r>
              </a:p>
              <a:p>
                <a:pPr lvl="0"/>
                <a:r>
                  <a:rPr/>
                  <a:t>Patients not taking a beta blocker prior to surgery </a:t>
                </a:r>
                <a14:m>
                  <m:oMath xmlns:m="http://schemas.openxmlformats.org/officeDocument/2006/math">
                    <m:r>
                      <m:rPr>
                        <m:sty m:val="p"/>
                      </m:rPr>
                      <m:t>→</m:t>
                    </m:r>
                  </m:oMath>
                </a14:m>
                <a:r>
                  <a:rPr/>
                  <a:t> wean after after surgery</a:t>
                </a:r>
              </a:p>
              <a:p>
                <a:pPr lvl="0"/>
                <a:r>
                  <a:rPr/>
                  <a:t>Patients taking a beta blockerprior to surgery </a:t>
                </a:r>
                <a14:m>
                  <m:oMath xmlns:m="http://schemas.openxmlformats.org/officeDocument/2006/math">
                    <m:r>
                      <m:rPr>
                        <m:sty m:val="p"/>
                      </m:rPr>
                      <m:t>→</m:t>
                    </m:r>
                  </m:oMath>
                </a14:m>
                <a:r>
                  <a:rPr/>
                  <a:t> return to prior dose and drug after surgery</a:t>
                </a:r>
              </a:p>
            </p:txBody>
          </p:sp>
        </mc:Choice>
      </mc:AlternateContent>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15045" y="205979"/>
            <a:ext cx="8529278" cy="857250"/>
          </a:xfrm>
        </p:spPr>
        <p:txBody>
          <a:bodyPr/>
          <a:lstStyle/>
          <a:p>
            <a:pPr lvl="0" indent="0" marL="0">
              <a:buNone/>
            </a:pPr>
            <a:r>
              <a:rPr/>
              <a:t>Sleeping at Home</a:t>
            </a:r>
          </a:p>
        </p:txBody>
      </p:sp>
      <p:sp>
        <p:nvSpPr>
          <p:cNvPr id="3" name="Content Placeholder 2"/>
          <p:cNvSpPr>
            <a:spLocks noGrp="1"/>
          </p:cNvSpPr>
          <p:nvPr>
            <p:ph idx="1" sz="half"/>
          </p:nvPr>
        </p:nvSpPr>
        <p:spPr/>
        <p:txBody>
          <a:bodyPr/>
          <a:lstStyle/>
          <a:p>
            <a:pPr lvl="0" indent="0" marL="0">
              <a:buNone/>
            </a:pPr>
            <a:r>
              <a:rPr/>
              <a:t>Reflux can occur the first few weeks/months after surgery</a:t>
            </a:r>
          </a:p>
          <a:p>
            <a:pPr lvl="0" indent="0" marL="0">
              <a:buNone/>
            </a:pPr>
            <a:r>
              <a:rPr/>
              <a:t>This improves over the first few months</a:t>
            </a:r>
          </a:p>
          <a:p>
            <a:pPr lvl="0" indent="0" marL="0">
              <a:buNone/>
            </a:pPr>
            <a:r>
              <a:rPr/>
              <a:t>A wedge pillow can be helpful for sleep</a:t>
            </a:r>
          </a:p>
        </p:txBody>
      </p:sp>
      <p:pic>
        <p:nvPicPr>
          <p:cNvPr descr="images/wedge_pillow_comm.jpg" id="0" name="Picture 1"/>
          <p:cNvPicPr>
            <a:picLocks noGrp="1" noChangeAspect="1"/>
          </p:cNvPicPr>
          <p:nvPr/>
        </p:nvPicPr>
        <p:blipFill>
          <a:blip r:embed="rId2"/>
          <a:stretch>
            <a:fillRect/>
          </a:stretch>
        </p:blipFill>
        <p:spPr bwMode="auto">
          <a:xfrm>
            <a:off x="4864100" y="1193800"/>
            <a:ext cx="3733800" cy="37338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Follow Up Clinic Visit 7-10 days after Discharge</a:t>
            </a:r>
          </a:p>
        </p:txBody>
      </p:sp>
      <p:sp>
        <p:nvSpPr>
          <p:cNvPr id="3" name="Content Placeholder 2"/>
          <p:cNvSpPr>
            <a:spLocks noGrp="1"/>
          </p:cNvSpPr>
          <p:nvPr>
            <p:ph idx="1"/>
          </p:nvPr>
        </p:nvSpPr>
        <p:spPr/>
        <p:txBody>
          <a:bodyPr/>
          <a:lstStyle/>
          <a:p>
            <a:pPr lvl="0" indent="0" marL="0">
              <a:buNone/>
            </a:pPr>
            <a:r>
              <a:rPr/>
              <a:t>In-person clinic visit with Dr Salo or Kate Duncan</a:t>
            </a:r>
          </a:p>
          <a:p>
            <a:pPr lvl="0"/>
            <a:r>
              <a:rPr/>
              <a:t>Check surgical site</a:t>
            </a:r>
          </a:p>
          <a:p>
            <a:pPr lvl="0"/>
            <a:r>
              <a:rPr/>
              <a:t>Remove staples (if needed)</a:t>
            </a:r>
          </a:p>
          <a:p>
            <a:pPr lvl="0"/>
            <a:r>
              <a:rPr/>
              <a:t>Remove abdominal drains (if needed)</a:t>
            </a:r>
          </a:p>
          <a:p>
            <a:pPr lvl="0" indent="0" marL="0">
              <a:buNone/>
            </a:pPr>
            <a:r>
              <a:rPr/>
              <a:t>Meet with dietitian:</a:t>
            </a:r>
          </a:p>
          <a:p>
            <a:pPr lvl="0"/>
            <a:r>
              <a:rPr/>
              <a:t>Reduce tube feeds</a:t>
            </a:r>
          </a:p>
          <a:p>
            <a:pPr lvl="0"/>
            <a:r>
              <a:rPr/>
              <a:t>Advance diet by mouth</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Adjust Medicines after Surgery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Reglan: Discontinue 6 weeks after surgery Remeron: Discontinue 12 weeks after surgery Pain Medicines:</a:t>
                </a:r>
              </a:p>
              <a:p>
                <a:pPr lvl="0"/>
                <a:r>
                  <a:rPr/>
                  <a:t>Wean oxycodone within 6 weeks of surgery</a:t>
                </a:r>
              </a:p>
              <a:p>
                <a:pPr lvl="0"/>
                <a:r>
                  <a:rPr/>
                  <a:t>Discontinue gabapentin and acetaminophen (Tylenol) within 8 weeks</a:t>
                </a:r>
              </a:p>
              <a:p>
                <a:pPr lvl="0" indent="0" marL="0">
                  <a:buNone/>
                </a:pPr>
                <a:r>
                  <a:rPr/>
                  <a:t>Continue acid blockers (PPI) for at least 1 year</a:t>
                </a:r>
              </a:p>
              <a:p>
                <a:pPr lvl="0" indent="0" marL="0">
                  <a:buNone/>
                </a:pPr>
                <a:r>
                  <a:rPr/>
                  <a:t>Reduce metoprolol to once/day for 7 dayus </a:t>
                </a:r>
                <a14:m>
                  <m:oMath xmlns:m="http://schemas.openxmlformats.org/officeDocument/2006/math">
                    <m:r>
                      <m:rPr>
                        <m:sty m:val="p"/>
                      </m:rPr>
                      <m:t>→</m:t>
                    </m:r>
                  </m:oMath>
                </a14:m>
                <a:r>
                  <a:rPr/>
                  <a:t> discontinue</a:t>
                </a:r>
              </a:p>
            </p:txBody>
          </p:sp>
        </mc:Choice>
      </mc:AlternateContent>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Jejunostomy Removal</a:t>
            </a:r>
          </a:p>
        </p:txBody>
      </p:sp>
      <p:sp>
        <p:nvSpPr>
          <p:cNvPr id="3" name="Content Placeholder 2"/>
          <p:cNvSpPr>
            <a:spLocks noGrp="1"/>
          </p:cNvSpPr>
          <p:nvPr>
            <p:ph idx="1"/>
          </p:nvPr>
        </p:nvSpPr>
        <p:spPr/>
        <p:txBody>
          <a:bodyPr/>
          <a:lstStyle/>
          <a:p>
            <a:pPr lvl="0" indent="0" marL="0">
              <a:buNone/>
            </a:pPr>
            <a:r>
              <a:rPr/>
              <a:t>Jejunostomy tube is removed in the office once you can take in enough nutrients by mouth</a:t>
            </a:r>
          </a:p>
          <a:p>
            <a:pPr lvl="0" indent="0" marL="0">
              <a:buNone/>
            </a:pPr>
            <a:r>
              <a:rPr/>
              <a:t>Removal usually around 8 weeks after surgery</a:t>
            </a:r>
          </a:p>
          <a:p>
            <a:pPr lvl="0" indent="0" marL="0">
              <a:buNone/>
            </a:pPr>
            <a:r>
              <a:rPr/>
              <a:t>May take 5 minutes and some local anesthetic to loosen up the tube for removal.</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You may have difficulty absorbing some nutrients:</a:t>
            </a:r>
          </a:p>
          <a:p>
            <a:pPr lvl="0"/>
            <a:r>
              <a:rPr/>
              <a:t>Iron</a:t>
            </a:r>
          </a:p>
          <a:p>
            <a:pPr lvl="0"/>
            <a:r>
              <a:rPr/>
              <a:t>Vitamin B12</a:t>
            </a:r>
          </a:p>
          <a:p>
            <a:pPr lvl="0"/>
            <a:r>
              <a:rPr/>
              <a:t>Vitamin D</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Monitoring after Surgery</a:t>
            </a:r>
          </a:p>
        </p:txBody>
      </p:sp>
      <p:sp>
        <p:nvSpPr>
          <p:cNvPr id="3" name="Content Placeholder 2"/>
          <p:cNvSpPr>
            <a:spLocks noGrp="1"/>
          </p:cNvSpPr>
          <p:nvPr>
            <p:ph idx="1"/>
          </p:nvPr>
        </p:nvSpPr>
        <p:spPr/>
        <p:txBody>
          <a:bodyPr/>
          <a:lstStyle/>
          <a:p>
            <a:pPr lvl="0" indent="0" marL="0">
              <a:buNone/>
            </a:pPr>
            <a:r>
              <a:rPr/>
              <a:t>About 3 months after the jejunostomy tube is removed, we will check blood levels:</a:t>
            </a:r>
          </a:p>
          <a:p>
            <a:pPr lvl="0"/>
            <a:r>
              <a:rPr/>
              <a:t>Iron (ferritin)</a:t>
            </a:r>
          </a:p>
          <a:p>
            <a:pPr lvl="0"/>
            <a:r>
              <a:rPr/>
              <a:t>Vitamin B12</a:t>
            </a:r>
          </a:p>
          <a:p>
            <a:pPr lvl="0"/>
            <a:r>
              <a:rPr/>
              <a:t>Vitamin 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Nutritional Replacements after Surgery</a:t>
            </a:r>
          </a:p>
        </p:txBody>
      </p:sp>
      <p:sp>
        <p:nvSpPr>
          <p:cNvPr id="3" name="Content Placeholder 2"/>
          <p:cNvSpPr>
            <a:spLocks noGrp="1"/>
          </p:cNvSpPr>
          <p:nvPr>
            <p:ph idx="1"/>
          </p:nvPr>
        </p:nvSpPr>
        <p:spPr/>
        <p:txBody>
          <a:bodyPr/>
          <a:lstStyle/>
          <a:p>
            <a:pPr lvl="0" indent="0" marL="0">
              <a:buNone/>
            </a:pPr>
            <a:r>
              <a:rPr/>
              <a:t>Vitamin or iron replacements can be ordered by:</a:t>
            </a:r>
          </a:p>
          <a:p>
            <a:pPr lvl="0"/>
            <a:r>
              <a:rPr/>
              <a:t>Primary Care Provider (PCP)</a:t>
            </a:r>
          </a:p>
          <a:p>
            <a:pPr lvl="0"/>
            <a:r>
              <a:rPr/>
              <a:t>Medical Oncologist</a:t>
            </a:r>
          </a:p>
          <a:p>
            <a:pPr lvl="0"/>
            <a:r>
              <a:rPr/>
              <a:t>Surgeon</a:t>
            </a:r>
          </a:p>
          <a:p>
            <a:pPr lvl="0" indent="0" marL="0">
              <a:buNone/>
            </a:pPr>
            <a:r>
              <a:rPr/>
              <a:t>If levels are low</a:t>
            </a:r>
          </a:p>
          <a:p>
            <a:pPr lvl="0"/>
            <a:r>
              <a:rPr/>
              <a:t>Replacement</a:t>
            </a:r>
          </a:p>
          <a:p>
            <a:pPr lvl="0"/>
            <a:r>
              <a:rPr/>
              <a:t>Repeat testing in 3-6 months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Physicians</a:t>
            </a:r>
          </a:p>
        </p:txBody>
      </p:sp>
      <p:sp>
        <p:nvSpPr>
          <p:cNvPr id="3" name="Content Placeholder 2"/>
          <p:cNvSpPr>
            <a:spLocks noGrp="1"/>
          </p:cNvSpPr>
          <p:nvPr>
            <p:ph idx="1"/>
          </p:nvPr>
        </p:nvSpPr>
        <p:spPr/>
        <p:txBody>
          <a:bodyPr/>
          <a:lstStyle/>
          <a:p>
            <a:pPr lvl="0" indent="0" marL="0">
              <a:buNone/>
            </a:pPr>
            <a:r>
              <a:rPr/>
              <a:t>Primary Care Provider</a:t>
            </a:r>
          </a:p>
          <a:p>
            <a:pPr lvl="0" indent="0" marL="0">
              <a:buNone/>
            </a:pPr>
            <a:r>
              <a:rPr/>
              <a:t>Gastroenterologist</a:t>
            </a:r>
          </a:p>
          <a:p>
            <a:pPr lvl="0" indent="0" marL="0">
              <a:buNone/>
            </a:pPr>
            <a:r>
              <a:rPr/>
              <a:t>Medical Oncologist (chemotherapy)</a:t>
            </a:r>
          </a:p>
          <a:p>
            <a:pPr lvl="0" indent="0" marL="0">
              <a:buNone/>
            </a:pPr>
            <a:r>
              <a:rPr/>
              <a:t>Radiation Oncologist (radiation)</a:t>
            </a:r>
          </a:p>
          <a:p>
            <a:pPr lvl="0" indent="0" marL="0">
              <a:buNone/>
            </a:pPr>
            <a:r>
              <a:rPr/>
              <a:t>Surgeons</a:t>
            </a:r>
          </a:p>
          <a:p>
            <a:pPr lvl="0"/>
            <a:r>
              <a:rPr/>
              <a:t>Jonathan Salo MD</a:t>
            </a:r>
          </a:p>
          <a:p>
            <a:pPr lvl="0"/>
            <a:r>
              <a:rPr/>
              <a:t>Kelli Salter MD</a:t>
            </a:r>
          </a:p>
          <a:p>
            <a:pPr lvl="0"/>
            <a:r>
              <a:rPr/>
              <a:t>Michael Roach MD</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4309" y="205979"/>
            <a:ext cx="8552330" cy="662317"/>
          </a:xfrm>
        </p:spPr>
        <p:txBody>
          <a:bodyPr/>
          <a:lstStyle/>
          <a:p>
            <a:pPr lvl="0" indent="0" marL="0">
              <a:buNone/>
            </a:pPr>
            <a:r>
              <a:rPr/>
              <a:t>Team Members - Support Staff</a:t>
            </a:r>
          </a:p>
        </p:txBody>
      </p:sp>
      <p:sp>
        <p:nvSpPr>
          <p:cNvPr id="3" name="Content Placeholder 2"/>
          <p:cNvSpPr>
            <a:spLocks noGrp="1"/>
          </p:cNvSpPr>
          <p:nvPr>
            <p:ph idx="1"/>
          </p:nvPr>
        </p:nvSpPr>
        <p:spPr/>
        <p:txBody>
          <a:bodyPr/>
          <a:lstStyle/>
          <a:p>
            <a:pPr lvl="0" indent="0" marL="0">
              <a:buNone/>
            </a:pPr>
            <a:r>
              <a:rPr/>
              <a:t>Physician Assistant - Kate Duncan PA-C</a:t>
            </a:r>
          </a:p>
          <a:p>
            <a:pPr lvl="0" indent="0" marL="0">
              <a:buNone/>
            </a:pPr>
            <a:r>
              <a:rPr/>
              <a:t>Dietitian - Liz Koch</a:t>
            </a:r>
          </a:p>
          <a:p>
            <a:pPr lvl="0" indent="0" marL="0">
              <a:buNone/>
            </a:pPr>
            <a:r>
              <a:rPr/>
              <a:t>Nurses</a:t>
            </a:r>
          </a:p>
          <a:p>
            <a:pPr lvl="0"/>
            <a:r>
              <a:rPr/>
              <a:t>Matthew Carpenter RN</a:t>
            </a:r>
          </a:p>
          <a:p>
            <a:pPr lvl="0"/>
            <a:r>
              <a:rPr/>
              <a:t>Brandon Galloway LPN</a:t>
            </a:r>
          </a:p>
          <a:p>
            <a:pPr lvl="0" indent="0" marL="0">
              <a:buNone/>
            </a:pPr>
            <a:r>
              <a:rPr/>
              <a:t>Navigators: Laura Swift RN &amp; Lorna Espinal RN</a:t>
            </a:r>
          </a:p>
          <a:p>
            <a:pPr lvl="0" indent="0" marL="0">
              <a:buNone/>
            </a:pPr>
            <a:r>
              <a:rPr/>
              <a:t>Care Coordinator - Karen Julian-Martinez</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13868</TotalTime>
  <Words>42</Words>
  <Application>Microsoft Macintosh PowerPoint</Application>
  <PresentationFormat>On-screen Show (16:9)</PresentationFormat>
  <Paragraphs>13</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Lato Medium</vt:lpstr>
      <vt:lpstr>Lato Semibold</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Early-Stage Cancer of the Esophagus and GE Junction</dc:title>
  <dc:creator/>
  <cp:keywords/>
  <dcterms:created xsi:type="dcterms:W3CDTF">2026-09-22T00:40:31Z</dcterms:created>
  <dcterms:modified xsi:type="dcterms:W3CDTF">2026-09-22T00:40:31Z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