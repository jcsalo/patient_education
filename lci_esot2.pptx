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4" Type="http://schemas.openxmlformats.org/officeDocument/2006/relationships/viewProps" Target="viewProps.xml" /><Relationship Id="rId93" Type="http://schemas.openxmlformats.org/officeDocument/2006/relationships/presProps" Target="presProps.xml" /><Relationship Id="rId1" Type="http://schemas.openxmlformats.org/officeDocument/2006/relationships/slideMaster" Target="slideMasters/slideMaster1.xml" /><Relationship Id="rId96" Type="http://schemas.openxmlformats.org/officeDocument/2006/relationships/tableStyles" Target="tableStyles.xml" /><Relationship Id="rId9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Primary Surgery</a:t>
                </a:r>
              </a:p>
              <a:p>
                <a:pPr lvl="0"/>
                <a:r>
                  <a:rPr/>
                  <a:t>Superficial Tumors (T1) not completely removed by endoscopy</a:t>
                </a:r>
              </a:p>
              <a:p>
                <a:pPr lvl="0"/>
                <a:r>
                  <a:rPr/>
                  <a:t>Localized Tumors (T2 N0 M0)</a:t>
                </a:r>
              </a:p>
              <a:p>
                <a:pPr lvl="0"/>
                <a:r>
                  <a:rPr/>
                  <a:t>Surgery scheduled after medical evaluation</a:t>
                </a:r>
              </a:p>
              <a:p>
                <a:pPr lvl="0" indent="0" marL="0">
                  <a:buNone/>
                </a:pPr>
                <a:r>
                  <a:rPr/>
                  <a:t>Preoperative Therapy </a:t>
                </a:r>
                <a14:m>
                  <m:oMath xmlns:m="http://schemas.openxmlformats.org/officeDocument/2006/math">
                    <m:r>
                      <m:rPr>
                        <m:sty m:val="p"/>
                      </m:rPr>
                      <m:t>→</m:t>
                    </m:r>
                  </m:oMath>
                </a14:m>
                <a:r>
                  <a:rPr/>
                  <a:t> Surgery</a:t>
                </a:r>
              </a:p>
              <a:p>
                <a:pPr lvl="0"/>
                <a:r>
                  <a:rPr/>
                  <a:t>Locally Advanced (T3 Nx M0)</a:t>
                </a:r>
              </a:p>
              <a:p>
                <a:pPr lvl="0"/>
                <a:r>
                  <a:rPr/>
                  <a:t>Surgery scheduled after</a:t>
                </a:r>
              </a:p>
              <a:p>
                <a:pPr lvl="1"/>
                <a:r>
                  <a:rPr/>
                  <a:t>Recovery from preoperative therapy</a:t>
                </a:r>
              </a:p>
              <a:p>
                <a:pPr lvl="1"/>
                <a:r>
                  <a:rPr/>
                  <a:t>Restaging scans (CT or PET)</a:t>
                </a:r>
              </a:p>
              <a:p>
                <a:pPr lvl="1"/>
                <a:r>
                  <a:rPr/>
                  <a:t>Medical evaluation</a:t>
                </a:r>
              </a:p>
            </p:txBody>
          </p:sp>
        </mc:Choice>
      </mc:AlternateContent>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 and side effects</a:t>
            </a:r>
          </a:p>
          <a:p>
            <a:pPr lvl="0" indent="0" marL="0">
              <a:buNone/>
            </a:pPr>
            <a:r>
              <a:rPr/>
              <a:t>Radiation Oncology - Monitor radiation and side effects</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In-person preop visit with Kate Duncan and Liz Koch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Kelli Salter MD</a:t>
            </a:r>
          </a:p>
          <a:p>
            <a:pPr lvl="0"/>
            <a:r>
              <a:rPr/>
              <a:t>Michael Roach MD</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2026-09-21T23:40:28Z</dcterms:created>
  <dcterms:modified xsi:type="dcterms:W3CDTF">2026-09-21T23:40:28Z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