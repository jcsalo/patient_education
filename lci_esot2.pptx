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1" Type="http://schemas.openxmlformats.org/officeDocument/2006/relationships/viewProps" Target="viewProps.xml" /><Relationship Id="rId90" Type="http://schemas.openxmlformats.org/officeDocument/2006/relationships/presProps" Target="presProps.xml" /><Relationship Id="rId1" Type="http://schemas.openxmlformats.org/officeDocument/2006/relationships/slideMaster" Target="slideMasters/slideMaster1.xml" /><Relationship Id="rId93" Type="http://schemas.openxmlformats.org/officeDocument/2006/relationships/tableStyles" Target="tableStyles.xml" /><Relationship Id="rId9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2.png" /><Relationship Id="rId2" Type="http://schemas.openxmlformats.org/officeDocument/2006/relationships/image" Target="../media/image31.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jp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Esophageal Cancer</a:t>
            </a:r>
          </a:p>
        </p:txBody>
      </p:sp>
      <p:sp>
        <p:nvSpPr>
          <p:cNvPr id="3" name="Content Placeholder 2"/>
          <p:cNvSpPr>
            <a:spLocks noGrp="1"/>
          </p:cNvSpPr>
          <p:nvPr>
            <p:ph idx="1"/>
          </p:nvPr>
        </p:nvSpPr>
        <p:spPr/>
        <p:txBody>
          <a:bodyPr/>
          <a:lstStyle/>
          <a:p>
            <a:pPr lvl="0" indent="0" marL="0">
              <a:buNone/>
            </a:pPr>
            <a:r>
              <a:rPr/>
              <a:t>Surgery for esophageal cancer is performed for:</a:t>
            </a:r>
          </a:p>
          <a:p>
            <a:pPr lvl="0"/>
            <a:r>
              <a:rPr/>
              <a:t>Superficial Tumors (T1) not removed by endoscopy</a:t>
            </a:r>
          </a:p>
          <a:p>
            <a:pPr lvl="0"/>
            <a:r>
              <a:rPr/>
              <a:t>Localized Tumors (T2 N0 M0)</a:t>
            </a:r>
          </a:p>
          <a:p>
            <a:pPr lvl="0"/>
            <a:r>
              <a:rPr/>
              <a:t>Locally Advanced (T3 M0) after preop therapy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1/3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MIE_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95% of cases</a:t>
            </a:r>
          </a:p>
          <a:p>
            <a:pPr lvl="0" indent="0" marL="0">
              <a:buNone/>
            </a:pPr>
            <a:r>
              <a:rPr/>
              <a:t>In some cases, an open approach is still necessary.</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Esophagectomy</a:t>
            </a:r>
          </a:p>
        </p:txBody>
      </p:sp>
      <p:pic>
        <p:nvPicPr>
          <p:cNvPr descr="images/mie_abd.png" id="0" name="Picture 1"/>
          <p:cNvPicPr>
            <a:picLocks noGrp="1" noChangeAspect="1"/>
          </p:cNvPicPr>
          <p:nvPr/>
        </p:nvPicPr>
        <p:blipFill>
          <a:blip r:embed="rId2"/>
          <a:stretch>
            <a:fillRect/>
          </a:stretch>
        </p:blipFill>
        <p:spPr bwMode="auto">
          <a:xfrm>
            <a:off x="304800" y="1498600"/>
            <a:ext cx="4178300" cy="3136900"/>
          </a:xfrm>
          <a:prstGeom prst="rect">
            <a:avLst/>
          </a:prstGeom>
          <a:noFill/>
          <a:ln w="9525">
            <a:noFill/>
            <a:headEnd/>
            <a:tailEnd/>
          </a:ln>
        </p:spPr>
      </p:pic>
      <p:pic>
        <p:nvPicPr>
          <p:cNvPr descr="images/mie_chest.png" id="0" name="Picture 1"/>
          <p:cNvPicPr>
            <a:picLocks noGrp="1" noChangeAspect="1"/>
          </p:cNvPicPr>
          <p:nvPr/>
        </p:nvPicPr>
        <p:blipFill>
          <a:blip r:embed="rId3"/>
          <a:stretch>
            <a:fillRect/>
          </a:stretch>
        </p:blipFill>
        <p:spPr bwMode="auto">
          <a:xfrm>
            <a:off x="4635500" y="1485900"/>
            <a:ext cx="4191000" cy="31496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Prior to Surgery</a:t>
            </a:r>
          </a:p>
        </p:txBody>
      </p:sp>
      <p:sp>
        <p:nvSpPr>
          <p:cNvPr id="3" name="Content Placeholder 2"/>
          <p:cNvSpPr>
            <a:spLocks noGrp="1"/>
          </p:cNvSpPr>
          <p:nvPr>
            <p:ph idx="1"/>
          </p:nvPr>
        </p:nvSpPr>
        <p:spPr/>
        <p:txBody>
          <a:bodyPr/>
          <a:lstStyle/>
          <a:p>
            <a:pPr lvl="0"/>
            <a:r>
              <a:rPr/>
              <a:t>Clear liquids for 24 hours prior to surgery</a:t>
            </a:r>
          </a:p>
          <a:p>
            <a:pPr lvl="0"/>
            <a:r>
              <a:rPr/>
              <a:t>Check with Pre-op nurse regarding medicines day prior to surgery</a:t>
            </a:r>
          </a:p>
          <a:p>
            <a:pPr lvl="0"/>
            <a:r>
              <a:rPr/>
              <a:t>No tube feedings the night before surgery</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of Surgery</a:t>
            </a:r>
          </a:p>
        </p:txBody>
      </p:sp>
      <p:sp>
        <p:nvSpPr>
          <p:cNvPr id="3" name="Content Placeholder 2"/>
          <p:cNvSpPr>
            <a:spLocks noGrp="1"/>
          </p:cNvSpPr>
          <p:nvPr>
            <p:ph idx="1"/>
          </p:nvPr>
        </p:nvSpPr>
        <p:spPr/>
        <p:txBody>
          <a:bodyPr/>
          <a:lstStyle/>
          <a:p>
            <a:pPr lvl="0"/>
            <a:r>
              <a:rPr/>
              <a:t>Arrive at 5am – nothing to eat or drink after midnight.</a:t>
            </a:r>
          </a:p>
          <a:p>
            <a:pPr lvl="0"/>
            <a:r>
              <a:rPr/>
              <a:t>Medicines OK w/ a sip of water</a:t>
            </a:r>
          </a:p>
          <a:p>
            <a:pPr lvl="0"/>
            <a:r>
              <a:rPr/>
              <a:t>sip of black coffee but </a:t>
            </a:r>
            <a:r>
              <a:rPr b="1"/>
              <a:t>no cream</a:t>
            </a:r>
            <a:r>
              <a:rPr/>
              <a:t>.</a:t>
            </a:r>
          </a:p>
          <a:p>
            <a:pPr lvl="0"/>
            <a:r>
              <a:rPr/>
              <a:t>Surgery will be cancelled if you have cream/milk</a:t>
            </a:r>
          </a:p>
          <a:p>
            <a:pPr lvl="0"/>
            <a:r>
              <a:rPr/>
              <a:t>Waiting room for family and friends on 5th floor</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Jejunostomy feeds started</a:t>
            </a:r>
          </a:p>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a:t>
            </a:r>
          </a:p>
        </p:txBody>
      </p:sp>
      <p:sp>
        <p:nvSpPr>
          <p:cNvPr id="3" name="Content Placeholder 2"/>
          <p:cNvSpPr>
            <a:spLocks noGrp="1"/>
          </p:cNvSpPr>
          <p:nvPr>
            <p:ph idx="1"/>
          </p:nvPr>
        </p:nvSpPr>
        <p:spPr/>
        <p:txBody>
          <a:bodyPr/>
          <a:lstStyle/>
          <a:p>
            <a:pPr lvl="0" indent="0" marL="0">
              <a:buNone/>
            </a:pPr>
            <a:r>
              <a:rPr/>
              <a:t>Jejunostomy tube feeds</a:t>
            </a:r>
          </a:p>
          <a:p>
            <a:pPr lvl="0"/>
            <a:r>
              <a:rPr/>
              <a:t>Start continuous (24 hours)</a:t>
            </a:r>
          </a:p>
          <a:p>
            <a:pPr lvl="0"/>
            <a:r>
              <a:rPr/>
              <a:t>Convert to night-time only (16 hours)</a:t>
            </a:r>
          </a:p>
          <a:p>
            <a:pPr lvl="0" indent="0" marL="0">
              <a:buNone/>
            </a:pPr>
            <a:r>
              <a:rPr/>
              <a:t>Water administered through feeding tube</a:t>
            </a:r>
          </a:p>
          <a:p>
            <a:pPr lvl="0"/>
            <a:r>
              <a:rPr/>
              <a:t>Usually 8oz 4 times/day</a:t>
            </a:r>
          </a:p>
          <a:p>
            <a:pPr lvl="0"/>
            <a:r>
              <a:rPr/>
              <a:t>Important to prevent dehydration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70% of patients </a:t>
                </a:r>
                <a14:m>
                  <m:oMath xmlns:m="http://schemas.openxmlformats.org/officeDocument/2006/math">
                    <m:r>
                      <m:rPr>
                        <m:sty m:val="p"/>
                      </m:rPr>
                      <m:t>⇒</m:t>
                    </m:r>
                  </m:oMath>
                </a14:m>
                <a:r>
                  <a:rPr/>
                  <a:t> liquids started by mouth</a:t>
                </a:r>
              </a:p>
            </p:txBody>
          </p:sp>
        </mc:Choice>
      </mc:AlternateContent>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#6/7 after surgery</a:t>
            </a:r>
          </a:p>
          <a:p>
            <a:pPr lvl="0"/>
            <a:r>
              <a:rPr/>
              <a:t>Night-time tube feedings (6pm to 10am)</a:t>
            </a:r>
          </a:p>
          <a:p>
            <a:pPr lvl="0"/>
            <a:r>
              <a:rPr/>
              <a:t>Nutrition by mouth (70% of patients)</a:t>
            </a:r>
          </a:p>
          <a:p>
            <a:pPr lvl="1"/>
            <a:r>
              <a:rPr/>
              <a:t>1 oz of water per hour by mouth OR</a:t>
            </a:r>
          </a:p>
          <a:p>
            <a:pPr lvl="1"/>
            <a:r>
              <a:rPr/>
              <a:t>Protein shakes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Postoperative Visit at 7-10 Days</a:t>
            </a:r>
          </a:p>
        </p:txBody>
      </p:sp>
      <p:sp>
        <p:nvSpPr>
          <p:cNvPr id="3" name="Content Placeholder 2"/>
          <p:cNvSpPr>
            <a:spLocks noGrp="1"/>
          </p:cNvSpPr>
          <p:nvPr>
            <p:ph idx="1"/>
          </p:nvPr>
        </p:nvSpPr>
        <p:spPr/>
        <p:txBody>
          <a:bodyPr/>
          <a:lstStyle/>
          <a:p>
            <a:pPr lvl="0" indent="0" marL="0">
              <a:buNone/>
            </a:pPr>
            <a:r>
              <a:rPr/>
              <a:t>Check surgical site</a:t>
            </a:r>
          </a:p>
          <a:p>
            <a:pPr lvl="0"/>
            <a:r>
              <a:rPr/>
              <a:t>Remove staples (if needed)</a:t>
            </a:r>
          </a:p>
          <a:p>
            <a:pPr lvl="0" indent="0" marL="0">
              <a:buNone/>
            </a:pPr>
            <a:r>
              <a:rPr/>
              <a:t>Adjust medicines as needed</a:t>
            </a:r>
          </a:p>
          <a:p>
            <a:pPr lvl="0"/>
            <a:r>
              <a:rPr/>
              <a:t>Insulin (for diabetic patients on insulin)</a:t>
            </a:r>
          </a:p>
          <a:p>
            <a:pPr lvl="0"/>
            <a:r>
              <a:rPr/>
              <a:t>Reduce beta blocker medicines</a:t>
            </a:r>
          </a:p>
          <a:p>
            <a:pPr lvl="0" indent="0" marL="0">
              <a:buNone/>
            </a:pPr>
            <a:r>
              <a:rPr/>
              <a:t>Advance diet</a:t>
            </a:r>
          </a:p>
          <a:p>
            <a:pPr lvl="0" indent="0" marL="0">
              <a:buNone/>
            </a:pPr>
            <a:r>
              <a:rPr/>
              <a:t>Reduce tube feeds</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After surgery</a:t>
            </a:r>
          </a:p>
        </p:txBody>
      </p:sp>
      <p:sp>
        <p:nvSpPr>
          <p:cNvPr id="3" name="Content Placeholder 2"/>
          <p:cNvSpPr>
            <a:spLocks noGrp="1"/>
          </p:cNvSpPr>
          <p:nvPr>
            <p:ph idx="1"/>
          </p:nvPr>
        </p:nvSpPr>
        <p:spPr/>
        <p:txBody>
          <a:bodyPr/>
          <a:lstStyle/>
          <a:p>
            <a:pPr lvl="0" indent="0" marL="0">
              <a:buNone/>
            </a:pPr>
            <a:r>
              <a:rPr/>
              <a:t>Wean off medicines added after surgery</a:t>
            </a:r>
          </a:p>
          <a:p>
            <a:pPr lvl="0"/>
            <a:r>
              <a:rPr/>
              <a:t>Pain medicines</a:t>
            </a:r>
          </a:p>
          <a:p>
            <a:pPr lvl="0"/>
            <a:r>
              <a:rPr/>
              <a:t>Beta-blockers</a:t>
            </a:r>
          </a:p>
          <a:p>
            <a:pPr lvl="0"/>
            <a:r>
              <a:rPr/>
              <a:t>Reglan and Remeron</a:t>
            </a:r>
          </a:p>
          <a:p>
            <a:pPr lvl="0" indent="0" marL="0">
              <a:buNone/>
            </a:pPr>
            <a:r>
              <a:rPr/>
              <a:t>Continue acid blockers for at least 1 year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a:t>
            </a:r>
          </a:p>
          <a:p>
            <a:pPr lvl="0" indent="0" marL="0">
              <a:buNone/>
            </a:pPr>
            <a:r>
              <a:rPr/>
              <a:t>May take 30 minutes and some local anesthetic to loosen up the tube for removal.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Physicians</a:t>
            </a:r>
          </a:p>
        </p:txBody>
      </p:sp>
      <p:sp>
        <p:nvSpPr>
          <p:cNvPr id="3" name="Content Placeholder 2"/>
          <p:cNvSpPr>
            <a:spLocks noGrp="1"/>
          </p:cNvSpPr>
          <p:nvPr>
            <p:ph idx="1"/>
          </p:nvPr>
        </p:nvSpPr>
        <p:spPr/>
        <p:txBody>
          <a:bodyPr/>
          <a:lstStyle/>
          <a:p>
            <a:pPr lvl="0" indent="0" marL="0">
              <a:buNone/>
            </a:pPr>
            <a:r>
              <a:rPr/>
              <a:t>Primary Care Provider</a:t>
            </a:r>
          </a:p>
          <a:p>
            <a:pPr lvl="0" indent="0" marL="0">
              <a:buNone/>
            </a:pPr>
            <a:r>
              <a:rPr/>
              <a:t>Gastroenterologist</a:t>
            </a:r>
          </a:p>
          <a:p>
            <a:pPr lvl="0" indent="0" marL="0">
              <a:buNone/>
            </a:pPr>
            <a:r>
              <a:rPr/>
              <a:t>Medical Oncologist (chemotherapy)</a:t>
            </a:r>
          </a:p>
          <a:p>
            <a:pPr lvl="0" indent="0" marL="0">
              <a:buNone/>
            </a:pPr>
            <a:r>
              <a:rPr/>
              <a:t>Radiation Oncologist (radiation)</a:t>
            </a:r>
          </a:p>
          <a:p>
            <a:pPr lvl="0" indent="0" marL="0">
              <a:buNone/>
            </a:pPr>
            <a:r>
              <a:rPr/>
              <a:t>Surgeons</a:t>
            </a:r>
          </a:p>
          <a:p>
            <a:pPr lvl="0"/>
            <a:r>
              <a:rPr/>
              <a:t>Jonathan Salo MD</a:t>
            </a:r>
          </a:p>
          <a:p>
            <a:pPr lvl="0"/>
            <a:r>
              <a:rPr/>
              <a:t>Jeffrey Hagen MD</a:t>
            </a:r>
          </a:p>
          <a:p>
            <a:pPr lvl="0"/>
            <a:r>
              <a:rPr/>
              <a:t>Michael Roach MD</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Support Staff</a:t>
            </a:r>
          </a:p>
        </p:txBody>
      </p:sp>
      <p:sp>
        <p:nvSpPr>
          <p:cNvPr id="3" name="Content Placeholder 2"/>
          <p:cNvSpPr>
            <a:spLocks noGrp="1"/>
          </p:cNvSpPr>
          <p:nvPr>
            <p:ph idx="1"/>
          </p:nvPr>
        </p:nvSpPr>
        <p:spPr/>
        <p:txBody>
          <a:bodyPr/>
          <a:lstStyle/>
          <a:p>
            <a:pPr lvl="0" indent="0" marL="0">
              <a:buNone/>
            </a:pPr>
            <a:r>
              <a:rPr/>
              <a:t>Physician Assistant - Kate Duncan PA-C</a:t>
            </a:r>
          </a:p>
          <a:p>
            <a:pPr lvl="0" indent="0" marL="0">
              <a:buNone/>
            </a:pPr>
            <a:r>
              <a:rPr/>
              <a:t>Dietitian - Liz Koch</a:t>
            </a:r>
          </a:p>
          <a:p>
            <a:pPr lvl="0" indent="0" marL="0">
              <a:buNone/>
            </a:pPr>
            <a:r>
              <a:rPr/>
              <a:t>Nurses</a:t>
            </a:r>
          </a:p>
          <a:p>
            <a:pPr lvl="0"/>
            <a:r>
              <a:rPr/>
              <a:t>Matthew Carpenter RN</a:t>
            </a:r>
          </a:p>
          <a:p>
            <a:pPr lvl="0"/>
            <a:r>
              <a:rPr/>
              <a:t>Brandon Galloway LPN</a:t>
            </a:r>
          </a:p>
          <a:p>
            <a:pPr lvl="0" indent="0" marL="0">
              <a:buNone/>
            </a:pPr>
            <a:r>
              <a:rPr/>
              <a:t>Navigators</a:t>
            </a:r>
          </a:p>
          <a:p>
            <a:pPr lvl="0"/>
            <a:r>
              <a:rPr/>
              <a:t>Laura Swift</a:t>
            </a:r>
          </a:p>
          <a:p>
            <a:pPr lvl="0"/>
            <a:r>
              <a:rPr/>
              <a:t>Lorna Espinal</a:t>
            </a:r>
          </a:p>
          <a:p>
            <a:pPr lvl="0" indent="0" marL="0">
              <a:buNone/>
            </a:pPr>
            <a:r>
              <a:rPr/>
              <a:t>Care Coordinator - Karen Julian-Martinez</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2026-07-24T01:08:22Z</dcterms:created>
  <dcterms:modified xsi:type="dcterms:W3CDTF">2026-07-24T01:08:22Z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