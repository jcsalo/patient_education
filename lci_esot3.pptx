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4" Type="http://schemas.openxmlformats.org/officeDocument/2006/relationships/slide" Target="slides/slide103.xml" /><Relationship Id="rId105" Type="http://schemas.openxmlformats.org/officeDocument/2006/relationships/slide" Target="slides/slide104.xml" /><Relationship Id="rId106" Type="http://schemas.openxmlformats.org/officeDocument/2006/relationships/slide" Target="slides/slide105.xml" /><Relationship Id="rId107" Type="http://schemas.openxmlformats.org/officeDocument/2006/relationships/slide" Target="slides/slide106.xml" /><Relationship Id="rId108" Type="http://schemas.openxmlformats.org/officeDocument/2006/relationships/slide" Target="slides/slide107.xml" /><Relationship Id="rId109" Type="http://schemas.openxmlformats.org/officeDocument/2006/relationships/slide" Target="slides/slide108.xml" /><Relationship Id="rId110" Type="http://schemas.openxmlformats.org/officeDocument/2006/relationships/slide" Target="slides/slide109.xml" /><Relationship Id="rId111" Type="http://schemas.openxmlformats.org/officeDocument/2006/relationships/slide" Target="slides/slide110.xml" /><Relationship Id="rId112" Type="http://schemas.openxmlformats.org/officeDocument/2006/relationships/slide" Target="slides/slide111.xml" /><Relationship Id="rId113" Type="http://schemas.openxmlformats.org/officeDocument/2006/relationships/slide" Target="slides/slide112.xml" /><Relationship Id="rId114" Type="http://schemas.openxmlformats.org/officeDocument/2006/relationships/slide" Target="slides/slide113.xml" /><Relationship Id="rId115" Type="http://schemas.openxmlformats.org/officeDocument/2006/relationships/slide" Target="slides/slide114.xml" /><Relationship Id="rId116" Type="http://schemas.openxmlformats.org/officeDocument/2006/relationships/slide" Target="slides/slide115.xml" /><Relationship Id="rId117" Type="http://schemas.openxmlformats.org/officeDocument/2006/relationships/slide" Target="slides/slide116.xml" /><Relationship Id="rId118" Type="http://schemas.openxmlformats.org/officeDocument/2006/relationships/slide" Target="slides/slide117.xml" /><Relationship Id="rId119" Type="http://schemas.openxmlformats.org/officeDocument/2006/relationships/slide" Target="slides/slide118.xml" /><Relationship Id="rId121" Type="http://schemas.openxmlformats.org/officeDocument/2006/relationships/viewProps" Target="viewProps.xml" /><Relationship Id="rId1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3" Type="http://schemas.openxmlformats.org/officeDocument/2006/relationships/tableStyles" Target="tableStyles.xml" /><Relationship Id="rId1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jp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3.png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4.png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6.png" /><Relationship Id="rId2" Type="http://schemas.openxmlformats.org/officeDocument/2006/relationships/image" Target="../media/image35.png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8.png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0.png" /><Relationship Id="rId2" Type="http://schemas.openxmlformats.org/officeDocument/2006/relationships/image" Target="../media/image39.png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1.jpg" /></Relationships>
</file>

<file path=ppt/slides/_rels/slide1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T3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Types of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common types of esophageal cancer</a:t>
            </a:r>
          </a:p>
          <a:p>
            <a:pPr lvl="0"/>
            <a:r>
              <a:rPr/>
              <a:t>Adenocarcinoma</a:t>
            </a:r>
          </a:p>
          <a:p>
            <a:pPr lvl="0"/>
            <a:r>
              <a:rPr/>
              <a:t>Squamous Cell Carcinoma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(T1): Endoscopic Therapy</a:t>
                </a:r>
              </a:p>
              <a:p>
                <a:pPr lvl="0" indent="0" marL="0">
                  <a:buNone/>
                </a:pPr>
                <a:br/>
                <a:r>
                  <a:rPr/>
                  <a:t>Localized (T1b/T2): Surgery (esophagectomy)</a:t>
                </a:r>
              </a:p>
              <a:p>
                <a:pPr lvl="0" indent="0" marL="0">
                  <a:buNone/>
                </a:pPr>
                <a:br/>
                <a:r>
                  <a:rPr/>
                  <a:t>Locally-advanced (T3M0):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</a:t>
            </a:r>
            <a:r>
              <a:rPr i="1"/>
              <a:t>adenocarcinoma</a:t>
            </a:r>
            <a:r>
              <a:rPr/>
              <a:t> an alternative to chemotherapy + radiation is “Sandwich” chemotherapy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Chemo+Radiation (6 wks)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Chemotherapy (8 wks)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Chemotherapy (8 wks)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CROSS 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gets slowly better</a:t>
            </a:r>
          </a:p>
          <a:p>
            <a:pPr lvl="0"/>
            <a:r>
              <a:rPr/>
              <a:t>Feeding tube less likely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(or PET) scan performed after preoperative therapy</a:t>
            </a:r>
          </a:p>
          <a:p>
            <a:pPr lvl="0" indent="0" marL="0">
              <a:buNone/>
            </a:pPr>
            <a:br/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Preparation for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evaluation may be needed before surgery:</a:t>
            </a:r>
          </a:p>
          <a:p>
            <a:pPr lvl="0"/>
            <a:r>
              <a:rPr/>
              <a:t>Pulmonary Function Tests to test lung function</a:t>
            </a:r>
          </a:p>
          <a:p>
            <a:pPr lvl="0"/>
            <a:r>
              <a:rPr/>
              <a:t>Cardiology evaluation to test heart function</a:t>
            </a:r>
          </a:p>
          <a:p>
            <a:pPr lvl="1"/>
            <a:r>
              <a:rPr/>
              <a:t>Echocardiogram</a:t>
            </a:r>
          </a:p>
          <a:p>
            <a:pPr lvl="1"/>
            <a:r>
              <a:rPr/>
              <a:t>Stress Test</a:t>
            </a:r>
          </a:p>
          <a:p>
            <a:pPr lvl="1"/>
            <a:r>
              <a:rPr/>
              <a:t>Holter monitor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Primary Surgery</a:t>
                </a:r>
              </a:p>
              <a:p>
                <a:pPr lvl="0"/>
                <a:r>
                  <a:rPr/>
                  <a:t>Superficial Tumors (T1) not completely removed by endoscopy</a:t>
                </a:r>
              </a:p>
              <a:p>
                <a:pPr lvl="0"/>
                <a:r>
                  <a:rPr/>
                  <a:t>Localized Tumors (T2 N0 M0)</a:t>
                </a:r>
              </a:p>
              <a:p>
                <a:pPr lvl="0"/>
                <a:r>
                  <a:rPr/>
                  <a:t>Surgery scheduled after medical evaluation</a:t>
                </a:r>
              </a:p>
              <a:p>
                <a:pPr lvl="0" indent="0" marL="0">
                  <a:buNone/>
                </a:pPr>
                <a:r>
                  <a:rPr/>
                  <a:t>Preoperative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 Advanced (T3 Nx M0)</a:t>
                </a:r>
              </a:p>
              <a:p>
                <a:pPr lvl="0"/>
                <a:r>
                  <a:rPr/>
                  <a:t>Surgery scheduled after</a:t>
                </a:r>
              </a:p>
              <a:p>
                <a:pPr lvl="1"/>
                <a:r>
                  <a:rPr/>
                  <a:t>Recovery from preoperative therapy</a:t>
                </a:r>
              </a:p>
              <a:p>
                <a:pPr lvl="1"/>
                <a:r>
                  <a:rPr/>
                  <a:t>Restaging scans (CT or PET)</a:t>
                </a:r>
              </a:p>
              <a:p>
                <a:pPr lvl="1"/>
                <a:r>
                  <a:rPr/>
                  <a:t>Medical evaluation</a:t>
                </a:r>
              </a:p>
            </p:txBody>
          </p:sp>
        </mc:Choice>
      </mc:AlternateContent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Visits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Oncology - Monitor chemotherapy and side effects</a:t>
            </a:r>
          </a:p>
          <a:p>
            <a:pPr lvl="0" indent="0" marL="0">
              <a:buNone/>
            </a:pPr>
            <a:r>
              <a:rPr/>
              <a:t>Radiation Oncology - Monitor radiation and side effects</a:t>
            </a:r>
          </a:p>
          <a:p>
            <a:pPr lvl="0" indent="0" marL="0">
              <a:buNone/>
            </a:pPr>
            <a:r>
              <a:rPr/>
              <a:t>Surgical Oncology</a:t>
            </a:r>
          </a:p>
          <a:p>
            <a:pPr lvl="0"/>
            <a:r>
              <a:rPr/>
              <a:t>Consult visit with Dr Salo</a:t>
            </a:r>
          </a:p>
          <a:p>
            <a:pPr lvl="0"/>
            <a:r>
              <a:rPr/>
              <a:t>Mid-treatment visits with Dr Salo / Kate Duncan</a:t>
            </a:r>
          </a:p>
          <a:p>
            <a:pPr lvl="0"/>
            <a:r>
              <a:rPr/>
              <a:t>Preop visit with Dr Salo (may be virtual)</a:t>
            </a:r>
          </a:p>
          <a:p>
            <a:pPr lvl="0"/>
            <a:r>
              <a:rPr/>
              <a:t>In-person preop visit with Kate Duncan and Liz Koch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Cancer of the Esophagus and GE Junction</dc:title>
  <dc:creator/>
  <cp:keywords/>
  <dcterms:created xsi:type="dcterms:W3CDTF">2026-09-21T23:43:23Z</dcterms:created>
  <dcterms:modified xsi:type="dcterms:W3CDTF">2026-09-21T23:43:23Z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