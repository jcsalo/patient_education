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slide" Target="slides/slide85.xml" /><Relationship Id="rId87" Type="http://schemas.openxmlformats.org/officeDocument/2006/relationships/slide" Target="slides/slide86.xml" /><Relationship Id="rId88" Type="http://schemas.openxmlformats.org/officeDocument/2006/relationships/slide" Target="slides/slide87.xml" /><Relationship Id="rId89" Type="http://schemas.openxmlformats.org/officeDocument/2006/relationships/slide" Target="slides/slide88.xml" /><Relationship Id="rId90" Type="http://schemas.openxmlformats.org/officeDocument/2006/relationships/slide" Target="slides/slide89.xml" /><Relationship Id="rId91" Type="http://schemas.openxmlformats.org/officeDocument/2006/relationships/slide" Target="slides/slide90.xml" /><Relationship Id="rId92" Type="http://schemas.openxmlformats.org/officeDocument/2006/relationships/slide" Target="slides/slide91.xml" /><Relationship Id="rId93" Type="http://schemas.openxmlformats.org/officeDocument/2006/relationships/slide" Target="slides/slide92.xml" /><Relationship Id="rId94" Type="http://schemas.openxmlformats.org/officeDocument/2006/relationships/slide" Target="slides/slide93.xml" /><Relationship Id="rId95" Type="http://schemas.openxmlformats.org/officeDocument/2006/relationships/slide" Target="slides/slide94.xml" /><Relationship Id="rId96" Type="http://schemas.openxmlformats.org/officeDocument/2006/relationships/slide" Target="slides/slide95.xml" /><Relationship Id="rId97" Type="http://schemas.openxmlformats.org/officeDocument/2006/relationships/slide" Target="slides/slide96.xml" /><Relationship Id="rId98" Type="http://schemas.openxmlformats.org/officeDocument/2006/relationships/slide" Target="slides/slide97.xml" /><Relationship Id="rId99" Type="http://schemas.openxmlformats.org/officeDocument/2006/relationships/slide" Target="slides/slide98.xml" /><Relationship Id="rId100" Type="http://schemas.openxmlformats.org/officeDocument/2006/relationships/slide" Target="slides/slide99.xml" /><Relationship Id="rId101" Type="http://schemas.openxmlformats.org/officeDocument/2006/relationships/slide" Target="slides/slide100.xml" /><Relationship Id="rId102" Type="http://schemas.openxmlformats.org/officeDocument/2006/relationships/slide" Target="slides/slide101.xml" /><Relationship Id="rId103" Type="http://schemas.openxmlformats.org/officeDocument/2006/relationships/slide" Target="slides/slide102.xml" /><Relationship Id="rId104" Type="http://schemas.openxmlformats.org/officeDocument/2006/relationships/slide" Target="slides/slide103.xml" /><Relationship Id="rId105" Type="http://schemas.openxmlformats.org/officeDocument/2006/relationships/slide" Target="slides/slide104.xml" /><Relationship Id="rId106" Type="http://schemas.openxmlformats.org/officeDocument/2006/relationships/slide" Target="slides/slide105.xml" /><Relationship Id="rId107" Type="http://schemas.openxmlformats.org/officeDocument/2006/relationships/slide" Target="slides/slide106.xml" /><Relationship Id="rId108" Type="http://schemas.openxmlformats.org/officeDocument/2006/relationships/slide" Target="slides/slide107.xml" /><Relationship Id="rId109" Type="http://schemas.openxmlformats.org/officeDocument/2006/relationships/slide" Target="slides/slide108.xml" /><Relationship Id="rId110" Type="http://schemas.openxmlformats.org/officeDocument/2006/relationships/slide" Target="slides/slide109.xml" /><Relationship Id="rId111" Type="http://schemas.openxmlformats.org/officeDocument/2006/relationships/slide" Target="slides/slide110.xml" /><Relationship Id="rId112" Type="http://schemas.openxmlformats.org/officeDocument/2006/relationships/slide" Target="slides/slide111.xml" /><Relationship Id="rId113" Type="http://schemas.openxmlformats.org/officeDocument/2006/relationships/slide" Target="slides/slide112.xml" /><Relationship Id="rId114" Type="http://schemas.openxmlformats.org/officeDocument/2006/relationships/slide" Target="slides/slide113.xml" /><Relationship Id="rId115" Type="http://schemas.openxmlformats.org/officeDocument/2006/relationships/slide" Target="slides/slide114.xml" /><Relationship Id="rId116" Type="http://schemas.openxmlformats.org/officeDocument/2006/relationships/slide" Target="slides/slide115.xml" /><Relationship Id="rId118" Type="http://schemas.openxmlformats.org/officeDocument/2006/relationships/viewProps" Target="viewProps.xml" /><Relationship Id="rId1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0" Type="http://schemas.openxmlformats.org/officeDocument/2006/relationships/tableStyles" Target="tableStyles.xml" /><Relationship Id="rId1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jp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6.png" /><Relationship Id="rId2" Type="http://schemas.openxmlformats.org/officeDocument/2006/relationships/image" Target="../media/image25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png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2.png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3.png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4.png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6.png" /><Relationship Id="rId2" Type="http://schemas.openxmlformats.org/officeDocument/2006/relationships/image" Target="../media/image35.png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7.png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7.png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7.png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8.png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0.png" /><Relationship Id="rId2" Type="http://schemas.openxmlformats.org/officeDocument/2006/relationships/image" Target="../media/image39.png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9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9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1.jpg" /></Relationships>
</file>

<file path=ppt/slides/_rels/slide10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T3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Types of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two common types of esophageal cancer</a:t>
            </a:r>
          </a:p>
          <a:p>
            <a:pPr lvl="0"/>
            <a:r>
              <a:rPr/>
              <a:t>Adenocarcinoma</a:t>
            </a:r>
          </a:p>
          <a:p>
            <a:pPr lvl="0"/>
            <a:r>
              <a:rPr/>
              <a:t>Squamous Cell Carcinoma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(T1): Endoscopic Therapy</a:t>
                </a:r>
              </a:p>
              <a:p>
                <a:pPr lvl="0" indent="0" marL="0">
                  <a:buNone/>
                </a:pPr>
                <a:br/>
                <a:r>
                  <a:rPr/>
                  <a:t>Localized (T1b/T2): Surgery (esophagectomy)</a:t>
                </a:r>
              </a:p>
              <a:p>
                <a:pPr lvl="0" indent="0" marL="0">
                  <a:buNone/>
                </a:pPr>
                <a:br/>
                <a:r>
                  <a:rPr/>
                  <a:t>Locally-advanced (T3M0):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br/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</a:t>
            </a:r>
            <a:r>
              <a:rPr i="1"/>
              <a:t>adenocarcinoma</a:t>
            </a:r>
            <a:r>
              <a:rPr/>
              <a:t> an alternative to chemotherapy + radiation is “Sandwich” chemotherapy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 + Radiation</a:t>
            </a:r>
          </a:p>
          <a:p>
            <a:pPr lvl="0"/>
            <a:r>
              <a:rPr/>
              <a:t>Chemo+Radiation (6 wks)</a:t>
            </a:r>
          </a:p>
          <a:p>
            <a:pPr lvl="0"/>
            <a:r>
              <a:rPr/>
              <a:t>Surgery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Chemotherapy (8 wks)</a:t>
            </a:r>
          </a:p>
          <a:p>
            <a:pPr lvl="0"/>
            <a:r>
              <a:rPr/>
              <a:t>Surgery</a:t>
            </a:r>
          </a:p>
          <a:p>
            <a:pPr lvl="0"/>
            <a:r>
              <a:rPr/>
              <a:t>Chemotherapy (8 wks)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CROSS Chemo + Radiation</a:t>
                </a:r>
              </a:p>
              <a:p>
                <a:pPr lvl="0"/>
                <a:r>
                  <a:rPr/>
                  <a:t>Longer track record</a:t>
                </a:r>
              </a:p>
              <a:p>
                <a:pPr lvl="0"/>
                <a:r>
                  <a:rPr/>
                  <a:t>Better tolerated</a:t>
                </a:r>
              </a:p>
              <a:p>
                <a:pPr lvl="0"/>
                <a:r>
                  <a:rPr/>
                  <a:t>Port usually placed</a:t>
                </a:r>
              </a:p>
              <a:p>
                <a:pPr lvl="0"/>
                <a:r>
                  <a:rPr/>
                  <a:t>Eating worse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better</a:t>
                </a:r>
              </a:p>
              <a:p>
                <a:pPr lvl="0"/>
                <a:r>
                  <a:rPr/>
                  <a:t>May need feeding tube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More effective</a:t>
            </a:r>
          </a:p>
          <a:p>
            <a:pPr lvl="0"/>
            <a:r>
              <a:rPr/>
              <a:t>More side effects</a:t>
            </a:r>
          </a:p>
          <a:p>
            <a:pPr lvl="0"/>
            <a:r>
              <a:rPr/>
              <a:t>Port always required</a:t>
            </a:r>
          </a:p>
          <a:p>
            <a:pPr lvl="0"/>
            <a:r>
              <a:rPr/>
              <a:t>Eating gets slowly better</a:t>
            </a:r>
          </a:p>
          <a:p>
            <a:pPr lvl="0"/>
            <a:r>
              <a:rPr/>
              <a:t>Feeding tube less likely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(or PET) scan performed after preoperative therapy</a:t>
            </a:r>
          </a:p>
          <a:p>
            <a:pPr lvl="0" indent="0" marL="0">
              <a:buNone/>
            </a:pPr>
            <a:br/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T3 Cancer of the Esophagus and GE Junction</dc:title>
  <dc:creator/>
  <cp:keywords/>
  <dcterms:created xsi:type="dcterms:W3CDTF">2026-08-09T20:57:02Z</dcterms:created>
  <dcterms:modified xsi:type="dcterms:W3CDTF">2026-08-09T20:57:02Z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