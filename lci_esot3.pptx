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8" Type="http://schemas.openxmlformats.org/officeDocument/2006/relationships/viewProps" Target="viewProps.xml" /><Relationship Id="rId1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0" Type="http://schemas.openxmlformats.org/officeDocument/2006/relationships/tableStyles" Target="tableStyles.xml" /><Relationship Id="rId1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jp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4.jp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6.png" /><Relationship Id="rId2" Type="http://schemas.openxmlformats.org/officeDocument/2006/relationships/image" Target="../media/image25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5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9.png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0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1.png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2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3.png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4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5.png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6.png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8.png" /><Relationship Id="rId2" Type="http://schemas.openxmlformats.org/officeDocument/2006/relationships/image" Target="../media/image37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2.png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9.png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9.png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9.png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0.png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2.png" /><Relationship Id="rId2" Type="http://schemas.openxmlformats.org/officeDocument/2006/relationships/image" Target="../media/image41.png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3.png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4.png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5.png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png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5.jpg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T3 Cancer of the Esophagus and GE Junction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Types of Esophageal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two common types of esophageal cancer</a:t>
            </a:r>
          </a:p>
          <a:p>
            <a:pPr lvl="0"/>
            <a:r>
              <a:rPr/>
              <a:t>Adenocarcinoma</a:t>
            </a:r>
          </a:p>
          <a:p>
            <a:pPr lvl="0"/>
            <a:r>
              <a:rPr/>
              <a:t>Squamous Cell Carcinoma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Superficial (T1): Endoscopic Therapy</a:t>
                </a:r>
              </a:p>
              <a:p>
                <a:pPr lvl="0" indent="0" marL="0">
                  <a:buNone/>
                </a:pPr>
                <a:br/>
                <a:r>
                  <a:rPr/>
                  <a:t>Localized (T1b/T2): Surgery (esophagectomy)</a:t>
                </a:r>
              </a:p>
              <a:p>
                <a:pPr lvl="0" indent="0" marL="0">
                  <a:buNone/>
                </a:pPr>
                <a:br/>
                <a:r>
                  <a:rPr/>
                  <a:t>Locally-advanced (T3M0): Chemo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Radiation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</a:p>
              <a:p>
                <a:pPr lvl="0" indent="0" marL="0">
                  <a:buNone/>
                </a:pPr>
                <a:br/>
                <a:r>
                  <a:rPr/>
                  <a:t>Metastatic (M1): Chemotherapy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Patients with locally-advanced esophageal cancer often have localized spread of cancer cells in the surrounding area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</p:txBody>
      </p:sp>
      <p:pic>
        <p:nvPicPr>
          <p:cNvPr descr="images/Eso_tumor100_resection_intr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  <a:p>
            <a:pPr lvl="0" indent="0" marL="0">
              <a:buNone/>
            </a:pPr>
            <a:r>
              <a:rPr/>
              <a:t>There is a risk that cancer cells can be left behind</a:t>
            </a:r>
          </a:p>
        </p:txBody>
      </p:sp>
      <p:pic>
        <p:nvPicPr>
          <p:cNvPr descr="images/Eso_tumor100_resection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4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after 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</p:txBody>
      </p:sp>
      <p:pic>
        <p:nvPicPr>
          <p:cNvPr descr="images/Eso_tumor00_resection1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Patients were treated in two groups: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Chemotherapy + radiation together over 6 wks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Longer Survival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CROSS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schedule for chemotherapy + radiation:</a:t>
            </a:r>
          </a:p>
          <a:p>
            <a:pPr lvl="0"/>
            <a:r>
              <a:rPr/>
              <a:t>Chemotherapy once per week for six weeks</a:t>
            </a:r>
          </a:p>
          <a:p>
            <a:pPr lvl="0"/>
            <a:r>
              <a:rPr/>
              <a:t>Radiation five days per week for six weeks (28)</a:t>
            </a:r>
          </a:p>
          <a:p>
            <a:pPr lvl="0"/>
            <a:r>
              <a:rPr/>
              <a:t>PET scan (or CT) 4 weeks after the end of radiation</a:t>
            </a:r>
          </a:p>
          <a:p>
            <a:pPr lvl="0"/>
            <a:r>
              <a:rPr/>
              <a:t>Surgery 8 weeks after the end of radiation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-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Kills cancer cells in the esophagus and lymph nodes</a:t>
            </a:r>
          </a:p>
          <a:p>
            <a:pPr lvl="0" indent="0" marL="0">
              <a:buNone/>
            </a:pPr>
            <a:r>
              <a:rPr/>
              <a:t>Can also irritate the lining of the esophagus.</a:t>
            </a:r>
          </a:p>
          <a:p>
            <a:pPr lvl="0" indent="0" marL="0">
              <a:buNone/>
            </a:pPr>
            <a:r>
              <a:rPr/>
              <a:t>Swallowing can be difficult the last 2 weeks.</a:t>
            </a:r>
          </a:p>
          <a:p>
            <a:pPr lvl="0" indent="0" marL="0">
              <a:buNone/>
            </a:pPr>
            <a:r>
              <a:rPr/>
              <a:t>Feeding tube may be needed for hydration/nutrition.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</a:t>
            </a:r>
            <a:r>
              <a:rPr i="1"/>
              <a:t>adenocarcinoma</a:t>
            </a:r>
            <a:r>
              <a:rPr/>
              <a:t> an alternative to chemotherapy + radiation is “Sandwich” chemotherapy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Adenocarcinoma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“Sandwich” chemotherapy before + after surgery:</a:t>
                </a:r>
              </a:p>
              <a:p>
                <a:pPr lvl="0" indent="0" marL="0">
                  <a:buNone/>
                </a:pPr>
                <a:r>
                  <a:rPr/>
                  <a:t>Chemo (8 wks)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(8 wks)</a:t>
                </a:r>
              </a:p>
              <a:p>
                <a:pPr lvl="0" indent="0" marL="0">
                  <a:buNone/>
                </a:pPr>
                <a:r>
                  <a:rPr/>
                  <a:t>Two different drug combinations:</a:t>
                </a:r>
              </a:p>
              <a:p>
                <a:pPr lvl="0"/>
                <a:r>
                  <a:rPr/>
                  <a:t>FLOT (more effective)</a:t>
                </a:r>
              </a:p>
              <a:p>
                <a:pPr lvl="0"/>
                <a:r>
                  <a:rPr/>
                  <a:t>FOLFOX (better tolerated)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“Sandwich” Chemotherapy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Leucovorion</a:t>
            </a:r>
          </a:p>
          <a:p>
            <a:pPr lvl="0"/>
            <a:r>
              <a:rPr/>
              <a:t>Oxaliplatin</a:t>
            </a:r>
          </a:p>
          <a:p>
            <a:pPr lvl="0"/>
            <a:r>
              <a:rPr/>
              <a:t>Taxotere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FOLFOX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Leucovorin</a:t>
            </a:r>
          </a:p>
          <a:p>
            <a:pPr lvl="0"/>
            <a:r>
              <a:rPr/>
              <a:t>Oxaliplatin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Treatment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FLOT Chemo every 2 weeks x 4 (=8 weeks total)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Chemo every 2 weeks x 4 (=8 weeks total)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Durvalumab Immunotherapy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 cells can turn off immune cells using a protein PD-L1</a:t>
            </a:r>
          </a:p>
          <a:p>
            <a:pPr lvl="0" indent="0" marL="0">
              <a:buNone/>
            </a:pPr>
            <a:r>
              <a:rPr/>
              <a:t>Darvalumab turns on immune cells by counteracting PD-L1</a:t>
            </a:r>
          </a:p>
          <a:p>
            <a:pPr lvl="0" indent="0" marL="0">
              <a:buNone/>
            </a:pPr>
            <a:r>
              <a:rPr/>
              <a:t>Durvalumab strengthens the immmune system to fight cancer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Matterhorn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Matterhorn clinical trial compared two types of treatment:</a:t>
                </a:r>
              </a:p>
              <a:p>
                <a:pPr lvl="0" indent="0" marL="0">
                  <a:buNone/>
                </a:pPr>
                <a:r>
                  <a:rPr/>
                  <a:t>FLOT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</a:t>
                </a:r>
              </a:p>
              <a:p>
                <a:pPr lvl="0" indent="0" marL="0">
                  <a:buNone/>
                </a:pPr>
                <a:r>
                  <a:rPr/>
                  <a:t>FLOT + Durvalumab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 + Durvalumab</a:t>
                </a:r>
              </a:p>
              <a:p>
                <a:pPr lvl="0" indent="0" marL="0">
                  <a:buNone/>
                </a:pPr>
                <a:r>
                  <a:rPr/>
                  <a:t>Better survival with addition of durvalumab to FLOT</a:t>
                </a:r>
              </a:p>
              <a:p>
                <a:pPr lvl="0" indent="0" marL="0">
                  <a:buNone/>
                </a:pPr>
                <a:r>
                  <a:rPr b="1"/>
                  <a:t>Treatment with durvalumab depends upon approval from insurance company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Chemo ± Durvalumab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Chemotherapy</a:t>
            </a:r>
          </a:p>
          <a:p>
            <a:pPr lvl="0"/>
            <a:r>
              <a:rPr/>
              <a:t>FLOT (8 weeks)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(8 weeks)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+ Durvalumab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Durvalumab monthly x10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Biomarkers - Pathology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Show whether other drugs may be helpful:</a:t>
                </a:r>
              </a:p>
              <a:p>
                <a:pPr lvl="0"/>
                <a:r>
                  <a:rPr/>
                  <a:t>HER-2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Herceptin can be helpful</a:t>
                </a:r>
              </a:p>
              <a:p>
                <a:pPr lvl="0"/>
                <a:r>
                  <a:rPr/>
                  <a:t>PD-L1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helpful</a:t>
                </a:r>
              </a:p>
              <a:p>
                <a:pPr lvl="0"/>
                <a:r>
                  <a:rPr/>
                  <a:t>MMR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very helpful</a:t>
                </a:r>
              </a:p>
              <a:p>
                <a:pPr lvl="0" indent="0" marL="0">
                  <a:buNone/>
                </a:pPr>
                <a:r>
                  <a:rPr/>
                  <a:t>Biomarkers reported in a separate pathology report</a:t>
                </a:r>
              </a:p>
              <a:p>
                <a:pPr lvl="0" indent="0" marL="0">
                  <a:buNone/>
                </a:pPr>
                <a:r>
                  <a:rPr/>
                  <a:t>Your medical oncologist will review these with you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 + Radiation</a:t>
            </a:r>
          </a:p>
          <a:p>
            <a:pPr lvl="0"/>
            <a:r>
              <a:rPr/>
              <a:t>Chemo+Radiation (6 wks)</a:t>
            </a:r>
          </a:p>
          <a:p>
            <a:pPr lvl="0"/>
            <a:r>
              <a:rPr/>
              <a:t>Surgery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Chemotherapy</a:t>
            </a:r>
          </a:p>
          <a:p>
            <a:pPr lvl="0"/>
            <a:r>
              <a:rPr/>
              <a:t>Chemotherapy (8 wks)</a:t>
            </a:r>
          </a:p>
          <a:p>
            <a:pPr lvl="0"/>
            <a:r>
              <a:rPr/>
              <a:t>Surgery</a:t>
            </a:r>
          </a:p>
          <a:p>
            <a:pPr lvl="0"/>
            <a:r>
              <a:rPr/>
              <a:t>Chemotherapy (8 wks)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CROSS Chemo + Radiation</a:t>
                </a:r>
              </a:p>
              <a:p>
                <a:pPr lvl="0"/>
                <a:r>
                  <a:rPr/>
                  <a:t>Longer track record</a:t>
                </a:r>
              </a:p>
              <a:p>
                <a:pPr lvl="0"/>
                <a:r>
                  <a:rPr/>
                  <a:t>Better tolerated</a:t>
                </a:r>
              </a:p>
              <a:p>
                <a:pPr lvl="0"/>
                <a:r>
                  <a:rPr/>
                  <a:t>Port usually placed</a:t>
                </a:r>
              </a:p>
              <a:p>
                <a:pPr lvl="0"/>
                <a:r>
                  <a:rPr/>
                  <a:t>Eating worse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better</a:t>
                </a:r>
              </a:p>
              <a:p>
                <a:pPr lvl="0"/>
                <a:r>
                  <a:rPr/>
                  <a:t>May need feeding tube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Chemotherapy</a:t>
            </a:r>
          </a:p>
          <a:p>
            <a:pPr lvl="0"/>
            <a:r>
              <a:rPr/>
              <a:t>More effective</a:t>
            </a:r>
          </a:p>
          <a:p>
            <a:pPr lvl="0"/>
            <a:r>
              <a:rPr/>
              <a:t>More side effects</a:t>
            </a:r>
          </a:p>
          <a:p>
            <a:pPr lvl="0"/>
            <a:r>
              <a:rPr/>
              <a:t>Port always required</a:t>
            </a:r>
          </a:p>
          <a:p>
            <a:pPr lvl="0"/>
            <a:r>
              <a:rPr/>
              <a:t>Eating gets slowly better</a:t>
            </a:r>
          </a:p>
          <a:p>
            <a:pPr lvl="0"/>
            <a:r>
              <a:rPr/>
              <a:t>Feeding tube less likely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 (or PET) scan performed after preoperative therapy</a:t>
            </a:r>
          </a:p>
          <a:p>
            <a:pPr lvl="0" indent="0" marL="0">
              <a:buNone/>
            </a:pPr>
            <a:br/>
            <a:br/>
          </a:p>
          <a:p>
            <a:pPr lvl="0"/>
            <a:r>
              <a:rPr/>
              <a:t>Surgery performed after restaging</a:t>
            </a:r>
          </a:p>
          <a:p>
            <a:pPr lvl="0"/>
            <a:r>
              <a:rPr/>
              <a:t>Timing depends upon recovery from therapy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Feeding Tubes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nutrition_gtub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 Gastrostomy</a:t>
            </a:r>
          </a:p>
          <a:p>
            <a:pPr lvl="0"/>
            <a:r>
              <a:rPr/>
              <a:t>Feeding with a syringe several times per day.</a:t>
            </a:r>
          </a:p>
          <a:p>
            <a:pPr lvl="0"/>
            <a:r>
              <a:rPr/>
              <a:t>Tube can be hidden underneath clothing</a:t>
            </a:r>
          </a:p>
          <a:p>
            <a:pPr lvl="0"/>
            <a:r>
              <a:rPr/>
              <a:t>Tube does not interfere with eating by mouth</a:t>
            </a:r>
          </a:p>
          <a:p>
            <a:pPr lvl="0"/>
            <a:r>
              <a:rPr/>
              <a:t>Removed easily in the office when no longer needed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PEG: Tube placed by endoscopy</a:t>
            </a:r>
          </a:p>
          <a:p>
            <a:pPr lvl="0" indent="0" marL="0">
              <a:buNone/>
            </a:pPr>
            <a:r>
              <a:rPr/>
              <a:t>Laparoscopic: Tube placed surgically by laparoscopy</a:t>
            </a:r>
          </a:p>
          <a:p>
            <a:pPr lvl="0" indent="0" marL="0">
              <a:buNone/>
            </a:pPr>
            <a:r>
              <a:rPr/>
              <a:t>Preferred method depends upon whether esophagectomy is planned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Outpatient Placement (go home the same day)</a:t>
            </a:r>
          </a:p>
          <a:p>
            <a:pPr lvl="0"/>
            <a:r>
              <a:rPr/>
              <a:t>Central venous port can be placed at the same time (if needed)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Rate can be easily adjusted</a:t>
            </a:r>
          </a:p>
        </p:txBody>
      </p:sp>
      <p:pic>
        <p:nvPicPr>
          <p:cNvPr descr="images/jejunostomy/enteralbag_pump_hopis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8300" y="1193800"/>
            <a:ext cx="2565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Preparation for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evaluation may be needed before surgery:</a:t>
            </a:r>
          </a:p>
          <a:p>
            <a:pPr lvl="0"/>
            <a:r>
              <a:rPr/>
              <a:t>Pulmonary Function Tests to test lung function</a:t>
            </a:r>
          </a:p>
          <a:p>
            <a:pPr lvl="0"/>
            <a:r>
              <a:rPr/>
              <a:t>Cardiology evaluation to test heart function</a:t>
            </a:r>
          </a:p>
          <a:p>
            <a:pPr lvl="1"/>
            <a:r>
              <a:rPr/>
              <a:t>Echocardiogram</a:t>
            </a:r>
          </a:p>
          <a:p>
            <a:pPr lvl="1"/>
            <a:r>
              <a:rPr/>
              <a:t>Stress Test</a:t>
            </a:r>
          </a:p>
          <a:p>
            <a:pPr lvl="1"/>
            <a:r>
              <a:rPr/>
              <a:t>Holter monitor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Esophagectomy for Cancers of the Esophagus or GE Junction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Primary Surgery</a:t>
                </a:r>
              </a:p>
              <a:p>
                <a:pPr lvl="0"/>
                <a:r>
                  <a:rPr/>
                  <a:t>Superficial Tumors (T1) not completely removed by endoscopy</a:t>
                </a:r>
              </a:p>
              <a:p>
                <a:pPr lvl="0"/>
                <a:r>
                  <a:rPr/>
                  <a:t>Localized Tumors (T2 N0 M0)</a:t>
                </a:r>
              </a:p>
              <a:p>
                <a:pPr lvl="0"/>
                <a:r>
                  <a:rPr/>
                  <a:t>Surgery scheduled after medical evaluation</a:t>
                </a:r>
              </a:p>
              <a:p>
                <a:pPr lvl="0"/>
                <a:r>
                  <a:rPr/>
                  <a:t>Aim for surgery within 6 weeks of consultation</a:t>
                </a:r>
              </a:p>
              <a:p>
                <a:pPr lvl="0" indent="0" marL="0">
                  <a:buNone/>
                </a:pPr>
                <a:r>
                  <a:rPr/>
                  <a:t>Preoperative 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Locally Advanced (T3 Nx M0)</a:t>
                </a:r>
              </a:p>
              <a:p>
                <a:pPr lvl="0"/>
                <a:r>
                  <a:rPr/>
                  <a:t>Surgery scheduled after</a:t>
                </a:r>
              </a:p>
              <a:p>
                <a:pPr lvl="1"/>
                <a:r>
                  <a:rPr/>
                  <a:t>Recovery from preoperative therapy</a:t>
                </a:r>
              </a:p>
              <a:p>
                <a:pPr lvl="1"/>
                <a:r>
                  <a:rPr/>
                  <a:t>Restaging scans (CT or PET)</a:t>
                </a:r>
              </a:p>
              <a:p>
                <a:pPr lvl="1"/>
                <a:r>
                  <a:rPr/>
                  <a:t>Medical evaluation</a:t>
                </a:r>
              </a:p>
              <a:p>
                <a:pPr lvl="0"/>
                <a:r>
                  <a:rPr/>
                  <a:t>Timing between end of preoperative therapy and surgery</a:t>
                </a:r>
              </a:p>
              <a:p>
                <a:pPr lvl="1"/>
                <a:r>
                  <a:rPr/>
                  <a:t>Chemotherapy + radiation: 6-8 weeks</a:t>
                </a:r>
              </a:p>
              <a:p>
                <a:pPr lvl="1"/>
                <a:r>
                  <a:rPr/>
                  <a:t>Chemotherapy: 4-8 weeks</a:t>
                </a:r>
              </a:p>
            </p:txBody>
          </p:sp>
        </mc:Choice>
      </mc:AlternateContent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Visits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Oncology - Monitor chemotherapy and side effects</a:t>
            </a:r>
          </a:p>
          <a:p>
            <a:pPr lvl="0" indent="0" marL="0">
              <a:buNone/>
            </a:pPr>
            <a:r>
              <a:rPr/>
              <a:t>Radiation Oncology - Monitor radiation and side effects</a:t>
            </a:r>
          </a:p>
          <a:p>
            <a:pPr lvl="0" indent="0" marL="0">
              <a:buNone/>
            </a:pPr>
            <a:r>
              <a:rPr/>
              <a:t>Surgical Oncology</a:t>
            </a:r>
          </a:p>
          <a:p>
            <a:pPr lvl="0"/>
            <a:r>
              <a:rPr/>
              <a:t>Consult visit with Dr Salo</a:t>
            </a:r>
          </a:p>
          <a:p>
            <a:pPr lvl="0"/>
            <a:r>
              <a:rPr/>
              <a:t>Mid-treatment visits with Dr Salo / Kate Duncan</a:t>
            </a:r>
          </a:p>
          <a:p>
            <a:pPr lvl="0"/>
            <a:r>
              <a:rPr/>
              <a:t>Preop visit with Dr Salo (may be virtual)</a:t>
            </a:r>
          </a:p>
          <a:p>
            <a:pPr lvl="0"/>
            <a:r>
              <a:rPr/>
              <a:t>In-person preop visit with Kate Duncan and Liz Koch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Esophageal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for esophageal cancer is performed for:</a:t>
            </a:r>
          </a:p>
          <a:p>
            <a:pPr lvl="0"/>
            <a:r>
              <a:rPr/>
              <a:t>Superficial Tumors (T1) not removed by endoscopy</a:t>
            </a:r>
          </a:p>
          <a:p>
            <a:pPr lvl="0"/>
            <a:r>
              <a:rPr/>
              <a:t>Localized Tumors (T2 N0 M0)</a:t>
            </a:r>
          </a:p>
          <a:p>
            <a:pPr lvl="0"/>
            <a:r>
              <a:rPr/>
              <a:t>Locally Advanced (T3 M0) after preop therapy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 tumor from esophagus</a:t>
            </a:r>
          </a:p>
          <a:p>
            <a:pPr lvl="0"/>
            <a:r>
              <a:rPr/>
              <a:t>Remove surrounding lymph nodes</a:t>
            </a:r>
          </a:p>
          <a:p>
            <a:pPr lvl="0"/>
            <a:r>
              <a:rPr/>
              <a:t>Create a new esophagus</a:t>
            </a:r>
          </a:p>
        </p:txBody>
      </p:sp>
      <p:pic>
        <p:nvPicPr>
          <p:cNvPr descr="images/Eso_Resection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(Transthoracic)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tumor and lower 1/2 esophagus</a:t>
            </a:r>
          </a:p>
          <a:p>
            <a:pPr lvl="0"/>
            <a:r>
              <a:rPr/>
              <a:t>Removes surrounding lymph nodes</a:t>
            </a:r>
          </a:p>
          <a:p>
            <a:pPr lvl="0"/>
            <a:r>
              <a:rPr/>
              <a:t>GI tract reconstructed</a:t>
            </a:r>
          </a:p>
        </p:txBody>
      </p:sp>
      <p:pic>
        <p:nvPicPr>
          <p:cNvPr descr="images/Eso_Resection2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New esophagus is created from the stomach in the abdomen by fashioning it into a tube.</a:t>
            </a:r>
          </a:p>
        </p:txBody>
      </p:sp>
      <p:pic>
        <p:nvPicPr>
          <p:cNvPr descr="images/Eso_Resection3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new esophagus is now brought up into the chest. A connection is made between the esophagus and the stomach, called an </a:t>
            </a:r>
            <a:r>
              <a:rPr i="1"/>
              <a:t>anastomosis</a:t>
            </a:r>
            <a:r>
              <a:rPr/>
              <a:t>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Ivor Lewis Esophagectomy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Small incisions abdomen and chest</a:t>
                </a:r>
              </a:p>
              <a:p>
                <a:pPr lvl="0"/>
                <a:r>
                  <a:rPr/>
                  <a:t>Surgical telescope and instruments</a:t>
                </a:r>
              </a:p>
              <a:p>
                <a:pPr lvl="0"/>
                <a:r>
                  <a:rPr/>
                  <a:t>Smaller incisions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faster recovery and less discomfort</a:t>
                </a:r>
              </a:p>
            </p:txBody>
          </p:sp>
        </mc:Choice>
      </mc:AlternateContent>
      <p:pic>
        <p:nvPicPr>
          <p:cNvPr descr="images/MIE_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Ivor Lewis Esophagectomy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Small incisions abdomen and chest</a:t>
                </a:r>
              </a:p>
              <a:p>
                <a:pPr lvl="0"/>
                <a:r>
                  <a:rPr/>
                  <a:t>Surgical telescope and instruments</a:t>
                </a:r>
              </a:p>
              <a:p>
                <a:pPr lvl="0"/>
                <a:r>
                  <a:rPr/>
                  <a:t>Smaller incisions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faster recovery and less discomfort</a:t>
                </a:r>
              </a:p>
            </p:txBody>
          </p:sp>
        </mc:Choice>
      </mc:AlternateContent>
      <p:pic>
        <p:nvPicPr>
          <p:cNvPr descr="images/RaMIE_incis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Ivor Lewis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Mininally-invasive approach feasible in 98% of cases</a:t>
            </a:r>
          </a:p>
          <a:p>
            <a:pPr lvl="0" indent="0" marL="0">
              <a:buNone/>
            </a:pPr>
            <a:r>
              <a:rPr/>
              <a:t>In some cases, an open approach is still necessary (2%)</a:t>
            </a:r>
          </a:p>
        </p:txBody>
      </p:sp>
      <p:pic>
        <p:nvPicPr>
          <p:cNvPr descr="images/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tumors in the upper esophagus, we need to remove more of the esophagus</a:t>
            </a:r>
          </a:p>
          <a:p>
            <a:pPr lvl="0" indent="0" marL="0">
              <a:buNone/>
            </a:pPr>
            <a:r>
              <a:rPr/>
              <a:t>We need to remove the whole esophagus, including the portion in the neck</a:t>
            </a:r>
          </a:p>
        </p:txBody>
      </p:sp>
      <p:pic>
        <p:nvPicPr>
          <p:cNvPr descr="images/Eso_ProxTumor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McKeown Esophagectomy</a:t>
            </a:r>
          </a:p>
        </p:txBody>
      </p:sp>
      <p:pic>
        <p:nvPicPr>
          <p:cNvPr descr="images/Eso_ResectionTotal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Eso_MIE_McKeownArtboar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Esophagectomy is a complex operation, with a real risk of complications.</a:t>
            </a:r>
          </a:p>
          <a:p>
            <a:pPr lvl="0" indent="0" marL="0">
              <a:buNone/>
            </a:pPr>
            <a:r>
              <a:rPr/>
              <a:t>Two significant complications:</a:t>
            </a:r>
          </a:p>
          <a:p>
            <a:pPr lvl="0"/>
            <a:r>
              <a:rPr/>
              <a:t>Anastomotic leak</a:t>
            </a:r>
          </a:p>
          <a:p>
            <a:pPr lvl="0"/>
            <a:r>
              <a:rPr/>
              <a:t>Pneumonia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anastomosis is surgical connection between the esophagus and the stomach.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healing doesn’t occur:</a:t>
            </a:r>
          </a:p>
          <a:p>
            <a:pPr lvl="0"/>
            <a:r>
              <a:rPr/>
              <a:t>Leakage of fluid from the esophagus</a:t>
            </a:r>
          </a:p>
          <a:p>
            <a:pPr lvl="0"/>
            <a:r>
              <a:rPr/>
              <a:t>Infection in the space between the lungs</a:t>
            </a:r>
          </a:p>
          <a:p>
            <a:pPr lvl="0"/>
            <a:r>
              <a:rPr/>
              <a:t>Requires additional time in the hospital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leak occurs:</a:t>
            </a:r>
          </a:p>
          <a:p>
            <a:pPr lvl="0"/>
            <a:r>
              <a:rPr/>
              <a:t>Some leaks will seal</a:t>
            </a:r>
          </a:p>
          <a:p>
            <a:pPr lvl="0"/>
            <a:r>
              <a:rPr/>
              <a:t>Stent may be required to help healing</a:t>
            </a:r>
          </a:p>
          <a:p>
            <a:pPr lvl="0"/>
            <a:r>
              <a:rPr/>
              <a:t>Occasionally additional surgey is required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of leak depends on:</a:t>
            </a:r>
          </a:p>
          <a:p>
            <a:pPr lvl="0"/>
            <a:r>
              <a:rPr/>
              <a:t>Type of operation performed</a:t>
            </a:r>
          </a:p>
          <a:p>
            <a:pPr lvl="0"/>
            <a:r>
              <a:rPr/>
              <a:t>Nutritional status of patient</a:t>
            </a:r>
          </a:p>
          <a:p>
            <a:pPr lvl="0"/>
            <a:r>
              <a:rPr/>
              <a:t>Experience of the surgeon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Occurs in 10-15% of patients after esophagectomy.</a:t>
            </a:r>
          </a:p>
          <a:p>
            <a:pPr lvl="0"/>
            <a:r>
              <a:rPr/>
              <a:t>Requires treatment with antibiotics</a:t>
            </a:r>
          </a:p>
          <a:p>
            <a:pPr lvl="0"/>
            <a:r>
              <a:rPr/>
              <a:t>Requires a longer hospitalization.</a:t>
            </a:r>
          </a:p>
        </p:txBody>
      </p:sp>
      <p:pic>
        <p:nvPicPr>
          <p:cNvPr descr="images/Eso_Lung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Preventing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ways to help prevent pneumonia:</a:t>
            </a:r>
          </a:p>
          <a:p>
            <a:pPr lvl="0"/>
            <a:r>
              <a:rPr/>
              <a:t>Deep breathing</a:t>
            </a:r>
          </a:p>
          <a:p>
            <a:pPr lvl="0"/>
            <a:r>
              <a:rPr/>
              <a:t>Coughing</a:t>
            </a:r>
          </a:p>
          <a:p>
            <a:pPr lvl="0"/>
            <a:r>
              <a:rPr/>
              <a:t>Walking</a:t>
            </a:r>
          </a:p>
          <a:p>
            <a:pPr lvl="0" indent="0" marL="0">
              <a:buNone/>
            </a:pPr>
            <a:r>
              <a:rPr/>
              <a:t>After surgery, this means:</a:t>
            </a:r>
          </a:p>
          <a:p>
            <a:pPr lvl="0"/>
            <a:r>
              <a:rPr/>
              <a:t>Sitting in a chair most of the day</a:t>
            </a:r>
          </a:p>
          <a:p>
            <a:pPr lvl="0"/>
            <a:r>
              <a:rPr/>
              <a:t>Walking in the halls as soon as possible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Esophagectomy</a:t>
            </a:r>
          </a:p>
        </p:txBody>
      </p:sp>
      <p:pic>
        <p:nvPicPr>
          <p:cNvPr descr="images/mie_ab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" y="1498600"/>
            <a:ext cx="41783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mie_che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1485900"/>
            <a:ext cx="41910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anesthesia</a:t>
            </a:r>
          </a:p>
          <a:p>
            <a:pPr lvl="0"/>
            <a:r>
              <a:rPr/>
              <a:t>Heart attack (5%)</a:t>
            </a:r>
          </a:p>
          <a:p>
            <a:pPr lvl="0"/>
            <a:r>
              <a:rPr/>
              <a:t>Irregular heart rhythm (15%)</a:t>
            </a:r>
          </a:p>
          <a:p>
            <a:pPr lvl="0"/>
            <a:r>
              <a:rPr/>
              <a:t>Pneumonia (10%)</a:t>
            </a:r>
          </a:p>
          <a:p>
            <a:pPr lvl="0"/>
            <a:r>
              <a:rPr/>
              <a:t>Blood clots in legs (&lt;5%)</a:t>
            </a:r>
          </a:p>
          <a:p>
            <a:pPr lvl="0"/>
            <a:r>
              <a:rPr/>
              <a:t>Pulmonary embolism (2%)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Surgery</a:t>
            </a:r>
          </a:p>
          <a:p>
            <a:pPr lvl="0"/>
            <a:r>
              <a:rPr/>
              <a:t>Anastomotic leak (5%)</a:t>
            </a:r>
          </a:p>
          <a:p>
            <a:pPr lvl="0"/>
            <a:r>
              <a:rPr/>
              <a:t>Stricture at anastomosis (15%)</a:t>
            </a:r>
          </a:p>
          <a:p>
            <a:pPr lvl="0"/>
            <a:r>
              <a:rPr/>
              <a:t>Death within 90 days of surgery</a:t>
            </a:r>
          </a:p>
          <a:p>
            <a:pPr lvl="1"/>
            <a:r>
              <a:rPr/>
              <a:t>Low risk patients = 2%</a:t>
            </a:r>
          </a:p>
          <a:p>
            <a:pPr lvl="1"/>
            <a:r>
              <a:rPr/>
              <a:t>Intermediate risk = 10%</a:t>
            </a:r>
          </a:p>
          <a:p>
            <a:pPr lvl="1"/>
            <a:r>
              <a:rPr/>
              <a:t>High risk = 30%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952500"/>
          <a:ext cx="8547100" cy="3467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4800"/>
                <a:gridCol w="2844800"/>
                <a:gridCol w="284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&lt;75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&gt;75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Muscle (75%)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Muscle (25%)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279400" y="4419600"/>
            <a:ext cx="8547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Risks of Death within 90 Days of Surgery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Epidural Catheter for Pain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Remains in place for 2-5 days</a:t>
            </a:r>
          </a:p>
          <a:p>
            <a:pPr lvl="0"/>
            <a:r>
              <a:rPr/>
              <a:t>Dosage can be adjusted as needed</a:t>
            </a:r>
          </a:p>
          <a:p>
            <a:pPr lvl="0"/>
            <a:r>
              <a:rPr/>
              <a:t>Can make it more difficult to urinate</a:t>
            </a:r>
          </a:p>
          <a:p>
            <a:pPr lvl="0"/>
            <a:r>
              <a:rPr/>
              <a:t>May require foley catheter in bladder</a:t>
            </a:r>
          </a:p>
          <a:p>
            <a:pPr lvl="0"/>
            <a:r>
              <a:rPr/>
              <a:t>Foley catheter removed after epidural removed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ensure adequate nutrition after surgery, a temporary feeding tube is placed to supplement nutrition by mouth.</a:t>
            </a:r>
          </a:p>
          <a:p>
            <a:pPr lvl="0" indent="0" marL="0">
              <a:buNone/>
            </a:pPr>
            <a:r>
              <a:rPr/>
              <a:t>Jejunostomy tube bypasses the stomach and injects tube feeding formula directly in to the small intestine (jejunum)</a:t>
            </a:r>
          </a:p>
        </p:txBody>
      </p:sp>
      <p:pic>
        <p:nvPicPr>
          <p:cNvPr descr="images/jejunostomy/esophagectomy_jejunos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Feedings are administered through the jejunostomy at night by a pump</a:t>
            </a:r>
          </a:p>
        </p:txBody>
      </p:sp>
      <p:pic>
        <p:nvPicPr>
          <p:cNvPr descr="images/jejunostomy/esophagectomy_jtube_pu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 (2-4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Surgical ICU on 11th floor</a:t>
            </a:r>
          </a:p>
          <a:p>
            <a:pPr lvl="0"/>
            <a:r>
              <a:rPr/>
              <a:t>NG tube in nose to drain stomach and esophagus</a:t>
            </a:r>
          </a:p>
          <a:p>
            <a:pPr lvl="0"/>
            <a:r>
              <a:rPr/>
              <a:t>Catheter in bladder</a:t>
            </a:r>
          </a:p>
          <a:p>
            <a:pPr lvl="0"/>
            <a:r>
              <a:rPr/>
              <a:t>Chest tube right chest</a:t>
            </a:r>
          </a:p>
          <a:p>
            <a:pPr lvl="0"/>
            <a:r>
              <a:rPr/>
              <a:t>Abdominal drains (usually 2)</a:t>
            </a:r>
          </a:p>
          <a:p>
            <a:pPr lvl="0"/>
            <a:r>
              <a:rPr/>
              <a:t>Feeding jejunostomy (usually stays in 8 wks)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Bladder catheter removed → check that bladder empties properly</a:t>
            </a:r>
          </a:p>
          <a:p>
            <a:pPr lvl="0"/>
            <a:r>
              <a:rPr/>
              <a:t>Chest tube removed (day 2-4) → follow-up x-ray</a:t>
            </a:r>
          </a:p>
          <a:p>
            <a:pPr lvl="0"/>
            <a:r>
              <a:rPr/>
              <a:t>Fluid emptied from drains every few hours</a:t>
            </a:r>
          </a:p>
          <a:p>
            <a:pPr lvl="0"/>
            <a:r>
              <a:rPr/>
              <a:t>Start tube feedings by feeding</a:t>
            </a:r>
          </a:p>
          <a:p>
            <a:pPr lvl="0"/>
            <a:r>
              <a:rPr/>
              <a:t>Feeding jejunostomy (stays in 8 weeks)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Ward - 6Tower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feeds started</a:t>
            </a:r>
          </a:p>
          <a:p>
            <a:pPr lvl="0"/>
            <a:r>
              <a:rPr/>
              <a:t>Up in a chair most of the day</a:t>
            </a:r>
          </a:p>
          <a:p>
            <a:pPr lvl="0"/>
            <a:r>
              <a:rPr/>
              <a:t>Walking in the halls</a:t>
            </a:r>
          </a:p>
          <a:p>
            <a:pPr lvl="1"/>
            <a:r>
              <a:rPr/>
              <a:t>Start with assistance</a:t>
            </a:r>
          </a:p>
          <a:p>
            <a:pPr lvl="1"/>
            <a:r>
              <a:rPr/>
              <a:t>Improves lung function</a:t>
            </a:r>
          </a:p>
          <a:p>
            <a:pPr lvl="1"/>
            <a:r>
              <a:rPr/>
              <a:t>Prevents loss of muscle strength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feeds</a:t>
            </a:r>
          </a:p>
          <a:p>
            <a:pPr lvl="0"/>
            <a:r>
              <a:rPr/>
              <a:t>Start continuous (24 hours)</a:t>
            </a:r>
          </a:p>
          <a:p>
            <a:pPr lvl="0"/>
            <a:r>
              <a:rPr/>
              <a:t>Convert to night-time only (16 hours)</a:t>
            </a:r>
          </a:p>
          <a:p>
            <a:pPr lvl="0" indent="0" marL="0">
              <a:buNone/>
            </a:pPr>
            <a:r>
              <a:rPr/>
              <a:t>Water administered through feeding tube</a:t>
            </a:r>
          </a:p>
          <a:p>
            <a:pPr lvl="0"/>
            <a:r>
              <a:rPr/>
              <a:t>Usually 8oz 4 times/day</a:t>
            </a:r>
          </a:p>
          <a:p>
            <a:pPr lvl="0"/>
            <a:r>
              <a:rPr/>
              <a:t>Important to prevent dehydration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Rate can be easily adjusted</a:t>
            </a:r>
          </a:p>
        </p:txBody>
      </p:sp>
      <p:pic>
        <p:nvPicPr>
          <p:cNvPr descr="images/jejunostomy/enteralbag_pump_hopis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8300" y="1193800"/>
            <a:ext cx="2565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in chair most of the day</a:t>
            </a:r>
          </a:p>
          <a:p>
            <a:pPr lvl="0"/>
            <a:r>
              <a:rPr/>
              <a:t>Walking with help from nurse/Physical Therapist</a:t>
            </a:r>
          </a:p>
          <a:p>
            <a:pPr lvl="0"/>
            <a:r>
              <a:rPr/>
              <a:t>Goals:</a:t>
            </a:r>
          </a:p>
          <a:p>
            <a:pPr lvl="1"/>
            <a:r>
              <a:rPr/>
              <a:t>Improve lung function</a:t>
            </a:r>
          </a:p>
          <a:p>
            <a:pPr lvl="1"/>
            <a:r>
              <a:rPr/>
              <a:t>Prevent muscle loss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Nasogastric (NG) Tube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Tube passed through nose into stomach</a:t>
                </a:r>
              </a:p>
              <a:p>
                <a:pPr lvl="0"/>
                <a:r>
                  <a:rPr/>
                  <a:t>Drains fluid from stomach</a:t>
                </a:r>
              </a:p>
              <a:p>
                <a:pPr lvl="0"/>
                <a:r>
                  <a:rPr/>
                  <a:t>Prevents vomiting</a:t>
                </a:r>
              </a:p>
              <a:p>
                <a:pPr lvl="0" indent="0" marL="0">
                  <a:buNone/>
                </a:pPr>
                <a:r>
                  <a:rPr/>
                  <a:t>Upper GI X-ray on 2nd or 3rd day after surgery</a:t>
                </a:r>
              </a:p>
              <a:p>
                <a:pPr lvl="0"/>
                <a:r>
                  <a:rPr/>
                  <a:t>If stomach empties well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NG tube removed</a:t>
                </a:r>
              </a:p>
              <a:p>
                <a:pPr lvl="0"/>
                <a:r>
                  <a:rPr/>
                  <a:t>Otherwise, X-ray repeated 2-3 days later</a:t>
                </a:r>
              </a:p>
            </p:txBody>
          </p:sp>
        </mc:Choice>
      </mc:AlternateContent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Swallowing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Once NG tube has been removed:</a:t>
                </a:r>
              </a:p>
              <a:p>
                <a:pPr lvl="0" indent="0" marL="0">
                  <a:buNone/>
                </a:pPr>
                <a:r>
                  <a:rPr/>
                  <a:t>Modified barium swallow in radiology</a:t>
                </a:r>
              </a:p>
              <a:p>
                <a:pPr lvl="0"/>
                <a:r>
                  <a:rPr/>
                  <a:t>Drink a white chalky liquid (barium)</a:t>
                </a:r>
              </a:p>
              <a:p>
                <a:pPr lvl="0"/>
                <a:r>
                  <a:rPr/>
                  <a:t>Look for proper swallowing function</a:t>
                </a:r>
              </a:p>
              <a:p>
                <a:pPr lvl="0"/>
                <a:r>
                  <a:rPr/>
                  <a:t>80% of patients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liquids started by mouth</a:t>
                </a:r>
              </a:p>
            </p:txBody>
          </p:sp>
        </mc:Choice>
      </mc:AlternateContent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with continuous feeds (24 hours/day)</a:t>
            </a:r>
          </a:p>
          <a:p>
            <a:pPr lvl="0"/>
            <a:r>
              <a:rPr/>
              <a:t>Convert to nocturnal (night-time): 6pm to 10pm</a:t>
            </a:r>
          </a:p>
          <a:p>
            <a:pPr lvl="0" indent="0" marL="0">
              <a:buNone/>
            </a:pPr>
            <a:r>
              <a:rPr/>
              <a:t>The feeding bag holds only 4 cartons of feeds - May need to “top off’ bag after a few hours</a:t>
            </a:r>
          </a:p>
          <a:p>
            <a:pPr lvl="0" indent="0" marL="0">
              <a:buNone/>
            </a:pPr>
            <a:r>
              <a:rPr/>
              <a:t>Water through the tube - Important to prevent dehydration - 250mL (8 oz) 4 times per day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Oral Intake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are taking protein shakes when they go home</a:t>
            </a:r>
          </a:p>
          <a:p>
            <a:pPr lvl="0" indent="0" marL="0">
              <a:buNone/>
            </a:pPr>
            <a:r>
              <a:rPr/>
              <a:t>Protein shakes are started after tolerating water</a:t>
            </a:r>
            <a:br/>
          </a:p>
          <a:p>
            <a:pPr lvl="0"/>
            <a:r>
              <a:rPr/>
              <a:t>2 oz per hour to start</a:t>
            </a:r>
          </a:p>
          <a:p>
            <a:pPr lvl="0"/>
            <a:r>
              <a:rPr/>
              <a:t>4 oz per hour if 2oz are tolerated well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Drains and Tubes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Chest Tube (right side): Removed 4-6 days after surgery (depending upon output) Abdomiaal drains: Removed 4-7 days after surgery Discharge with 1 abdominal drain in 10% of cases Epidural catheter: Removed 4-5 days after surgery Bladder catheter: Removed after epicura catheter removed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ready to leave day #7 after surgery</a:t>
            </a:r>
          </a:p>
          <a:p>
            <a:pPr lvl="0"/>
            <a:r>
              <a:rPr/>
              <a:t>Night-time tube feedings (6pm to 10am)</a:t>
            </a:r>
          </a:p>
          <a:p>
            <a:pPr lvl="0"/>
            <a:r>
              <a:rPr/>
              <a:t>Nutrition by mouth (90% of patients)</a:t>
            </a:r>
          </a:p>
          <a:p>
            <a:pPr lvl="1"/>
            <a:r>
              <a:rPr/>
              <a:t>Protein shakes or water 4oz every 2 hours</a:t>
            </a:r>
          </a:p>
          <a:p>
            <a:pPr lvl="0"/>
            <a:r>
              <a:rPr/>
              <a:t>Water through tube 8oz four times per day</a:t>
            </a:r>
          </a:p>
          <a:p>
            <a:pPr lvl="0"/>
            <a:r>
              <a:rPr/>
              <a:t>Home care nursing (feeding tube teaching)</a:t>
            </a:r>
          </a:p>
          <a:p>
            <a:pPr lvl="0"/>
            <a:r>
              <a:rPr/>
              <a:t>Home infusion (tube feeding supplies)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discharge home:</a:t>
            </a:r>
          </a:p>
          <a:p>
            <a:pPr lvl="0"/>
            <a:r>
              <a:rPr/>
              <a:t>Protein shakes 4oz every 2 hrs</a:t>
            </a:r>
          </a:p>
          <a:p>
            <a:pPr lvl="0"/>
            <a:r>
              <a:rPr/>
              <a:t>Tube feeds 4-5 cans at night (6pm-10am)</a:t>
            </a:r>
          </a:p>
          <a:p>
            <a:pPr lvl="0" indent="0" marL="0">
              <a:buNone/>
            </a:pPr>
            <a:r>
              <a:rPr/>
              <a:t>10-12 Days: Increase protein shakes</a:t>
            </a:r>
          </a:p>
          <a:p>
            <a:pPr lvl="0"/>
            <a:r>
              <a:rPr/>
              <a:t>Tube feeds 3-4 cans at night</a:t>
            </a:r>
          </a:p>
          <a:p>
            <a:pPr lvl="0" indent="0" marL="0">
              <a:buNone/>
            </a:pPr>
            <a:r>
              <a:rPr/>
              <a:t>Three weeks: Post-esophagectomy Diet</a:t>
            </a:r>
          </a:p>
          <a:p>
            <a:pPr lvl="0" indent="0" marL="0">
              <a:buNone/>
            </a:pPr>
            <a:r>
              <a:rPr/>
              <a:t>8-12 weeks: Remove feeding tube (in office)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Transition from Tube Feeds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Eating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Dietitian will calculate daily protein goal</a:t>
                </a:r>
              </a:p>
              <a:p>
                <a:pPr lvl="0"/>
                <a:r>
                  <a:rPr/>
                  <a:t>Typically 60-75 grams protein/day</a:t>
                </a:r>
              </a:p>
              <a:p>
                <a:pPr lvl="0"/>
                <a:r>
                  <a:rPr/>
                  <a:t>Each carton of tube feeding has 15 grams</a:t>
                </a:r>
              </a:p>
              <a:p>
                <a:pPr lvl="1"/>
                <a:r>
                  <a:rPr/>
                  <a:t>75 grams protein = 5 cartons/night</a:t>
                </a:r>
              </a:p>
              <a:p>
                <a:pPr lvl="0"/>
                <a:r>
                  <a:rPr/>
                  <a:t>More intake by mouth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tube feeds reduced</a:t>
                </a:r>
              </a:p>
              <a:p>
                <a:pPr lvl="0" indent="0" marL="0">
                  <a:buNone/>
                </a:pPr>
                <a:r>
                  <a:rPr/>
                  <a:t>Spread out protein during the day (20gm/meal)</a:t>
                </a:r>
              </a:p>
              <a:p>
                <a:pPr lvl="0"/>
                <a:r>
                  <a:rPr/>
                  <a:t>Three meals + 2-3 high-protein snacks</a:t>
                </a:r>
              </a:p>
            </p:txBody>
          </p:sp>
        </mc:Choice>
      </mc:AlternateContent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Post-esophagectomy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Soft Consistency</a:t>
            </a:r>
          </a:p>
          <a:p>
            <a:pPr lvl="0"/>
            <a:r>
              <a:rPr/>
              <a:t>High Protein</a:t>
            </a:r>
          </a:p>
          <a:p>
            <a:pPr lvl="0"/>
            <a:r>
              <a:rPr/>
              <a:t>Avoid sugary liquids (can cause ‘dumping’)</a:t>
            </a:r>
          </a:p>
          <a:p>
            <a:pPr lvl="0"/>
            <a:r>
              <a:rPr/>
              <a:t>Avoid raw vegetables (and salads)</a:t>
            </a:r>
          </a:p>
          <a:p>
            <a:pPr lvl="0"/>
            <a:r>
              <a:rPr/>
              <a:t>Eating</a:t>
            </a:r>
          </a:p>
          <a:p>
            <a:pPr lvl="1"/>
            <a:r>
              <a:rPr/>
              <a:t>Small, frequent meals</a:t>
            </a:r>
          </a:p>
          <a:p>
            <a:pPr lvl="1"/>
            <a:r>
              <a:rPr/>
              <a:t>Sit up for 30-45 minutes after eating</a:t>
            </a:r>
          </a:p>
          <a:p>
            <a:pPr lvl="1"/>
            <a:r>
              <a:rPr/>
              <a:t>Avoid eating within 2 hours of bedtime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 -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Acetaminophen (Tylenol) 1000mg 4x/day</a:t>
            </a:r>
          </a:p>
          <a:p>
            <a:pPr lvl="0" indent="0" marL="0">
              <a:buNone/>
            </a:pPr>
            <a:r>
              <a:rPr/>
              <a:t>Gabapentin 300mg 3 times/day</a:t>
            </a:r>
          </a:p>
          <a:p>
            <a:pPr lvl="0" indent="0" marL="0">
              <a:buNone/>
            </a:pPr>
            <a:r>
              <a:rPr/>
              <a:t>Oxycodone</a:t>
            </a:r>
          </a:p>
          <a:p>
            <a:pPr lvl="0"/>
            <a:r>
              <a:rPr/>
              <a:t>As needed in addition to Tylenol/gabapentin</a:t>
            </a:r>
          </a:p>
          <a:p>
            <a:pPr lvl="0"/>
            <a:r>
              <a:rPr/>
              <a:t>Will begin reducing dose at first postop visit</a:t>
            </a:r>
          </a:p>
          <a:p>
            <a:pPr lvl="0"/>
            <a:r>
              <a:rPr/>
              <a:t>Can usually discontinue by 4 weeks</a:t>
            </a:r>
          </a:p>
          <a:p>
            <a:pPr lvl="0"/>
            <a:r>
              <a:rPr/>
              <a:t>NO DRIVING WHILE ON OXYCODONE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Non-steroidals Anti Inflammatory (NSAID)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Non-steroidal anti-inflammatories (Celebrex)</a:t>
            </a:r>
          </a:p>
          <a:p>
            <a:pPr lvl="0"/>
            <a:r>
              <a:rPr/>
              <a:t>200 mg every 12 hours starting at 2 weeks</a:t>
            </a:r>
          </a:p>
          <a:p>
            <a:pPr lvl="0" indent="0" marL="0">
              <a:buNone/>
            </a:pPr>
            <a:r>
              <a:rPr/>
              <a:t>NO GOODY POWDERS OR BCs</a:t>
            </a:r>
          </a:p>
          <a:p>
            <a:pPr lvl="0"/>
            <a:r>
              <a:rPr/>
              <a:t>(Can cause permanent scarring at the surgery site)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Acid Blockers = Proton Pump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include ompeprazole and pantoprazole</a:t>
            </a:r>
          </a:p>
          <a:p>
            <a:pPr lvl="0"/>
            <a:r>
              <a:rPr/>
              <a:t>Will stay on for at 1-2 years to prevent acid reflux</a:t>
            </a:r>
          </a:p>
          <a:p>
            <a:pPr lvl="0"/>
            <a:r>
              <a:rPr/>
              <a:t>Important in preventing scarring at anastomosis (new connection between esophagus and stomach)</a:t>
            </a:r>
          </a:p>
          <a:p>
            <a:pPr lvl="0"/>
            <a:r>
              <a:rPr/>
              <a:t>To administer through feeding tube, open capsule and resuspend beads in 60mL (2oz) of water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Reglan – Helps stomach empty</a:t>
            </a:r>
          </a:p>
          <a:p>
            <a:pPr lvl="0"/>
            <a:r>
              <a:rPr/>
              <a:t>Will plan to stop after six weeks</a:t>
            </a:r>
          </a:p>
          <a:p>
            <a:pPr lvl="0"/>
            <a:r>
              <a:rPr/>
              <a:t>0.1% risk of tardive dyskinesia (nervous tic)</a:t>
            </a:r>
          </a:p>
          <a:p>
            <a:pPr lvl="0" indent="0" marL="0">
              <a:buNone/>
            </a:pPr>
            <a:r>
              <a:rPr/>
              <a:t>Remeron – Helps improve appetite</a:t>
            </a:r>
          </a:p>
          <a:p>
            <a:pPr lvl="0"/>
            <a:r>
              <a:rPr/>
              <a:t>Can cause vivid dreams</a:t>
            </a:r>
          </a:p>
          <a:p>
            <a:pPr lvl="0"/>
            <a:r>
              <a:rPr/>
              <a:t>Used for several weeks after surgery</a:t>
            </a:r>
          </a:p>
          <a:p>
            <a:pPr lvl="0"/>
            <a:r>
              <a:rPr/>
              <a:t>Will stop within first three months of surgery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Metoprolol = Beta Blockers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Slows heart rate and lowers blood pressure</a:t>
                </a:r>
                <a:br/>
              </a:p>
              <a:p>
                <a:pPr lvl="0"/>
                <a:r>
                  <a:rPr/>
                  <a:t>Used to prevent rapid heart rate</a:t>
                </a:r>
              </a:p>
              <a:p>
                <a:pPr lvl="0"/>
                <a:r>
                  <a:rPr/>
                  <a:t>Patients not taking a beta blocker 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wean after after surgery</a:t>
                </a:r>
              </a:p>
              <a:p>
                <a:pPr lvl="0"/>
                <a:r>
                  <a:rPr/>
                  <a:t>Patients taking a beta blockerprior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return to prior dose and drug after surgery</a:t>
                </a:r>
              </a:p>
            </p:txBody>
          </p:sp>
        </mc:Choice>
      </mc:AlternateContent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Sleeping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Reflux can occur the first few weeks/months after surgery</a:t>
            </a:r>
          </a:p>
          <a:p>
            <a:pPr lvl="0" indent="0" marL="0">
              <a:buNone/>
            </a:pPr>
            <a:r>
              <a:rPr/>
              <a:t>This improves over the first few months</a:t>
            </a:r>
          </a:p>
          <a:p>
            <a:pPr lvl="0" indent="0" marL="0">
              <a:buNone/>
            </a:pPr>
            <a:r>
              <a:rPr/>
              <a:t>A wedge pillow can be helpful for sleep</a:t>
            </a:r>
          </a:p>
        </p:txBody>
      </p:sp>
      <p:pic>
        <p:nvPicPr>
          <p:cNvPr descr="images/wedge_pillow_com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Follow Up Clinic Visit 7-10 days after 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In-person clinic visit with Dr Salo or Kate Duncan</a:t>
            </a:r>
          </a:p>
          <a:p>
            <a:pPr lvl="0"/>
            <a:r>
              <a:rPr/>
              <a:t>Check surgical site</a:t>
            </a:r>
          </a:p>
          <a:p>
            <a:pPr lvl="0"/>
            <a:r>
              <a:rPr/>
              <a:t>Remove staples (if needed)</a:t>
            </a:r>
          </a:p>
          <a:p>
            <a:pPr lvl="0"/>
            <a:r>
              <a:rPr/>
              <a:t>Remove abdominal drains (if needed)</a:t>
            </a:r>
          </a:p>
          <a:p>
            <a:pPr lvl="0" indent="0" marL="0">
              <a:buNone/>
            </a:pPr>
            <a:r>
              <a:rPr/>
              <a:t>Meet with dietitian:</a:t>
            </a:r>
          </a:p>
          <a:p>
            <a:pPr lvl="0"/>
            <a:r>
              <a:rPr/>
              <a:t>Reduce tube feeds</a:t>
            </a:r>
          </a:p>
          <a:p>
            <a:pPr lvl="0"/>
            <a:r>
              <a:rPr/>
              <a:t>Advance diet by mouth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Adjust Medicines after Surgery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Reglan: Discontinue 6 weeks after surgery Remeron: Discontinue 12 weeks after surgery Pain Medicines:</a:t>
                </a:r>
              </a:p>
              <a:p>
                <a:pPr lvl="0"/>
                <a:r>
                  <a:rPr/>
                  <a:t>Wean oxycodone within 6 weeks of surgery</a:t>
                </a:r>
              </a:p>
              <a:p>
                <a:pPr lvl="0"/>
                <a:r>
                  <a:rPr/>
                  <a:t>Discontinue gabapentin and acetaminophen (Tylenol) within 8 weeks</a:t>
                </a:r>
              </a:p>
              <a:p>
                <a:pPr lvl="0" indent="0" marL="0">
                  <a:buNone/>
                </a:pPr>
                <a:r>
                  <a:rPr/>
                  <a:t>Continue acid blockers (PPI) for at least 1 year</a:t>
                </a:r>
              </a:p>
              <a:p>
                <a:pPr lvl="0" indent="0" marL="0">
                  <a:buNone/>
                </a:pPr>
                <a:r>
                  <a:rPr/>
                  <a:t>Reduce metoprolol to once/day for 7 dayus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discontinue</a:t>
                </a:r>
              </a:p>
            </p:txBody>
          </p:sp>
        </mc:Choice>
      </mc:AlternateContent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Second Follow Up 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4-5 weeks after first post-operative visit</a:t>
            </a:r>
          </a:p>
          <a:p>
            <a:pPr lvl="0"/>
            <a:r>
              <a:rPr/>
              <a:t>Discuss diet</a:t>
            </a:r>
          </a:p>
          <a:p>
            <a:pPr lvl="0"/>
            <a:r>
              <a:rPr/>
              <a:t>Discuss medicines</a:t>
            </a:r>
          </a:p>
          <a:p>
            <a:pPr lvl="0"/>
            <a:r>
              <a:rPr/>
              <a:t>Plan for jejunostomy removal</a:t>
            </a:r>
          </a:p>
          <a:p>
            <a:pPr lvl="0"/>
            <a:r>
              <a:rPr/>
              <a:t>Evaluate readiness for chemotherapy after surgery (usually 6 weeks)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Eating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Postoperative Visit: Start soft foods (Phase I diet)</a:t>
            </a:r>
          </a:p>
          <a:p>
            <a:pPr lvl="0" indent="0" marL="0">
              <a:buNone/>
            </a:pPr>
            <a:r>
              <a:rPr/>
              <a:t>Weekly virtual visits with dietitian</a:t>
            </a:r>
          </a:p>
          <a:p>
            <a:pPr lvl="0" indent="0" marL="0">
              <a:buNone/>
            </a:pPr>
            <a:r>
              <a:rPr/>
              <a:t>Jejunostomy removal generally at 8 weeks after surgery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is removed in the office once you can take in enough nutrients by mouth</a:t>
            </a:r>
          </a:p>
          <a:p>
            <a:pPr lvl="0" indent="0" marL="0">
              <a:buNone/>
            </a:pPr>
            <a:r>
              <a:rPr/>
              <a:t>Removal usually around 8 weeks after surgery (may be longer if chemotherapy planned after surgery)</a:t>
            </a:r>
          </a:p>
          <a:p>
            <a:pPr lvl="0" indent="0" marL="0">
              <a:buNone/>
            </a:pPr>
            <a:r>
              <a:rPr/>
              <a:t>May take 30 minutes and some local anesthetic to loosen up the tube for removal.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may have difficulty absorbing some nutrients:</a:t>
            </a:r>
          </a:p>
          <a:p>
            <a:pPr lvl="0"/>
            <a:r>
              <a:rPr/>
              <a:t>Iron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3 months after the jejunostomy tube is removed, we will check blood levels:</a:t>
            </a:r>
          </a:p>
          <a:p>
            <a:pPr lvl="0"/>
            <a:r>
              <a:rPr/>
              <a:t>Iron (ferritin)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Replacements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Vitamin or iron replacements can be ordered by:</a:t>
            </a:r>
          </a:p>
          <a:p>
            <a:pPr lvl="0"/>
            <a:r>
              <a:rPr/>
              <a:t>Primary Care Provider (PCP)</a:t>
            </a:r>
          </a:p>
          <a:p>
            <a:pPr lvl="0"/>
            <a:r>
              <a:rPr/>
              <a:t>Medical Oncologist</a:t>
            </a:r>
          </a:p>
          <a:p>
            <a:pPr lvl="0"/>
            <a:r>
              <a:rPr/>
              <a:t>Surgeon</a:t>
            </a:r>
          </a:p>
          <a:p>
            <a:pPr lvl="0" indent="0" marL="0">
              <a:buNone/>
            </a:pPr>
            <a:r>
              <a:rPr/>
              <a:t>If levels are low</a:t>
            </a:r>
          </a:p>
          <a:p>
            <a:pPr lvl="0"/>
            <a:r>
              <a:rPr/>
              <a:t>Replacement</a:t>
            </a:r>
          </a:p>
          <a:p>
            <a:pPr lvl="0"/>
            <a:r>
              <a:rPr/>
              <a:t>Repeat testing in 3-6 months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Navigators: Laura Swift RN &amp; Lorna Espinal RN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 Cancer of the Esophagus and GE Junction</dc:title>
  <dc:creator/>
  <cp:keywords/>
  <dcterms:created xsi:type="dcterms:W3CDTF">2026-09-23T11:40:28Z</dcterms:created>
  <dcterms:modified xsi:type="dcterms:W3CDTF">2026-09-23T11:40:28Z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