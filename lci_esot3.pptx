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4" Type="http://schemas.openxmlformats.org/officeDocument/2006/relationships/slide" Target="slides/slide103.xml" /><Relationship Id="rId105" Type="http://schemas.openxmlformats.org/officeDocument/2006/relationships/slide" Target="slides/slide104.xml" /><Relationship Id="rId106" Type="http://schemas.openxmlformats.org/officeDocument/2006/relationships/slide" Target="slides/slide105.xml" /><Relationship Id="rId107" Type="http://schemas.openxmlformats.org/officeDocument/2006/relationships/slide" Target="slides/slide106.xml" /><Relationship Id="rId108" Type="http://schemas.openxmlformats.org/officeDocument/2006/relationships/slide" Target="slides/slide107.xml" /><Relationship Id="rId109" Type="http://schemas.openxmlformats.org/officeDocument/2006/relationships/slide" Target="slides/slide108.xml" /><Relationship Id="rId110" Type="http://schemas.openxmlformats.org/officeDocument/2006/relationships/slide" Target="slides/slide109.xml" /><Relationship Id="rId111" Type="http://schemas.openxmlformats.org/officeDocument/2006/relationships/slide" Target="slides/slide110.xml" /><Relationship Id="rId112" Type="http://schemas.openxmlformats.org/officeDocument/2006/relationships/slide" Target="slides/slide111.xml" /><Relationship Id="rId113" Type="http://schemas.openxmlformats.org/officeDocument/2006/relationships/slide" Target="slides/slide112.xml" /><Relationship Id="rId114" Type="http://schemas.openxmlformats.org/officeDocument/2006/relationships/slide" Target="slides/slide113.xml" /><Relationship Id="rId115" Type="http://schemas.openxmlformats.org/officeDocument/2006/relationships/slide" Target="slides/slide114.xml" /><Relationship Id="rId116" Type="http://schemas.openxmlformats.org/officeDocument/2006/relationships/slide" Target="slides/slide115.xml" /><Relationship Id="rId117" Type="http://schemas.openxmlformats.org/officeDocument/2006/relationships/slide" Target="slides/slide116.xml" /><Relationship Id="rId118" Type="http://schemas.openxmlformats.org/officeDocument/2006/relationships/slide" Target="slides/slide117.xml" /><Relationship Id="rId119" Type="http://schemas.openxmlformats.org/officeDocument/2006/relationships/slide" Target="slides/slide118.xml" /><Relationship Id="rId120" Type="http://schemas.openxmlformats.org/officeDocument/2006/relationships/slide" Target="slides/slide119.xml" /><Relationship Id="rId121" Type="http://schemas.openxmlformats.org/officeDocument/2006/relationships/slide" Target="slides/slide120.xml" /><Relationship Id="rId122" Type="http://schemas.openxmlformats.org/officeDocument/2006/relationships/slide" Target="slides/slide121.xml" /><Relationship Id="rId123" Type="http://schemas.openxmlformats.org/officeDocument/2006/relationships/slide" Target="slides/slide122.xml" /><Relationship Id="rId125" Type="http://schemas.openxmlformats.org/officeDocument/2006/relationships/viewProps" Target="viewProps.xml" /><Relationship Id="rId1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27" Type="http://schemas.openxmlformats.org/officeDocument/2006/relationships/tableStyles" Target="tableStyles.xml" /><Relationship Id="rId1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9.png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png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0.png" /><Relationship Id="rId2" Type="http://schemas.openxmlformats.org/officeDocument/2006/relationships/image" Target="../media/image29.png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4.png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5.png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7.png" /><Relationship Id="rId2" Type="http://schemas.openxmlformats.org/officeDocument/2006/relationships/image" Target="../media/image36.png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2.png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8.png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9.png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0.png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1.png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8.png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2.jpg" /></Relationships>
</file>

<file path=ppt/slides/_rels/slide1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T3 Cancer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Types of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are two common types of esophageal cancer</a:t>
            </a:r>
          </a:p>
          <a:p>
            <a:pPr lvl="0"/>
            <a:r>
              <a:rPr/>
              <a:t>Adenocarcinoma</a:t>
            </a:r>
          </a:p>
          <a:p>
            <a:pPr lvl="0"/>
            <a:r>
              <a:rPr/>
              <a:t>Squamous Cell Carcinoma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(T1): Endoscopic Therapy</a:t>
                </a:r>
              </a:p>
              <a:p>
                <a:pPr lvl="0" indent="0" marL="0">
                  <a:buNone/>
                </a:pPr>
                <a:br/>
                <a:r>
                  <a:rPr/>
                  <a:t>Localized (T1b/T2): Surgery (esophagectomy)</a:t>
                </a:r>
              </a:p>
              <a:p>
                <a:pPr lvl="0" indent="0" marL="0">
                  <a:buNone/>
                </a:pPr>
                <a:br/>
                <a:r>
                  <a:rPr/>
                  <a:t>Locally-advanced (T3M0): 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br/>
                <a:r>
                  <a:rPr/>
                  <a:t>Metastatic (M1): Chemotherapy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</a:t>
            </a:r>
            <a:r>
              <a:rPr i="1"/>
              <a:t>adenocarcinoma</a:t>
            </a:r>
            <a:r>
              <a:rPr/>
              <a:t> an alternative to chemotherapy + radiation is “Sandwich” chemotherapy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Chemo+Radiation (6 wks)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Chemotherapy (8 wks)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Chemotherapy (8 wks)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CROSS 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gets slowly better</a:t>
            </a:r>
          </a:p>
          <a:p>
            <a:pPr lvl="0"/>
            <a:r>
              <a:rPr/>
              <a:t>Feeding tube less likely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(or PET) scan performed after preoperative therapy</a:t>
            </a:r>
          </a:p>
          <a:p>
            <a:pPr lvl="0" indent="0" marL="0">
              <a:buNone/>
            </a:pPr>
            <a:br/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Preparation for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evaluation may be needed before surgery:</a:t>
            </a:r>
          </a:p>
          <a:p>
            <a:pPr lvl="0"/>
            <a:r>
              <a:rPr/>
              <a:t>Pulmonary Function Tests to test lung function</a:t>
            </a:r>
          </a:p>
          <a:p>
            <a:pPr lvl="0"/>
            <a:r>
              <a:rPr/>
              <a:t>Cardiology evaluation to test heart function</a:t>
            </a:r>
          </a:p>
          <a:p>
            <a:pPr lvl="1"/>
            <a:r>
              <a:rPr/>
              <a:t>Echocardiogram</a:t>
            </a:r>
          </a:p>
          <a:p>
            <a:pPr lvl="1"/>
            <a:r>
              <a:rPr/>
              <a:t>Stress Test</a:t>
            </a:r>
          </a:p>
          <a:p>
            <a:pPr lvl="1"/>
            <a:r>
              <a:rPr/>
              <a:t>Holter monitor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Surgery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Surgery scheduled after medical evaluation</a:t>
            </a:r>
          </a:p>
          <a:p>
            <a:pPr lvl="0"/>
            <a:r>
              <a:rPr/>
              <a:t>Aim for surgery within 6 weeks of consultation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Esophagectomy for Cancers of the Esophagus or GE Junction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Preoperative 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(T3 Nx M0)</a:t>
                </a:r>
              </a:p>
              <a:p>
                <a:pPr lvl="0"/>
                <a:r>
                  <a:rPr/>
                  <a:t>Surgery scheduled after</a:t>
                </a:r>
              </a:p>
              <a:p>
                <a:pPr lvl="1"/>
                <a:r>
                  <a:rPr/>
                  <a:t>Recovery from preoperative therapy</a:t>
                </a:r>
              </a:p>
              <a:p>
                <a:pPr lvl="1"/>
                <a:r>
                  <a:rPr/>
                  <a:t>Restaging scans (CT or PET)</a:t>
                </a:r>
              </a:p>
              <a:p>
                <a:pPr lvl="1"/>
                <a:r>
                  <a:rPr/>
                  <a:t>Medical evaluation</a:t>
                </a:r>
              </a:p>
              <a:p>
                <a:pPr lvl="0"/>
                <a:r>
                  <a:rPr/>
                  <a:t>Timing between end of preoperative therapy and surgery</a:t>
                </a:r>
              </a:p>
              <a:p>
                <a:pPr lvl="1"/>
                <a:r>
                  <a:rPr/>
                  <a:t>Chemotherapy + radiation: 6-8 weeks</a:t>
                </a:r>
              </a:p>
              <a:p>
                <a:pPr lvl="1"/>
                <a:r>
                  <a:rPr/>
                  <a:t>Chemotherapy: 4-8 weeks</a:t>
                </a:r>
              </a:p>
            </p:txBody>
          </p:sp>
        </mc:Choice>
      </mc:AlternateContent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Visits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Medical Oncology - Monitor chemotherapy</a:t>
            </a:r>
          </a:p>
          <a:p>
            <a:pPr lvl="0" indent="0" marL="0">
              <a:buNone/>
            </a:pPr>
            <a:r>
              <a:rPr/>
              <a:t>Radiation Oncology - Monitor radiation</a:t>
            </a:r>
          </a:p>
          <a:p>
            <a:pPr lvl="0" indent="0" marL="0">
              <a:buNone/>
            </a:pPr>
            <a:r>
              <a:rPr/>
              <a:t>Surgical Oncology</a:t>
            </a:r>
          </a:p>
          <a:p>
            <a:pPr lvl="0"/>
            <a:r>
              <a:rPr/>
              <a:t>Consult visit with Dr Salo</a:t>
            </a:r>
          </a:p>
          <a:p>
            <a:pPr lvl="0"/>
            <a:r>
              <a:rPr/>
              <a:t>Mid-treatment visits with Dr Salo / Kate Duncan</a:t>
            </a:r>
          </a:p>
          <a:p>
            <a:pPr lvl="0"/>
            <a:r>
              <a:rPr/>
              <a:t>Preop visit with Dr Salo (may be virtual)</a:t>
            </a:r>
          </a:p>
          <a:p>
            <a:pPr lvl="0"/>
            <a:r>
              <a:rPr/>
              <a:t>Preop visit with Kate Duncan and Liz Koch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1/2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:::::</a:t>
            </a:r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 Esophagectomy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RaMIE_incision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98% of cases</a:t>
            </a:r>
          </a:p>
          <a:p>
            <a:pPr lvl="0" indent="0" marL="0">
              <a:buNone/>
            </a:pPr>
            <a:r>
              <a:rPr/>
              <a:t>In some cases, an open approach is still necessary (2%)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temporary feeding tube is placed to supplement nutrition by mouth.</a:t>
            </a:r>
          </a:p>
          <a:p>
            <a:pPr lvl="0" indent="0" marL="0">
              <a:buNone/>
            </a:pPr>
            <a:r>
              <a:rPr/>
              <a:t>This will stay in place for about 8 weeks after surgery</a:t>
            </a:r>
          </a:p>
        </p:txBody>
      </p:sp>
      <p:pic>
        <p:nvPicPr>
          <p:cNvPr descr="images/jejunostomy/esophagectomy_jejunos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Feedings are administered through the jejunostomy at night by a pump</a:t>
            </a:r>
          </a:p>
        </p:txBody>
      </p:sp>
      <p:pic>
        <p:nvPicPr>
          <p:cNvPr descr="images/jejunostomy/esophagectomy_jtube_pum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 with continuous feeds (24 hours/day)</a:t>
            </a:r>
          </a:p>
          <a:p>
            <a:pPr lvl="0"/>
            <a:r>
              <a:rPr/>
              <a:t>Convert to nocturnal (night-time): 6pm to 10pm</a:t>
            </a:r>
          </a:p>
          <a:p>
            <a:pPr lvl="0" indent="0" marL="0">
              <a:buNone/>
            </a:pPr>
            <a:r>
              <a:rPr/>
              <a:t>The feeding bag holds only 4 cartons of feeds - May need to “top off’ bag after a few hours</a:t>
            </a:r>
          </a:p>
          <a:p>
            <a:pPr lvl="0" indent="0" marL="0">
              <a:buNone/>
            </a:pPr>
            <a:r>
              <a:rPr/>
              <a:t>Water through the tube</a:t>
            </a:r>
          </a:p>
          <a:p>
            <a:pPr lvl="0"/>
            <a:r>
              <a:rPr/>
              <a:t>Important to prevent dehydration</a:t>
            </a:r>
          </a:p>
          <a:p>
            <a:pPr lvl="0"/>
            <a:r>
              <a:rPr/>
              <a:t>240mL (8 oz) 4 times per day</a:t>
            </a:r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Feeding Pump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Rate can be easily adjusted</a:t>
            </a:r>
          </a:p>
        </p:txBody>
      </p:sp>
      <p:pic>
        <p:nvPicPr>
          <p:cNvPr descr="images/jejunostomy/enteralbag_pump_hopis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48300" y="1193800"/>
            <a:ext cx="2565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80%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Drains and Tubes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Chest Tube (right side): Removed 4-6 days after surgery (depending upon output) Abdominal drains: Removed 4-7 days after surgery</a:t>
            </a:r>
          </a:p>
          <a:p>
            <a:pPr lvl="0"/>
            <a:r>
              <a:rPr/>
              <a:t>Discharge with 1 abdominal drain in 10% of cases</a:t>
            </a:r>
          </a:p>
          <a:p>
            <a:pPr lvl="0" indent="0" marL="0">
              <a:buNone/>
            </a:pPr>
            <a:r>
              <a:rPr/>
              <a:t>Epidural catheter: Removed 4-5 days after surgery Bladder catheter: Removed after epidural catheter removed</a:t>
            </a:r>
          </a:p>
        </p:txBody>
      </p:sp>
    </p:spTree>
  </p:cSld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(90% of patients)</a:t>
            </a:r>
          </a:p>
          <a:p>
            <a:pPr lvl="1"/>
            <a:r>
              <a:rPr/>
              <a:t>Protein shakes or water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Follow Up Visit 7-10 days after 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In-person clinic visit with Dr Salo or Kate Duncan</a:t>
            </a:r>
          </a:p>
          <a:p>
            <a:pPr lvl="0"/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/>
            <a:r>
              <a:rPr/>
              <a:t>Remove abdominal drains (if needed)</a:t>
            </a:r>
          </a:p>
          <a:p>
            <a:pPr lvl="0" indent="0" marL="0">
              <a:buNone/>
            </a:pPr>
            <a:r>
              <a:rPr/>
              <a:t>Meet with dietitian:</a:t>
            </a:r>
          </a:p>
          <a:p>
            <a:pPr lvl="0"/>
            <a:r>
              <a:rPr/>
              <a:t>Reduce tube feeds</a:t>
            </a:r>
          </a:p>
          <a:p>
            <a:pPr lvl="0"/>
            <a:r>
              <a:rPr/>
              <a:t>Advance diet by mouth</a:t>
            </a:r>
          </a:p>
        </p:txBody>
      </p:sp>
    </p:spTree>
  </p:cSld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Adjust Medicines after Surgery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Reglan: Discontinue 6 weeks after surgery Remeron: Discontinue 12 weeks after surgery Pain Medicines:</a:t>
                </a:r>
              </a:p>
              <a:p>
                <a:pPr lvl="0"/>
                <a:r>
                  <a:rPr/>
                  <a:t>Wean oxycodone within 6 weeks of surgery</a:t>
                </a:r>
              </a:p>
              <a:p>
                <a:pPr lvl="0"/>
                <a:r>
                  <a:rPr/>
                  <a:t>Discontinue gabapentin and acetaminophen (Tylenol) within 8 weeks</a:t>
                </a:r>
              </a:p>
              <a:p>
                <a:pPr lvl="0" indent="0" marL="0">
                  <a:buNone/>
                </a:pPr>
                <a:r>
                  <a:rPr/>
                  <a:t>Continue acid blockers (PPI) for at least 1 year</a:t>
                </a:r>
              </a:p>
              <a:p>
                <a:pPr lvl="0" indent="0" marL="0">
                  <a:buNone/>
                </a:pPr>
                <a:r>
                  <a:rPr/>
                  <a:t>Reduce metoprolol to once/day for 7 dayus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discontinue</a:t>
                </a:r>
              </a:p>
            </p:txBody>
          </p:sp>
        </mc:Choice>
      </mc:AlternateContent>
    </p:spTree>
  </p:cSld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Second Follow Up Visit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4-5 weeks after first post-operative visit</a:t>
            </a:r>
          </a:p>
          <a:p>
            <a:pPr lvl="0"/>
            <a:r>
              <a:rPr/>
              <a:t>Discuss diet</a:t>
            </a:r>
          </a:p>
          <a:p>
            <a:pPr lvl="0"/>
            <a:r>
              <a:rPr/>
              <a:t>Discuss medicines</a:t>
            </a:r>
          </a:p>
          <a:p>
            <a:pPr lvl="0"/>
            <a:r>
              <a:rPr/>
              <a:t>Plan for jejunostomy removal</a:t>
            </a:r>
          </a:p>
          <a:p>
            <a:pPr lvl="0"/>
            <a:r>
              <a:rPr/>
              <a:t>Evaluate readiness for chemotherapy after surgery (usually 6 weeks)</a:t>
            </a:r>
          </a:p>
        </p:txBody>
      </p:sp>
    </p:spTree>
  </p:cSld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Eating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First Postoperative Visit: Start soft foods (Phase I)</a:t>
            </a:r>
          </a:p>
          <a:p>
            <a:pPr lvl="0" indent="0" marL="0">
              <a:buNone/>
            </a:pPr>
            <a:r>
              <a:rPr/>
              <a:t>Weekly virtual visits with dietitian</a:t>
            </a:r>
          </a:p>
          <a:p>
            <a:pPr lvl="0" indent="0" marL="0">
              <a:buNone/>
            </a:pPr>
            <a:r>
              <a:rPr/>
              <a:t>Jejunostomy removal ~ 8 weeks after surgery</a:t>
            </a:r>
          </a:p>
        </p:txBody>
      </p:sp>
    </p:spTree>
  </p:cSld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 (may be longer if chemotherapy planned after surgery)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T3 Cancer of the Esophagus and GE Junction</dc:title>
  <dc:creator/>
  <cp:keywords/>
  <dcterms:created xsi:type="dcterms:W3CDTF">2026-09-26T07:13:29Z</dcterms:created>
  <dcterms:modified xsi:type="dcterms:W3CDTF">2026-09-26T07:13:29Z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